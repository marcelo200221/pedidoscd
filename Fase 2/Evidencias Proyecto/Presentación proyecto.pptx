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y Grotesk Key Ultra-Bold" charset="1" panose="00000900000000000000"/>
      <p:regular r:id="rId22"/>
    </p:embeddedFont>
    <p:embeddedFont>
      <p:font typeface="Cy Grotesk Key Bold" charset="1" panose="00000800000000000000"/>
      <p:regular r:id="rId23"/>
    </p:embeddedFont>
    <p:embeddedFont>
      <p:font typeface="Inter Bold" charset="1" panose="020B0802030000000004"/>
      <p:regular r:id="rId24"/>
    </p:embeddedFont>
    <p:embeddedFont>
      <p:font typeface="Inter" charset="1" panose="020B0502030000000004"/>
      <p:regular r:id="rId25"/>
    </p:embeddedFont>
    <p:embeddedFont>
      <p:font typeface="Cy Grotesk Key Semi-Bold" charset="1" panose="00000700000000000000"/>
      <p:regular r:id="rId26"/>
    </p:embeddedFont>
    <p:embeddedFont>
      <p:font typeface="Cy Grotesk Key" charset="1" panose="00000500000000000000"/>
      <p:regular r:id="rId27"/>
    </p:embeddedFont>
    <p:embeddedFont>
      <p:font typeface="Helvetica World Bold" charset="1" panose="020B0800040000020004"/>
      <p:regular r:id="rId28"/>
    </p:embeddedFont>
    <p:embeddedFont>
      <p:font typeface="Inter Semi-Bold" charset="1" panose="020005030000000200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gif"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embeddings/oleObject1.bin" Type="http://schemas.openxmlformats.org/officeDocument/2006/relationships/oleObject"/><Relationship Id="rId4" Target="../media/image15.png" Type="http://schemas.openxmlformats.org/officeDocument/2006/relationships/image"/><Relationship Id="rId5" Target="../embeddings/oleObject2.bin" Type="http://schemas.openxmlformats.org/officeDocument/2006/relationships/oleObjec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092940" y="2636897"/>
            <a:ext cx="12102119" cy="2860497"/>
          </a:xfrm>
          <a:prstGeom prst="rect">
            <a:avLst/>
          </a:prstGeom>
        </p:spPr>
        <p:txBody>
          <a:bodyPr anchor="t" rtlCol="false" tIns="0" lIns="0" bIns="0" rIns="0">
            <a:spAutoFit/>
          </a:bodyPr>
          <a:lstStyle/>
          <a:p>
            <a:pPr algn="ctr">
              <a:lnSpc>
                <a:spcPts val="10992"/>
              </a:lnSpc>
            </a:pPr>
            <a:r>
              <a:rPr lang="en-US" b="true" sz="10992" spc="-164">
                <a:solidFill>
                  <a:srgbClr val="A42811"/>
                </a:solidFill>
                <a:latin typeface="Cy Grotesk Key Ultra-Bold"/>
                <a:ea typeface="Cy Grotesk Key Ultra-Bold"/>
                <a:cs typeface="Cy Grotesk Key Ultra-Bold"/>
                <a:sym typeface="Cy Grotesk Key Ultra-Bold"/>
              </a:rPr>
              <a:t>Proyecto APT: PEDIDOS CD</a:t>
            </a:r>
          </a:p>
        </p:txBody>
      </p:sp>
      <p:grpSp>
        <p:nvGrpSpPr>
          <p:cNvPr name="Group 3" id="3"/>
          <p:cNvGrpSpPr/>
          <p:nvPr/>
        </p:nvGrpSpPr>
        <p:grpSpPr>
          <a:xfrm rot="0">
            <a:off x="-748710" y="9067797"/>
            <a:ext cx="19785420" cy="597310"/>
            <a:chOff x="0" y="0"/>
            <a:chExt cx="5210975" cy="157316"/>
          </a:xfrm>
        </p:grpSpPr>
        <p:sp>
          <p:nvSpPr>
            <p:cNvPr name="Freeform 4" id="4"/>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42811"/>
            </a:solidFill>
          </p:spPr>
        </p:sp>
        <p:sp>
          <p:nvSpPr>
            <p:cNvPr name="TextBox 5" id="5"/>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48710" y="9258300"/>
            <a:ext cx="19785420" cy="597310"/>
            <a:chOff x="0" y="0"/>
            <a:chExt cx="5210975" cy="157316"/>
          </a:xfrm>
        </p:grpSpPr>
        <p:sp>
          <p:nvSpPr>
            <p:cNvPr name="Freeform 7" id="7"/>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862D2B"/>
            </a:solidFill>
          </p:spPr>
        </p:sp>
        <p:sp>
          <p:nvSpPr>
            <p:cNvPr name="TextBox 8" id="8"/>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6564650" y="7471763"/>
            <a:ext cx="4454440" cy="309245"/>
          </a:xfrm>
          <a:prstGeom prst="rect">
            <a:avLst/>
          </a:prstGeom>
        </p:spPr>
        <p:txBody>
          <a:bodyPr anchor="t" rtlCol="false" tIns="0" lIns="0" bIns="0" rIns="0">
            <a:spAutoFit/>
          </a:bodyPr>
          <a:lstStyle/>
          <a:p>
            <a:pPr algn="ctr" marL="0" indent="0" lvl="0">
              <a:lnSpc>
                <a:spcPts val="2469"/>
              </a:lnSpc>
              <a:spcBef>
                <a:spcPct val="0"/>
              </a:spcBef>
            </a:pPr>
            <a:r>
              <a:rPr lang="en-US" b="true" sz="1899">
                <a:solidFill>
                  <a:srgbClr val="2B2B2B"/>
                </a:solidFill>
                <a:latin typeface="Cy Grotesk Key Bold"/>
                <a:ea typeface="Cy Grotesk Key Bold"/>
                <a:cs typeface="Cy Grotesk Key Bold"/>
                <a:sym typeface="Cy Grotesk Key Bold"/>
              </a:rPr>
              <a:t>NOMBRE DEL PROYECTO:</a:t>
            </a:r>
          </a:p>
        </p:txBody>
      </p:sp>
      <p:sp>
        <p:nvSpPr>
          <p:cNvPr name="TextBox 10" id="10"/>
          <p:cNvSpPr txBox="true"/>
          <p:nvPr/>
        </p:nvSpPr>
        <p:spPr>
          <a:xfrm rot="0">
            <a:off x="6564650" y="7814130"/>
            <a:ext cx="4454440" cy="299720"/>
          </a:xfrm>
          <a:prstGeom prst="rect">
            <a:avLst/>
          </a:prstGeom>
        </p:spPr>
        <p:txBody>
          <a:bodyPr anchor="t" rtlCol="false" tIns="0" lIns="0" bIns="0" rIns="0">
            <a:spAutoFit/>
          </a:bodyPr>
          <a:lstStyle/>
          <a:p>
            <a:pPr algn="ctr" marL="0" indent="0" lvl="0">
              <a:lnSpc>
                <a:spcPts val="2469"/>
              </a:lnSpc>
              <a:spcBef>
                <a:spcPct val="0"/>
              </a:spcBef>
            </a:pPr>
            <a:r>
              <a:rPr lang="en-US" b="true" sz="1899">
                <a:solidFill>
                  <a:srgbClr val="2B2B2B"/>
                </a:solidFill>
                <a:latin typeface="Inter Bold"/>
                <a:ea typeface="Inter Bold"/>
                <a:cs typeface="Inter Bold"/>
                <a:sym typeface="Inter Bold"/>
              </a:rPr>
              <a:t>PedidosCD</a:t>
            </a:r>
          </a:p>
        </p:txBody>
      </p:sp>
      <p:sp>
        <p:nvSpPr>
          <p:cNvPr name="TextBox 11" id="11"/>
          <p:cNvSpPr txBox="true"/>
          <p:nvPr/>
        </p:nvSpPr>
        <p:spPr>
          <a:xfrm rot="0">
            <a:off x="9975473" y="7471763"/>
            <a:ext cx="4454440" cy="309245"/>
          </a:xfrm>
          <a:prstGeom prst="rect">
            <a:avLst/>
          </a:prstGeom>
        </p:spPr>
        <p:txBody>
          <a:bodyPr anchor="t" rtlCol="false" tIns="0" lIns="0" bIns="0" rIns="0">
            <a:spAutoFit/>
          </a:bodyPr>
          <a:lstStyle/>
          <a:p>
            <a:pPr algn="ctr" marL="0" indent="0" lvl="0">
              <a:lnSpc>
                <a:spcPts val="2469"/>
              </a:lnSpc>
              <a:spcBef>
                <a:spcPct val="0"/>
              </a:spcBef>
            </a:pPr>
            <a:r>
              <a:rPr lang="en-US" b="true" sz="1899">
                <a:solidFill>
                  <a:srgbClr val="2B2B2B"/>
                </a:solidFill>
                <a:latin typeface="Cy Grotesk Key Bold"/>
                <a:ea typeface="Cy Grotesk Key Bold"/>
                <a:cs typeface="Cy Grotesk Key Bold"/>
                <a:sym typeface="Cy Grotesk Key Bold"/>
              </a:rPr>
              <a:t>NOMBRES:</a:t>
            </a:r>
          </a:p>
        </p:txBody>
      </p:sp>
      <p:sp>
        <p:nvSpPr>
          <p:cNvPr name="TextBox 12" id="12"/>
          <p:cNvSpPr txBox="true"/>
          <p:nvPr/>
        </p:nvSpPr>
        <p:spPr>
          <a:xfrm rot="0">
            <a:off x="9975473" y="7814130"/>
            <a:ext cx="4454440" cy="604520"/>
          </a:xfrm>
          <a:prstGeom prst="rect">
            <a:avLst/>
          </a:prstGeom>
        </p:spPr>
        <p:txBody>
          <a:bodyPr anchor="t" rtlCol="false" tIns="0" lIns="0" bIns="0" rIns="0">
            <a:spAutoFit/>
          </a:bodyPr>
          <a:lstStyle/>
          <a:p>
            <a:pPr algn="ctr">
              <a:lnSpc>
                <a:spcPts val="2469"/>
              </a:lnSpc>
            </a:pPr>
            <a:r>
              <a:rPr lang="en-US" sz="1899">
                <a:solidFill>
                  <a:srgbClr val="2B2B2B"/>
                </a:solidFill>
                <a:latin typeface="Inter"/>
                <a:ea typeface="Inter"/>
                <a:cs typeface="Inter"/>
                <a:sym typeface="Inter"/>
              </a:rPr>
              <a:t>Marcelo Darras</a:t>
            </a:r>
          </a:p>
          <a:p>
            <a:pPr algn="ctr" marL="0" indent="0" lvl="0">
              <a:lnSpc>
                <a:spcPts val="2469"/>
              </a:lnSpc>
              <a:spcBef>
                <a:spcPct val="0"/>
              </a:spcBef>
            </a:pPr>
            <a:r>
              <a:rPr lang="en-US" sz="1899">
                <a:solidFill>
                  <a:srgbClr val="2B2B2B"/>
                </a:solidFill>
                <a:latin typeface="Inter"/>
                <a:ea typeface="Inter"/>
                <a:cs typeface="Inter"/>
                <a:sym typeface="Inter"/>
              </a:rPr>
              <a:t>Jesús Delgado</a:t>
            </a:r>
          </a:p>
        </p:txBody>
      </p:sp>
      <p:sp>
        <p:nvSpPr>
          <p:cNvPr name="TextBox 13" id="13"/>
          <p:cNvSpPr txBox="true"/>
          <p:nvPr/>
        </p:nvSpPr>
        <p:spPr>
          <a:xfrm rot="0">
            <a:off x="12920284" y="7445677"/>
            <a:ext cx="4454440" cy="309245"/>
          </a:xfrm>
          <a:prstGeom prst="rect">
            <a:avLst/>
          </a:prstGeom>
        </p:spPr>
        <p:txBody>
          <a:bodyPr anchor="t" rtlCol="false" tIns="0" lIns="0" bIns="0" rIns="0">
            <a:spAutoFit/>
          </a:bodyPr>
          <a:lstStyle/>
          <a:p>
            <a:pPr algn="ctr" marL="0" indent="0" lvl="0">
              <a:lnSpc>
                <a:spcPts val="2469"/>
              </a:lnSpc>
              <a:spcBef>
                <a:spcPct val="0"/>
              </a:spcBef>
            </a:pPr>
            <a:r>
              <a:rPr lang="en-US" b="true" sz="1899">
                <a:solidFill>
                  <a:srgbClr val="2B2B2B"/>
                </a:solidFill>
                <a:latin typeface="Cy Grotesk Key Bold"/>
                <a:ea typeface="Cy Grotesk Key Bold"/>
                <a:cs typeface="Cy Grotesk Key Bold"/>
                <a:sym typeface="Cy Grotesk Key Bold"/>
              </a:rPr>
              <a:t>DOCENTE:</a:t>
            </a:r>
          </a:p>
        </p:txBody>
      </p:sp>
      <p:sp>
        <p:nvSpPr>
          <p:cNvPr name="TextBox 14" id="14"/>
          <p:cNvSpPr txBox="true"/>
          <p:nvPr/>
        </p:nvSpPr>
        <p:spPr>
          <a:xfrm rot="0">
            <a:off x="12920284" y="7788044"/>
            <a:ext cx="4454440" cy="299720"/>
          </a:xfrm>
          <a:prstGeom prst="rect">
            <a:avLst/>
          </a:prstGeom>
        </p:spPr>
        <p:txBody>
          <a:bodyPr anchor="t" rtlCol="false" tIns="0" lIns="0" bIns="0" rIns="0">
            <a:spAutoFit/>
          </a:bodyPr>
          <a:lstStyle/>
          <a:p>
            <a:pPr algn="ctr" marL="0" indent="0" lvl="0">
              <a:lnSpc>
                <a:spcPts val="2469"/>
              </a:lnSpc>
              <a:spcBef>
                <a:spcPct val="0"/>
              </a:spcBef>
            </a:pPr>
            <a:r>
              <a:rPr lang="en-US" sz="1899">
                <a:solidFill>
                  <a:srgbClr val="2B2B2B"/>
                </a:solidFill>
                <a:latin typeface="Inter"/>
                <a:ea typeface="Inter"/>
                <a:cs typeface="Inter"/>
                <a:sym typeface="Inter"/>
              </a:rPr>
              <a:t>Jorge Castro</a:t>
            </a:r>
          </a:p>
        </p:txBody>
      </p:sp>
      <p:sp>
        <p:nvSpPr>
          <p:cNvPr name="Freeform 15" id="15"/>
          <p:cNvSpPr/>
          <p:nvPr/>
        </p:nvSpPr>
        <p:spPr>
          <a:xfrm flipH="false" flipV="false" rot="-10800000">
            <a:off x="14551151" y="612485"/>
            <a:ext cx="5241897" cy="1982390"/>
          </a:xfrm>
          <a:custGeom>
            <a:avLst/>
            <a:gdLst/>
            <a:ahLst/>
            <a:cxnLst/>
            <a:rect r="r" b="b" t="t" l="l"/>
            <a:pathLst>
              <a:path h="1982390" w="5241897">
                <a:moveTo>
                  <a:pt x="0" y="0"/>
                </a:moveTo>
                <a:lnTo>
                  <a:pt x="5241897" y="0"/>
                </a:lnTo>
                <a:lnTo>
                  <a:pt x="5241897" y="1982390"/>
                </a:lnTo>
                <a:lnTo>
                  <a:pt x="0" y="1982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6" id="16"/>
          <p:cNvSpPr/>
          <p:nvPr/>
        </p:nvSpPr>
        <p:spPr>
          <a:xfrm flipH="false" flipV="false" rot="0">
            <a:off x="-1077725" y="6329890"/>
            <a:ext cx="5569110" cy="1863120"/>
          </a:xfrm>
          <a:custGeom>
            <a:avLst/>
            <a:gdLst/>
            <a:ahLst/>
            <a:cxnLst/>
            <a:rect r="r" b="b" t="t" l="l"/>
            <a:pathLst>
              <a:path h="1863120" w="5569110">
                <a:moveTo>
                  <a:pt x="0" y="0"/>
                </a:moveTo>
                <a:lnTo>
                  <a:pt x="5569110" y="0"/>
                </a:lnTo>
                <a:lnTo>
                  <a:pt x="5569110" y="1863120"/>
                </a:lnTo>
                <a:lnTo>
                  <a:pt x="0" y="18631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48710" y="-1148058"/>
            <a:ext cx="8037268" cy="14237917"/>
            <a:chOff x="0" y="0"/>
            <a:chExt cx="2116811" cy="3749904"/>
          </a:xfrm>
        </p:grpSpPr>
        <p:sp>
          <p:nvSpPr>
            <p:cNvPr name="Freeform 3" id="3"/>
            <p:cNvSpPr/>
            <p:nvPr/>
          </p:nvSpPr>
          <p:spPr>
            <a:xfrm flipH="false" flipV="false" rot="0">
              <a:off x="0" y="0"/>
              <a:ext cx="2116811" cy="3749904"/>
            </a:xfrm>
            <a:custGeom>
              <a:avLst/>
              <a:gdLst/>
              <a:ahLst/>
              <a:cxnLst/>
              <a:rect r="r" b="b" t="t" l="l"/>
              <a:pathLst>
                <a:path h="3749904" w="2116811">
                  <a:moveTo>
                    <a:pt x="49126" y="0"/>
                  </a:moveTo>
                  <a:lnTo>
                    <a:pt x="2067686" y="0"/>
                  </a:lnTo>
                  <a:cubicBezTo>
                    <a:pt x="2080715" y="0"/>
                    <a:pt x="2093210" y="5176"/>
                    <a:pt x="2102423" y="14389"/>
                  </a:cubicBezTo>
                  <a:cubicBezTo>
                    <a:pt x="2111636" y="23602"/>
                    <a:pt x="2116811" y="36097"/>
                    <a:pt x="2116811" y="49126"/>
                  </a:cubicBezTo>
                  <a:lnTo>
                    <a:pt x="2116811" y="3700778"/>
                  </a:lnTo>
                  <a:cubicBezTo>
                    <a:pt x="2116811" y="3713807"/>
                    <a:pt x="2111636" y="3726302"/>
                    <a:pt x="2102423" y="3735515"/>
                  </a:cubicBezTo>
                  <a:cubicBezTo>
                    <a:pt x="2093210" y="3744728"/>
                    <a:pt x="2080715" y="3749904"/>
                    <a:pt x="2067686" y="3749904"/>
                  </a:cubicBezTo>
                  <a:lnTo>
                    <a:pt x="49126" y="3749904"/>
                  </a:lnTo>
                  <a:cubicBezTo>
                    <a:pt x="36097" y="3749904"/>
                    <a:pt x="23602" y="3744728"/>
                    <a:pt x="14389" y="3735515"/>
                  </a:cubicBezTo>
                  <a:cubicBezTo>
                    <a:pt x="5176" y="3726302"/>
                    <a:pt x="0" y="3713807"/>
                    <a:pt x="0" y="3700778"/>
                  </a:cubicBezTo>
                  <a:lnTo>
                    <a:pt x="0" y="49126"/>
                  </a:lnTo>
                  <a:cubicBezTo>
                    <a:pt x="0" y="36097"/>
                    <a:pt x="5176" y="23602"/>
                    <a:pt x="14389" y="14389"/>
                  </a:cubicBezTo>
                  <a:cubicBezTo>
                    <a:pt x="23602" y="5176"/>
                    <a:pt x="36097" y="0"/>
                    <a:pt x="49126" y="0"/>
                  </a:cubicBezTo>
                  <a:close/>
                </a:path>
              </a:pathLst>
            </a:custGeom>
            <a:solidFill>
              <a:srgbClr val="862D2B"/>
            </a:solidFill>
          </p:spPr>
        </p:sp>
        <p:sp>
          <p:nvSpPr>
            <p:cNvPr name="TextBox 4" id="4"/>
            <p:cNvSpPr txBox="true"/>
            <p:nvPr/>
          </p:nvSpPr>
          <p:spPr>
            <a:xfrm>
              <a:off x="0" y="-38100"/>
              <a:ext cx="2116811" cy="3788004"/>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1159580"/>
            <a:ext cx="8449277" cy="1200144"/>
          </a:xfrm>
          <a:prstGeom prst="rect">
            <a:avLst/>
          </a:prstGeom>
        </p:spPr>
        <p:txBody>
          <a:bodyPr anchor="t" rtlCol="false" tIns="0" lIns="0" bIns="0" rIns="0">
            <a:spAutoFit/>
          </a:bodyPr>
          <a:lstStyle/>
          <a:p>
            <a:pPr algn="l">
              <a:lnSpc>
                <a:spcPts val="8999"/>
              </a:lnSpc>
            </a:pPr>
            <a:r>
              <a:rPr lang="en-US" b="true" sz="8999" spc="-134">
                <a:solidFill>
                  <a:srgbClr val="FFFFFF"/>
                </a:solidFill>
                <a:latin typeface="Cy Grotesk Key Semi-Bold"/>
                <a:ea typeface="Cy Grotesk Key Semi-Bold"/>
                <a:cs typeface="Cy Grotesk Key Semi-Bold"/>
                <a:sym typeface="Cy Grotesk Key Semi-Bold"/>
              </a:rPr>
              <a:t>Índice</a:t>
            </a:r>
          </a:p>
        </p:txBody>
      </p:sp>
      <p:sp>
        <p:nvSpPr>
          <p:cNvPr name="TextBox 6" id="6"/>
          <p:cNvSpPr txBox="true"/>
          <p:nvPr/>
        </p:nvSpPr>
        <p:spPr>
          <a:xfrm rot="0">
            <a:off x="7957766" y="1000891"/>
            <a:ext cx="10330234" cy="8199494"/>
          </a:xfrm>
          <a:prstGeom prst="rect">
            <a:avLst/>
          </a:prstGeom>
        </p:spPr>
        <p:txBody>
          <a:bodyPr anchor="t" rtlCol="false" tIns="0" lIns="0" bIns="0" rIns="0">
            <a:spAutoFit/>
          </a:bodyPr>
          <a:lstStyle/>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01. </a:t>
            </a:r>
            <a:r>
              <a:rPr lang="en-US" sz="3800" spc="-57" strike="noStrike" u="none">
                <a:solidFill>
                  <a:srgbClr val="000000"/>
                </a:solidFill>
                <a:latin typeface="Cy Grotesk Key"/>
                <a:ea typeface="Cy Grotesk Key"/>
                <a:cs typeface="Cy Grotesk Key"/>
                <a:sym typeface="Cy Grotesk Key"/>
              </a:rPr>
              <a:t>Contexto</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02. </a:t>
            </a:r>
            <a:r>
              <a:rPr lang="en-US" sz="3800" spc="-57" strike="noStrike" u="none">
                <a:solidFill>
                  <a:srgbClr val="000000"/>
                </a:solidFill>
                <a:latin typeface="Cy Grotesk Key"/>
                <a:ea typeface="Cy Grotesk Key"/>
                <a:cs typeface="Cy Grotesk Key"/>
                <a:sym typeface="Cy Grotesk Key"/>
              </a:rPr>
              <a:t>Problema</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03. </a:t>
            </a:r>
            <a:r>
              <a:rPr lang="en-US" sz="3800" spc="-57" strike="noStrike" u="none">
                <a:solidFill>
                  <a:srgbClr val="000000"/>
                </a:solidFill>
                <a:latin typeface="Cy Grotesk Key"/>
                <a:ea typeface="Cy Grotesk Key"/>
                <a:cs typeface="Cy Grotesk Key"/>
                <a:sym typeface="Cy Grotesk Key"/>
              </a:rPr>
              <a:t>Solución</a:t>
            </a:r>
          </a:p>
          <a:p>
            <a:pPr algn="just">
              <a:lnSpc>
                <a:spcPts val="5472"/>
              </a:lnSpc>
            </a:pPr>
            <a:r>
              <a:rPr lang="en-US" b="true" sz="3800" spc="-57" strike="noStrike" u="none">
                <a:solidFill>
                  <a:srgbClr val="000000"/>
                </a:solidFill>
                <a:latin typeface="Cy Grotesk Key Bold"/>
                <a:ea typeface="Cy Grotesk Key Bold"/>
                <a:cs typeface="Cy Grotesk Key Bold"/>
                <a:sym typeface="Cy Grotesk Key Bold"/>
              </a:rPr>
              <a:t>04.</a:t>
            </a:r>
            <a:r>
              <a:rPr lang="en-US" sz="3800" spc="-57" strike="noStrike" u="none">
                <a:solidFill>
                  <a:srgbClr val="000000"/>
                </a:solidFill>
                <a:latin typeface="Cy Grotesk Key"/>
                <a:ea typeface="Cy Grotesk Key"/>
                <a:cs typeface="Cy Grotesk Key"/>
                <a:sym typeface="Cy Grotesk Key"/>
              </a:rPr>
              <a:t> Público objetivo</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05. y 06. </a:t>
            </a:r>
            <a:r>
              <a:rPr lang="en-US" sz="3800" spc="-57" strike="noStrike" u="none">
                <a:solidFill>
                  <a:srgbClr val="000000"/>
                </a:solidFill>
                <a:latin typeface="Cy Grotesk Key"/>
                <a:ea typeface="Cy Grotesk Key"/>
                <a:cs typeface="Cy Grotesk Key"/>
                <a:sym typeface="Cy Grotesk Key"/>
              </a:rPr>
              <a:t>Estado de pedidos</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07. </a:t>
            </a:r>
            <a:r>
              <a:rPr lang="en-US" sz="3800" spc="-57" strike="noStrike" u="none">
                <a:solidFill>
                  <a:srgbClr val="000000"/>
                </a:solidFill>
                <a:latin typeface="Cy Grotesk Key"/>
                <a:ea typeface="Cy Grotesk Key"/>
                <a:cs typeface="Cy Grotesk Key"/>
                <a:sym typeface="Cy Grotesk Key"/>
              </a:rPr>
              <a:t>Objetivos general y específicos</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08. </a:t>
            </a:r>
            <a:r>
              <a:rPr lang="en-US" sz="3800" spc="-57" strike="noStrike" u="none">
                <a:solidFill>
                  <a:srgbClr val="000000"/>
                </a:solidFill>
                <a:latin typeface="Cy Grotesk Key"/>
                <a:ea typeface="Cy Grotesk Key"/>
                <a:cs typeface="Cy Grotesk Key"/>
                <a:sym typeface="Cy Grotesk Key"/>
              </a:rPr>
              <a:t>Metodología</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09 </a:t>
            </a:r>
            <a:r>
              <a:rPr lang="en-US" sz="3800" spc="-57" strike="noStrike" u="none">
                <a:solidFill>
                  <a:srgbClr val="000000"/>
                </a:solidFill>
                <a:latin typeface="Cy Grotesk Key"/>
                <a:ea typeface="Cy Grotesk Key"/>
                <a:cs typeface="Cy Grotesk Key"/>
                <a:sym typeface="Cy Grotesk Key"/>
              </a:rPr>
              <a:t>Cronograma</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10. </a:t>
            </a:r>
            <a:r>
              <a:rPr lang="en-US" sz="3800" spc="-57" strike="noStrike" u="none">
                <a:solidFill>
                  <a:srgbClr val="000000"/>
                </a:solidFill>
                <a:latin typeface="Cy Grotesk Key"/>
                <a:ea typeface="Cy Grotesk Key"/>
                <a:cs typeface="Cy Grotesk Key"/>
                <a:sym typeface="Cy Grotesk Key"/>
              </a:rPr>
              <a:t>Arquitectura</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11. </a:t>
            </a:r>
            <a:r>
              <a:rPr lang="en-US" sz="3800" spc="-57" strike="noStrike" u="none">
                <a:solidFill>
                  <a:srgbClr val="000000"/>
                </a:solidFill>
                <a:latin typeface="Cy Grotesk Key"/>
                <a:ea typeface="Cy Grotesk Key"/>
                <a:cs typeface="Cy Grotesk Key"/>
                <a:sym typeface="Cy Grotesk Key"/>
              </a:rPr>
              <a:t>Stack tecnológico</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12. </a:t>
            </a:r>
            <a:r>
              <a:rPr lang="en-US" sz="3800" spc="-57" strike="noStrike" u="none">
                <a:solidFill>
                  <a:srgbClr val="000000"/>
                </a:solidFill>
                <a:latin typeface="Cy Grotesk Key"/>
                <a:ea typeface="Cy Grotesk Key"/>
                <a:cs typeface="Cy Grotesk Key"/>
                <a:sym typeface="Cy Grotesk Key"/>
              </a:rPr>
              <a:t>Demostración del Proyecto</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13. </a:t>
            </a:r>
            <a:r>
              <a:rPr lang="en-US" sz="3800" spc="-57" strike="noStrike" u="none">
                <a:solidFill>
                  <a:srgbClr val="000000"/>
                </a:solidFill>
                <a:latin typeface="Cy Grotesk Key"/>
                <a:ea typeface="Cy Grotesk Key"/>
                <a:cs typeface="Cy Grotesk Key"/>
                <a:sym typeface="Cy Grotesk Key"/>
              </a:rPr>
              <a:t>Conclusión</a:t>
            </a:r>
          </a:p>
        </p:txBody>
      </p:sp>
      <p:grpSp>
        <p:nvGrpSpPr>
          <p:cNvPr name="Group 7" id="7"/>
          <p:cNvGrpSpPr/>
          <p:nvPr/>
        </p:nvGrpSpPr>
        <p:grpSpPr>
          <a:xfrm rot="-5400000">
            <a:off x="-2708992" y="3071217"/>
            <a:ext cx="19785420" cy="597310"/>
            <a:chOff x="0" y="0"/>
            <a:chExt cx="5210975" cy="157316"/>
          </a:xfrm>
        </p:grpSpPr>
        <p:sp>
          <p:nvSpPr>
            <p:cNvPr name="Freeform 8" id="8"/>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42811"/>
            </a:solidFill>
          </p:spPr>
        </p:sp>
        <p:sp>
          <p:nvSpPr>
            <p:cNvPr name="TextBox 9" id="9"/>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42811"/>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954227" y="2441290"/>
            <a:ext cx="6924884" cy="5404420"/>
          </a:xfrm>
          <a:custGeom>
            <a:avLst/>
            <a:gdLst/>
            <a:ahLst/>
            <a:cxnLst/>
            <a:rect r="r" b="b" t="t" l="l"/>
            <a:pathLst>
              <a:path h="5404420" w="6924884">
                <a:moveTo>
                  <a:pt x="0" y="0"/>
                </a:moveTo>
                <a:lnTo>
                  <a:pt x="6924884" y="0"/>
                </a:lnTo>
                <a:lnTo>
                  <a:pt x="6924884" y="5404420"/>
                </a:lnTo>
                <a:lnTo>
                  <a:pt x="0" y="5404420"/>
                </a:lnTo>
                <a:lnTo>
                  <a:pt x="0" y="0"/>
                </a:lnTo>
                <a:close/>
              </a:path>
            </a:pathLst>
          </a:custGeom>
          <a:blipFill>
            <a:blip r:embed="rId2"/>
            <a:stretch>
              <a:fillRect l="0" t="0" r="0" b="0"/>
            </a:stretch>
          </a:blipFill>
        </p:spPr>
      </p:sp>
      <p:sp>
        <p:nvSpPr>
          <p:cNvPr name="TextBox 6" id="6"/>
          <p:cNvSpPr txBox="true"/>
          <p:nvPr/>
        </p:nvSpPr>
        <p:spPr>
          <a:xfrm rot="0">
            <a:off x="1504950" y="2687721"/>
            <a:ext cx="8449277" cy="867415"/>
          </a:xfrm>
          <a:prstGeom prst="rect">
            <a:avLst/>
          </a:prstGeom>
        </p:spPr>
        <p:txBody>
          <a:bodyPr anchor="t" rtlCol="false" tIns="0" lIns="0" bIns="0" rIns="0">
            <a:spAutoFit/>
          </a:bodyPr>
          <a:lstStyle/>
          <a:p>
            <a:pPr algn="l">
              <a:lnSpc>
                <a:spcPts val="6400"/>
              </a:lnSpc>
            </a:pPr>
            <a:r>
              <a:rPr lang="en-US" sz="6400" spc="-96" b="true">
                <a:solidFill>
                  <a:srgbClr val="202020"/>
                </a:solidFill>
                <a:latin typeface="Cy Grotesk Key Semi-Bold"/>
                <a:ea typeface="Cy Grotesk Key Semi-Bold"/>
                <a:cs typeface="Cy Grotesk Key Semi-Bold"/>
                <a:sym typeface="Cy Grotesk Key Semi-Bold"/>
              </a:rPr>
              <a:t>Contexto</a:t>
            </a:r>
          </a:p>
        </p:txBody>
      </p:sp>
      <p:sp>
        <p:nvSpPr>
          <p:cNvPr name="TextBox 7" id="7"/>
          <p:cNvSpPr txBox="true"/>
          <p:nvPr/>
        </p:nvSpPr>
        <p:spPr>
          <a:xfrm rot="0">
            <a:off x="1504950" y="3672852"/>
            <a:ext cx="7949130" cy="2158364"/>
          </a:xfrm>
          <a:prstGeom prst="rect">
            <a:avLst/>
          </a:prstGeom>
        </p:spPr>
        <p:txBody>
          <a:bodyPr anchor="t" rtlCol="false" tIns="0" lIns="0" bIns="0" rIns="0">
            <a:spAutoFit/>
          </a:bodyPr>
          <a:lstStyle/>
          <a:p>
            <a:pPr algn="l">
              <a:lnSpc>
                <a:spcPts val="2880"/>
              </a:lnSpc>
            </a:pPr>
            <a:r>
              <a:rPr lang="en-US" sz="2000">
                <a:solidFill>
                  <a:srgbClr val="202020"/>
                </a:solidFill>
                <a:latin typeface="Inter"/>
                <a:ea typeface="Inter"/>
                <a:cs typeface="Inter"/>
                <a:sym typeface="Inter"/>
              </a:rPr>
              <a:t>Carnes Darras es una empresa chilena dedicada a la distribución de carnes, importando principalmente desde Brasil y complementando su oferta con productos nacionales como filete de pollo y pulpa de cerdo. Su principal cartera de clientes corresponde a restaurantes pequeños y medianos, que demandan reposición constante y un servicio ágil.</a:t>
            </a:r>
          </a:p>
        </p:txBody>
      </p:sp>
      <p:sp>
        <p:nvSpPr>
          <p:cNvPr name="TextBox 8" id="8"/>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EFE8DD"/>
                </a:solidFill>
                <a:latin typeface="Helvetica World Bold"/>
                <a:ea typeface="Helvetica World Bold"/>
                <a:cs typeface="Helvetica World Bold"/>
                <a:sym typeface="Helvetica World Bold"/>
              </a:rPr>
              <a:t>01</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EFE8DD"/>
                </a:solidFill>
                <a:latin typeface="Helvetica World Bold"/>
                <a:ea typeface="Helvetica World Bold"/>
                <a:cs typeface="Helvetica World Bold"/>
                <a:sym typeface="Helvetica World Bold"/>
              </a:rPr>
              <a:t>02</a:t>
            </a:r>
          </a:p>
        </p:txBody>
      </p:sp>
      <p:grpSp>
        <p:nvGrpSpPr>
          <p:cNvPr name="Group 3" id="3"/>
          <p:cNvGrpSpPr/>
          <p:nvPr/>
        </p:nvGrpSpPr>
        <p:grpSpPr>
          <a:xfrm rot="0">
            <a:off x="-492000" y="-1162967"/>
            <a:ext cx="18894942" cy="14237917"/>
            <a:chOff x="0" y="0"/>
            <a:chExt cx="4976446" cy="3749904"/>
          </a:xfrm>
        </p:grpSpPr>
        <p:sp>
          <p:nvSpPr>
            <p:cNvPr name="Freeform 4" id="4"/>
            <p:cNvSpPr/>
            <p:nvPr/>
          </p:nvSpPr>
          <p:spPr>
            <a:xfrm flipH="false" flipV="false" rot="0">
              <a:off x="0" y="0"/>
              <a:ext cx="4976446" cy="3749904"/>
            </a:xfrm>
            <a:custGeom>
              <a:avLst/>
              <a:gdLst/>
              <a:ahLst/>
              <a:cxnLst/>
              <a:rect r="r" b="b" t="t" l="l"/>
              <a:pathLst>
                <a:path h="3749904" w="4976446">
                  <a:moveTo>
                    <a:pt x="20896" y="0"/>
                  </a:moveTo>
                  <a:lnTo>
                    <a:pt x="4955549" y="0"/>
                  </a:lnTo>
                  <a:cubicBezTo>
                    <a:pt x="4961091" y="0"/>
                    <a:pt x="4966407" y="2202"/>
                    <a:pt x="4970325" y="6120"/>
                  </a:cubicBezTo>
                  <a:cubicBezTo>
                    <a:pt x="4974244" y="10039"/>
                    <a:pt x="4976446" y="15354"/>
                    <a:pt x="4976446" y="20896"/>
                  </a:cubicBezTo>
                  <a:lnTo>
                    <a:pt x="4976446" y="3729008"/>
                  </a:lnTo>
                  <a:cubicBezTo>
                    <a:pt x="4976446" y="3734550"/>
                    <a:pt x="4974244" y="3739865"/>
                    <a:pt x="4970325" y="3743783"/>
                  </a:cubicBezTo>
                  <a:cubicBezTo>
                    <a:pt x="4966407" y="3747703"/>
                    <a:pt x="4961091" y="3749904"/>
                    <a:pt x="4955549" y="3749904"/>
                  </a:cubicBezTo>
                  <a:lnTo>
                    <a:pt x="20896" y="3749904"/>
                  </a:lnTo>
                  <a:cubicBezTo>
                    <a:pt x="15354" y="3749904"/>
                    <a:pt x="10039" y="3747703"/>
                    <a:pt x="6120" y="3743783"/>
                  </a:cubicBezTo>
                  <a:cubicBezTo>
                    <a:pt x="2202" y="3739865"/>
                    <a:pt x="0" y="3734550"/>
                    <a:pt x="0" y="3729008"/>
                  </a:cubicBezTo>
                  <a:lnTo>
                    <a:pt x="0" y="20896"/>
                  </a:lnTo>
                  <a:cubicBezTo>
                    <a:pt x="0" y="15354"/>
                    <a:pt x="2202" y="10039"/>
                    <a:pt x="6120" y="6120"/>
                  </a:cubicBezTo>
                  <a:cubicBezTo>
                    <a:pt x="10039" y="2202"/>
                    <a:pt x="15354" y="0"/>
                    <a:pt x="20896" y="0"/>
                  </a:cubicBezTo>
                  <a:close/>
                </a:path>
              </a:pathLst>
            </a:custGeom>
            <a:solidFill>
              <a:srgbClr val="A03E3C"/>
            </a:solidFill>
          </p:spPr>
        </p:sp>
        <p:sp>
          <p:nvSpPr>
            <p:cNvPr name="TextBox 5" id="5"/>
            <p:cNvSpPr txBox="true"/>
            <p:nvPr/>
          </p:nvSpPr>
          <p:spPr>
            <a:xfrm>
              <a:off x="0" y="-38100"/>
              <a:ext cx="4976446" cy="3788004"/>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675863" y="2511749"/>
            <a:ext cx="14936274" cy="4803648"/>
          </a:xfrm>
          <a:prstGeom prst="rect">
            <a:avLst/>
          </a:prstGeom>
        </p:spPr>
        <p:txBody>
          <a:bodyPr anchor="t" rtlCol="false" tIns="0" lIns="0" bIns="0" rIns="0">
            <a:spAutoFit/>
          </a:bodyPr>
          <a:lstStyle/>
          <a:p>
            <a:pPr algn="just">
              <a:lnSpc>
                <a:spcPts val="3456"/>
              </a:lnSpc>
            </a:pPr>
            <a:r>
              <a:rPr lang="en-US" sz="2400">
                <a:solidFill>
                  <a:srgbClr val="FFFFFF"/>
                </a:solidFill>
                <a:latin typeface="Inter"/>
                <a:ea typeface="Inter"/>
                <a:cs typeface="Inter"/>
                <a:sym typeface="Inter"/>
              </a:rPr>
              <a:t>Ca</a:t>
            </a:r>
            <a:r>
              <a:rPr lang="en-US" sz="2400">
                <a:solidFill>
                  <a:srgbClr val="FFFFFF"/>
                </a:solidFill>
                <a:latin typeface="Inter"/>
                <a:ea typeface="Inter"/>
                <a:cs typeface="Inter"/>
                <a:sym typeface="Inter"/>
              </a:rPr>
              <a:t>rnes Darras actualment</a:t>
            </a:r>
            <a:r>
              <a:rPr lang="en-US" sz="2400">
                <a:solidFill>
                  <a:srgbClr val="FFFFFF"/>
                </a:solidFill>
                <a:latin typeface="Inter"/>
                <a:ea typeface="Inter"/>
                <a:cs typeface="Inter"/>
                <a:sym typeface="Inter"/>
              </a:rPr>
              <a:t>e</a:t>
            </a:r>
            <a:r>
              <a:rPr lang="en-US" sz="2400">
                <a:solidFill>
                  <a:srgbClr val="FFFFFF"/>
                </a:solidFill>
                <a:latin typeface="Inter"/>
                <a:ea typeface="Inter"/>
                <a:cs typeface="Inter"/>
                <a:sym typeface="Inter"/>
              </a:rPr>
              <a:t> opera con procesos administrativos manuales y desactualizados,  procesos que se realizan de forma física, mediante papeles en los que se mueve la información, sin respaldo en servidor, nube o cualquier otro método tecnológico.</a:t>
            </a:r>
          </a:p>
          <a:p>
            <a:pPr algn="just">
              <a:lnSpc>
                <a:spcPts val="3456"/>
              </a:lnSpc>
            </a:pPr>
          </a:p>
          <a:p>
            <a:pPr algn="just">
              <a:lnSpc>
                <a:spcPts val="3456"/>
              </a:lnSpc>
            </a:pPr>
            <a:r>
              <a:rPr lang="en-US" sz="2400">
                <a:solidFill>
                  <a:srgbClr val="FFFFFF"/>
                </a:solidFill>
                <a:latin typeface="Inter"/>
                <a:ea typeface="Inter"/>
                <a:cs typeface="Inter"/>
                <a:sym typeface="Inter"/>
              </a:rPr>
              <a:t>Los únicos procesos que se realizan en una computadora es la creación de facturas en la pagina de facturación externa “NUBOX”, y el posterior reporte de ventas diarias que se guarda en una carpeta compartida de la empresa.</a:t>
            </a:r>
          </a:p>
          <a:p>
            <a:pPr algn="just">
              <a:lnSpc>
                <a:spcPts val="3456"/>
              </a:lnSpc>
            </a:pPr>
          </a:p>
          <a:p>
            <a:pPr algn="just">
              <a:lnSpc>
                <a:spcPts val="3456"/>
              </a:lnSpc>
            </a:pPr>
            <a:r>
              <a:rPr lang="en-US" sz="2400">
                <a:solidFill>
                  <a:srgbClr val="FFFFFF"/>
                </a:solidFill>
                <a:latin typeface="Inter"/>
                <a:ea typeface="Inter"/>
                <a:cs typeface="Inter"/>
                <a:sym typeface="Inter"/>
              </a:rPr>
              <a:t>Para efectos de este proyecto nos centraremos en el área de pedidos y facturación, ya que es el sector más inmediato en el que más tiempo se invierte durante el día.</a:t>
            </a:r>
          </a:p>
          <a:p>
            <a:pPr algn="just">
              <a:lnSpc>
                <a:spcPts val="3456"/>
              </a:lnSpc>
            </a:pPr>
          </a:p>
        </p:txBody>
      </p:sp>
      <p:sp>
        <p:nvSpPr>
          <p:cNvPr name="TextBox 7" id="7"/>
          <p:cNvSpPr txBox="true"/>
          <p:nvPr/>
        </p:nvSpPr>
        <p:spPr>
          <a:xfrm rot="0">
            <a:off x="4730833" y="1190625"/>
            <a:ext cx="8449277" cy="1200144"/>
          </a:xfrm>
          <a:prstGeom prst="rect">
            <a:avLst/>
          </a:prstGeom>
        </p:spPr>
        <p:txBody>
          <a:bodyPr anchor="t" rtlCol="false" tIns="0" lIns="0" bIns="0" rIns="0">
            <a:spAutoFit/>
          </a:bodyPr>
          <a:lstStyle/>
          <a:p>
            <a:pPr algn="ctr">
              <a:lnSpc>
                <a:spcPts val="8999"/>
              </a:lnSpc>
            </a:pPr>
            <a:r>
              <a:rPr lang="en-US" b="true" sz="8999" spc="-134">
                <a:solidFill>
                  <a:srgbClr val="FFFFFF"/>
                </a:solidFill>
                <a:latin typeface="Cy Grotesk Key Semi-Bold"/>
                <a:ea typeface="Cy Grotesk Key Semi-Bold"/>
                <a:cs typeface="Cy Grotesk Key Semi-Bold"/>
                <a:sym typeface="Cy Grotesk Key Semi-Bold"/>
              </a:rPr>
              <a:t>Problema</a:t>
            </a:r>
          </a:p>
        </p:txBody>
      </p:sp>
      <p:sp>
        <p:nvSpPr>
          <p:cNvPr name="TextBox 8" id="8"/>
          <p:cNvSpPr txBox="true"/>
          <p:nvPr/>
        </p:nvSpPr>
        <p:spPr>
          <a:xfrm rot="0">
            <a:off x="13010699" y="9431606"/>
            <a:ext cx="4401001" cy="450723"/>
          </a:xfrm>
          <a:prstGeom prst="rect">
            <a:avLst/>
          </a:prstGeom>
        </p:spPr>
        <p:txBody>
          <a:bodyPr anchor="t" rtlCol="false" tIns="0" lIns="0" bIns="0" rIns="0">
            <a:spAutoFit/>
          </a:bodyPr>
          <a:lstStyle/>
          <a:p>
            <a:pPr algn="r">
              <a:lnSpc>
                <a:spcPts val="3456"/>
              </a:lnSpc>
            </a:pPr>
            <a:r>
              <a:rPr lang="en-US" b="true" sz="2400">
                <a:solidFill>
                  <a:srgbClr val="F8F7F6"/>
                </a:solidFill>
                <a:latin typeface="Helvetica World Bold"/>
                <a:ea typeface="Helvetica World Bold"/>
                <a:cs typeface="Helvetica World Bold"/>
                <a:sym typeface="Helvetica World Bold"/>
              </a:rPr>
              <a:t>02</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FFFFFF"/>
                </a:solidFill>
                <a:latin typeface="Helvetica World Bold"/>
                <a:ea typeface="Helvetica World Bold"/>
                <a:cs typeface="Helvetica World Bold"/>
                <a:sym typeface="Helvetica World Bold"/>
              </a:rPr>
              <a:t>03</a:t>
            </a:r>
          </a:p>
        </p:txBody>
      </p:sp>
      <p:grpSp>
        <p:nvGrpSpPr>
          <p:cNvPr name="Group 6" id="6"/>
          <p:cNvGrpSpPr/>
          <p:nvPr/>
        </p:nvGrpSpPr>
        <p:grpSpPr>
          <a:xfrm rot="0">
            <a:off x="3282233" y="3583475"/>
            <a:ext cx="5671267" cy="1904447"/>
            <a:chOff x="0" y="0"/>
            <a:chExt cx="2611680" cy="877019"/>
          </a:xfrm>
        </p:grpSpPr>
        <p:sp>
          <p:nvSpPr>
            <p:cNvPr name="Freeform 7" id="7"/>
            <p:cNvSpPr/>
            <p:nvPr/>
          </p:nvSpPr>
          <p:spPr>
            <a:xfrm flipH="false" flipV="false" rot="0">
              <a:off x="0" y="0"/>
              <a:ext cx="2611680" cy="877019"/>
            </a:xfrm>
            <a:custGeom>
              <a:avLst/>
              <a:gdLst/>
              <a:ahLst/>
              <a:cxnLst/>
              <a:rect r="r" b="b" t="t" l="l"/>
              <a:pathLst>
                <a:path h="877019" w="2611680">
                  <a:moveTo>
                    <a:pt x="98288" y="0"/>
                  </a:moveTo>
                  <a:lnTo>
                    <a:pt x="2513392" y="0"/>
                  </a:lnTo>
                  <a:cubicBezTo>
                    <a:pt x="2567675" y="0"/>
                    <a:pt x="2611680" y="44005"/>
                    <a:pt x="2611680" y="98288"/>
                  </a:cubicBezTo>
                  <a:lnTo>
                    <a:pt x="2611680" y="778731"/>
                  </a:lnTo>
                  <a:cubicBezTo>
                    <a:pt x="2611680" y="804798"/>
                    <a:pt x="2601325" y="829798"/>
                    <a:pt x="2582892" y="848231"/>
                  </a:cubicBezTo>
                  <a:cubicBezTo>
                    <a:pt x="2564460" y="866663"/>
                    <a:pt x="2539460" y="877019"/>
                    <a:pt x="2513392" y="877019"/>
                  </a:cubicBezTo>
                  <a:lnTo>
                    <a:pt x="98288" y="877019"/>
                  </a:lnTo>
                  <a:cubicBezTo>
                    <a:pt x="72221" y="877019"/>
                    <a:pt x="47221" y="866663"/>
                    <a:pt x="28788" y="848231"/>
                  </a:cubicBezTo>
                  <a:cubicBezTo>
                    <a:pt x="10355" y="829798"/>
                    <a:pt x="0" y="804798"/>
                    <a:pt x="0" y="778731"/>
                  </a:cubicBezTo>
                  <a:lnTo>
                    <a:pt x="0" y="98288"/>
                  </a:lnTo>
                  <a:cubicBezTo>
                    <a:pt x="0" y="72221"/>
                    <a:pt x="10355" y="47221"/>
                    <a:pt x="28788" y="28788"/>
                  </a:cubicBezTo>
                  <a:cubicBezTo>
                    <a:pt x="47221" y="10355"/>
                    <a:pt x="72221" y="0"/>
                    <a:pt x="98288" y="0"/>
                  </a:cubicBezTo>
                  <a:close/>
                </a:path>
              </a:pathLst>
            </a:custGeom>
            <a:solidFill>
              <a:srgbClr val="A03E3C"/>
            </a:solidFill>
          </p:spPr>
        </p:sp>
        <p:sp>
          <p:nvSpPr>
            <p:cNvPr name="TextBox 8" id="8"/>
            <p:cNvSpPr txBox="true"/>
            <p:nvPr/>
          </p:nvSpPr>
          <p:spPr>
            <a:xfrm>
              <a:off x="0" y="95250"/>
              <a:ext cx="2611680" cy="781769"/>
            </a:xfrm>
            <a:prstGeom prst="rect">
              <a:avLst/>
            </a:prstGeom>
          </p:spPr>
          <p:txBody>
            <a:bodyPr anchor="ctr" rtlCol="false" tIns="50800" lIns="50800" bIns="50800" rIns="50800"/>
            <a:lstStyle/>
            <a:p>
              <a:pPr algn="ctr">
                <a:lnSpc>
                  <a:spcPts val="1925"/>
                </a:lnSpc>
              </a:pPr>
            </a:p>
          </p:txBody>
        </p:sp>
      </p:grpSp>
      <p:sp>
        <p:nvSpPr>
          <p:cNvPr name="TextBox 9" id="9"/>
          <p:cNvSpPr txBox="true"/>
          <p:nvPr/>
        </p:nvSpPr>
        <p:spPr>
          <a:xfrm rot="0">
            <a:off x="5357667" y="3989963"/>
            <a:ext cx="3243935" cy="1066800"/>
          </a:xfrm>
          <a:prstGeom prst="rect">
            <a:avLst/>
          </a:prstGeom>
        </p:spPr>
        <p:txBody>
          <a:bodyPr anchor="t" rtlCol="false" tIns="0" lIns="0" bIns="0" rIns="0">
            <a:spAutoFit/>
          </a:bodyPr>
          <a:lstStyle/>
          <a:p>
            <a:pPr algn="l" marL="0" indent="0" lvl="0">
              <a:lnSpc>
                <a:spcPts val="2100"/>
              </a:lnSpc>
            </a:pPr>
            <a:r>
              <a:rPr lang="en-US" b="true" sz="1500" spc="24">
                <a:solidFill>
                  <a:srgbClr val="FFFFFF"/>
                </a:solidFill>
                <a:latin typeface="Inter Bold"/>
                <a:ea typeface="Inter Bold"/>
                <a:cs typeface="Inter Bold"/>
                <a:sym typeface="Inter Bold"/>
              </a:rPr>
              <a:t>Registro de pedidos:</a:t>
            </a:r>
            <a:r>
              <a:rPr lang="en-US" sz="1500" spc="24">
                <a:solidFill>
                  <a:srgbClr val="FFFFFF"/>
                </a:solidFill>
                <a:latin typeface="Inter"/>
                <a:ea typeface="Inter"/>
                <a:cs typeface="Inter"/>
                <a:sym typeface="Inter"/>
              </a:rPr>
              <a:t> Permitiendo registrándolos dentro de la app, eliminando la necesidad de llamar al gerente y el uso de papeles</a:t>
            </a:r>
          </a:p>
        </p:txBody>
      </p:sp>
      <p:sp>
        <p:nvSpPr>
          <p:cNvPr name="TextBox 10" id="10"/>
          <p:cNvSpPr txBox="true"/>
          <p:nvPr/>
        </p:nvSpPr>
        <p:spPr>
          <a:xfrm rot="0">
            <a:off x="3560295" y="4207250"/>
            <a:ext cx="1797372" cy="761672"/>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FFFFFF"/>
                </a:solidFill>
                <a:latin typeface="Cy Grotesk Key Semi-Bold"/>
                <a:ea typeface="Cy Grotesk Key Semi-Bold"/>
                <a:cs typeface="Cy Grotesk Key Semi-Bold"/>
                <a:sym typeface="Cy Grotesk Key Semi-Bold"/>
              </a:rPr>
              <a:t>01.</a:t>
            </a:r>
          </a:p>
        </p:txBody>
      </p:sp>
      <p:grpSp>
        <p:nvGrpSpPr>
          <p:cNvPr name="Group 11" id="11"/>
          <p:cNvGrpSpPr/>
          <p:nvPr/>
        </p:nvGrpSpPr>
        <p:grpSpPr>
          <a:xfrm rot="0">
            <a:off x="3282233" y="6190965"/>
            <a:ext cx="5671267" cy="2127109"/>
            <a:chOff x="0" y="0"/>
            <a:chExt cx="2611680" cy="979557"/>
          </a:xfrm>
        </p:grpSpPr>
        <p:sp>
          <p:nvSpPr>
            <p:cNvPr name="Freeform 12" id="12"/>
            <p:cNvSpPr/>
            <p:nvPr/>
          </p:nvSpPr>
          <p:spPr>
            <a:xfrm flipH="false" flipV="false" rot="0">
              <a:off x="0" y="0"/>
              <a:ext cx="2611680" cy="979557"/>
            </a:xfrm>
            <a:custGeom>
              <a:avLst/>
              <a:gdLst/>
              <a:ahLst/>
              <a:cxnLst/>
              <a:rect r="r" b="b" t="t" l="l"/>
              <a:pathLst>
                <a:path h="979557" w="2611680">
                  <a:moveTo>
                    <a:pt x="98288" y="0"/>
                  </a:moveTo>
                  <a:lnTo>
                    <a:pt x="2513392" y="0"/>
                  </a:lnTo>
                  <a:cubicBezTo>
                    <a:pt x="2567675" y="0"/>
                    <a:pt x="2611680" y="44005"/>
                    <a:pt x="2611680" y="98288"/>
                  </a:cubicBezTo>
                  <a:lnTo>
                    <a:pt x="2611680" y="881269"/>
                  </a:lnTo>
                  <a:cubicBezTo>
                    <a:pt x="2611680" y="907337"/>
                    <a:pt x="2601325" y="932337"/>
                    <a:pt x="2582892" y="950769"/>
                  </a:cubicBezTo>
                  <a:cubicBezTo>
                    <a:pt x="2564460" y="969202"/>
                    <a:pt x="2539460" y="979557"/>
                    <a:pt x="2513392" y="979557"/>
                  </a:cubicBezTo>
                  <a:lnTo>
                    <a:pt x="98288" y="979557"/>
                  </a:lnTo>
                  <a:cubicBezTo>
                    <a:pt x="72221" y="979557"/>
                    <a:pt x="47221" y="969202"/>
                    <a:pt x="28788" y="950769"/>
                  </a:cubicBezTo>
                  <a:cubicBezTo>
                    <a:pt x="10355" y="932337"/>
                    <a:pt x="0" y="907337"/>
                    <a:pt x="0" y="881269"/>
                  </a:cubicBezTo>
                  <a:lnTo>
                    <a:pt x="0" y="98288"/>
                  </a:lnTo>
                  <a:cubicBezTo>
                    <a:pt x="0" y="72221"/>
                    <a:pt x="10355" y="47221"/>
                    <a:pt x="28788" y="28788"/>
                  </a:cubicBezTo>
                  <a:cubicBezTo>
                    <a:pt x="47221" y="10355"/>
                    <a:pt x="72221" y="0"/>
                    <a:pt x="98288" y="0"/>
                  </a:cubicBezTo>
                  <a:close/>
                </a:path>
              </a:pathLst>
            </a:custGeom>
            <a:solidFill>
              <a:srgbClr val="A03E3C"/>
            </a:solidFill>
          </p:spPr>
        </p:sp>
        <p:sp>
          <p:nvSpPr>
            <p:cNvPr name="TextBox 13" id="13"/>
            <p:cNvSpPr txBox="true"/>
            <p:nvPr/>
          </p:nvSpPr>
          <p:spPr>
            <a:xfrm>
              <a:off x="0" y="95250"/>
              <a:ext cx="2611680" cy="884307"/>
            </a:xfrm>
            <a:prstGeom prst="rect">
              <a:avLst/>
            </a:prstGeom>
          </p:spPr>
          <p:txBody>
            <a:bodyPr anchor="ctr" rtlCol="false" tIns="50800" lIns="50800" bIns="50800" rIns="50800"/>
            <a:lstStyle/>
            <a:p>
              <a:pPr algn="ctr">
                <a:lnSpc>
                  <a:spcPts val="1925"/>
                </a:lnSpc>
              </a:pPr>
            </a:p>
          </p:txBody>
        </p:sp>
      </p:grpSp>
      <p:sp>
        <p:nvSpPr>
          <p:cNvPr name="TextBox 14" id="14"/>
          <p:cNvSpPr txBox="true"/>
          <p:nvPr/>
        </p:nvSpPr>
        <p:spPr>
          <a:xfrm rot="0">
            <a:off x="3560295" y="6925477"/>
            <a:ext cx="1797372" cy="762861"/>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FFFFFF"/>
                </a:solidFill>
                <a:latin typeface="Cy Grotesk Key Semi-Bold"/>
                <a:ea typeface="Cy Grotesk Key Semi-Bold"/>
                <a:cs typeface="Cy Grotesk Key Semi-Bold"/>
                <a:sym typeface="Cy Grotesk Key Semi-Bold"/>
              </a:rPr>
              <a:t>03.</a:t>
            </a:r>
          </a:p>
        </p:txBody>
      </p:sp>
      <p:grpSp>
        <p:nvGrpSpPr>
          <p:cNvPr name="Group 15" id="15"/>
          <p:cNvGrpSpPr/>
          <p:nvPr/>
        </p:nvGrpSpPr>
        <p:grpSpPr>
          <a:xfrm rot="0">
            <a:off x="9334500" y="6190965"/>
            <a:ext cx="5671267" cy="2127109"/>
            <a:chOff x="0" y="0"/>
            <a:chExt cx="2611680" cy="979557"/>
          </a:xfrm>
        </p:grpSpPr>
        <p:sp>
          <p:nvSpPr>
            <p:cNvPr name="Freeform 16" id="16"/>
            <p:cNvSpPr/>
            <p:nvPr/>
          </p:nvSpPr>
          <p:spPr>
            <a:xfrm flipH="false" flipV="false" rot="0">
              <a:off x="0" y="0"/>
              <a:ext cx="2611680" cy="979557"/>
            </a:xfrm>
            <a:custGeom>
              <a:avLst/>
              <a:gdLst/>
              <a:ahLst/>
              <a:cxnLst/>
              <a:rect r="r" b="b" t="t" l="l"/>
              <a:pathLst>
                <a:path h="979557" w="2611680">
                  <a:moveTo>
                    <a:pt x="98288" y="0"/>
                  </a:moveTo>
                  <a:lnTo>
                    <a:pt x="2513392" y="0"/>
                  </a:lnTo>
                  <a:cubicBezTo>
                    <a:pt x="2567675" y="0"/>
                    <a:pt x="2611680" y="44005"/>
                    <a:pt x="2611680" y="98288"/>
                  </a:cubicBezTo>
                  <a:lnTo>
                    <a:pt x="2611680" y="881269"/>
                  </a:lnTo>
                  <a:cubicBezTo>
                    <a:pt x="2611680" y="907337"/>
                    <a:pt x="2601325" y="932337"/>
                    <a:pt x="2582892" y="950769"/>
                  </a:cubicBezTo>
                  <a:cubicBezTo>
                    <a:pt x="2564460" y="969202"/>
                    <a:pt x="2539460" y="979557"/>
                    <a:pt x="2513392" y="979557"/>
                  </a:cubicBezTo>
                  <a:lnTo>
                    <a:pt x="98288" y="979557"/>
                  </a:lnTo>
                  <a:cubicBezTo>
                    <a:pt x="72221" y="979557"/>
                    <a:pt x="47221" y="969202"/>
                    <a:pt x="28788" y="950769"/>
                  </a:cubicBezTo>
                  <a:cubicBezTo>
                    <a:pt x="10355" y="932337"/>
                    <a:pt x="0" y="907337"/>
                    <a:pt x="0" y="881269"/>
                  </a:cubicBezTo>
                  <a:lnTo>
                    <a:pt x="0" y="98288"/>
                  </a:lnTo>
                  <a:cubicBezTo>
                    <a:pt x="0" y="72221"/>
                    <a:pt x="10355" y="47221"/>
                    <a:pt x="28788" y="28788"/>
                  </a:cubicBezTo>
                  <a:cubicBezTo>
                    <a:pt x="47221" y="10355"/>
                    <a:pt x="72221" y="0"/>
                    <a:pt x="98288" y="0"/>
                  </a:cubicBezTo>
                  <a:close/>
                </a:path>
              </a:pathLst>
            </a:custGeom>
            <a:solidFill>
              <a:srgbClr val="A03E3C"/>
            </a:solidFill>
          </p:spPr>
        </p:sp>
        <p:sp>
          <p:nvSpPr>
            <p:cNvPr name="TextBox 17" id="17"/>
            <p:cNvSpPr txBox="true"/>
            <p:nvPr/>
          </p:nvSpPr>
          <p:spPr>
            <a:xfrm>
              <a:off x="0" y="95250"/>
              <a:ext cx="2611680" cy="884307"/>
            </a:xfrm>
            <a:prstGeom prst="rect">
              <a:avLst/>
            </a:prstGeom>
          </p:spPr>
          <p:txBody>
            <a:bodyPr anchor="ctr" rtlCol="false" tIns="50800" lIns="50800" bIns="50800" rIns="50800"/>
            <a:lstStyle/>
            <a:p>
              <a:pPr algn="ctr">
                <a:lnSpc>
                  <a:spcPts val="1925"/>
                </a:lnSpc>
              </a:pPr>
            </a:p>
          </p:txBody>
        </p:sp>
      </p:grpSp>
      <p:sp>
        <p:nvSpPr>
          <p:cNvPr name="TextBox 18" id="18"/>
          <p:cNvSpPr txBox="true"/>
          <p:nvPr/>
        </p:nvSpPr>
        <p:spPr>
          <a:xfrm rot="0">
            <a:off x="11409934" y="6471731"/>
            <a:ext cx="3413299" cy="1600200"/>
          </a:xfrm>
          <a:prstGeom prst="rect">
            <a:avLst/>
          </a:prstGeom>
        </p:spPr>
        <p:txBody>
          <a:bodyPr anchor="t" rtlCol="false" tIns="0" lIns="0" bIns="0" rIns="0">
            <a:spAutoFit/>
          </a:bodyPr>
          <a:lstStyle/>
          <a:p>
            <a:pPr algn="l" marL="0" indent="0" lvl="0">
              <a:lnSpc>
                <a:spcPts val="2100"/>
              </a:lnSpc>
            </a:pPr>
            <a:r>
              <a:rPr lang="en-US" b="true" sz="1500" spc="24">
                <a:solidFill>
                  <a:srgbClr val="FFFFFF"/>
                </a:solidFill>
                <a:latin typeface="Inter Semi-Bold"/>
                <a:ea typeface="Inter Semi-Bold"/>
                <a:cs typeface="Inter Semi-Bold"/>
                <a:sym typeface="Inter Semi-Bold"/>
              </a:rPr>
              <a:t>Reportes y Dashboards: </a:t>
            </a:r>
            <a:r>
              <a:rPr lang="en-US" sz="1500" spc="24">
                <a:solidFill>
                  <a:srgbClr val="FFFFFF"/>
                </a:solidFill>
                <a:latin typeface="Inter"/>
                <a:ea typeface="Inter"/>
                <a:cs typeface="Inter"/>
                <a:sym typeface="Inter"/>
              </a:rPr>
              <a:t>Permitirá ver el estado de los pedidos, productos más vendidos y los clientes con más pedidos realizados. Tendrá datos diarios, mensuales y anuiales</a:t>
            </a:r>
          </a:p>
        </p:txBody>
      </p:sp>
      <p:sp>
        <p:nvSpPr>
          <p:cNvPr name="TextBox 19" id="19"/>
          <p:cNvSpPr txBox="true"/>
          <p:nvPr/>
        </p:nvSpPr>
        <p:spPr>
          <a:xfrm rot="0">
            <a:off x="9612562" y="6925477"/>
            <a:ext cx="1797372" cy="762861"/>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FFFFFF"/>
                </a:solidFill>
                <a:latin typeface="Cy Grotesk Key Semi-Bold"/>
                <a:ea typeface="Cy Grotesk Key Semi-Bold"/>
                <a:cs typeface="Cy Grotesk Key Semi-Bold"/>
                <a:sym typeface="Cy Grotesk Key Semi-Bold"/>
              </a:rPr>
              <a:t>04.</a:t>
            </a:r>
          </a:p>
        </p:txBody>
      </p:sp>
      <p:grpSp>
        <p:nvGrpSpPr>
          <p:cNvPr name="Group 20" id="20"/>
          <p:cNvGrpSpPr/>
          <p:nvPr/>
        </p:nvGrpSpPr>
        <p:grpSpPr>
          <a:xfrm rot="0">
            <a:off x="9334500" y="3583475"/>
            <a:ext cx="5671267" cy="1904447"/>
            <a:chOff x="0" y="0"/>
            <a:chExt cx="2611680" cy="877019"/>
          </a:xfrm>
        </p:grpSpPr>
        <p:sp>
          <p:nvSpPr>
            <p:cNvPr name="Freeform 21" id="21"/>
            <p:cNvSpPr/>
            <p:nvPr/>
          </p:nvSpPr>
          <p:spPr>
            <a:xfrm flipH="false" flipV="false" rot="0">
              <a:off x="0" y="0"/>
              <a:ext cx="2611680" cy="877019"/>
            </a:xfrm>
            <a:custGeom>
              <a:avLst/>
              <a:gdLst/>
              <a:ahLst/>
              <a:cxnLst/>
              <a:rect r="r" b="b" t="t" l="l"/>
              <a:pathLst>
                <a:path h="877019" w="2611680">
                  <a:moveTo>
                    <a:pt x="98288" y="0"/>
                  </a:moveTo>
                  <a:lnTo>
                    <a:pt x="2513392" y="0"/>
                  </a:lnTo>
                  <a:cubicBezTo>
                    <a:pt x="2567675" y="0"/>
                    <a:pt x="2611680" y="44005"/>
                    <a:pt x="2611680" y="98288"/>
                  </a:cubicBezTo>
                  <a:lnTo>
                    <a:pt x="2611680" y="778731"/>
                  </a:lnTo>
                  <a:cubicBezTo>
                    <a:pt x="2611680" y="804798"/>
                    <a:pt x="2601325" y="829798"/>
                    <a:pt x="2582892" y="848231"/>
                  </a:cubicBezTo>
                  <a:cubicBezTo>
                    <a:pt x="2564460" y="866663"/>
                    <a:pt x="2539460" y="877019"/>
                    <a:pt x="2513392" y="877019"/>
                  </a:cubicBezTo>
                  <a:lnTo>
                    <a:pt x="98288" y="877019"/>
                  </a:lnTo>
                  <a:cubicBezTo>
                    <a:pt x="72221" y="877019"/>
                    <a:pt x="47221" y="866663"/>
                    <a:pt x="28788" y="848231"/>
                  </a:cubicBezTo>
                  <a:cubicBezTo>
                    <a:pt x="10355" y="829798"/>
                    <a:pt x="0" y="804798"/>
                    <a:pt x="0" y="778731"/>
                  </a:cubicBezTo>
                  <a:lnTo>
                    <a:pt x="0" y="98288"/>
                  </a:lnTo>
                  <a:cubicBezTo>
                    <a:pt x="0" y="72221"/>
                    <a:pt x="10355" y="47221"/>
                    <a:pt x="28788" y="28788"/>
                  </a:cubicBezTo>
                  <a:cubicBezTo>
                    <a:pt x="47221" y="10355"/>
                    <a:pt x="72221" y="0"/>
                    <a:pt x="98288" y="0"/>
                  </a:cubicBezTo>
                  <a:close/>
                </a:path>
              </a:pathLst>
            </a:custGeom>
            <a:solidFill>
              <a:srgbClr val="A03E3C"/>
            </a:solidFill>
          </p:spPr>
        </p:sp>
        <p:sp>
          <p:nvSpPr>
            <p:cNvPr name="TextBox 22" id="22"/>
            <p:cNvSpPr txBox="true"/>
            <p:nvPr/>
          </p:nvSpPr>
          <p:spPr>
            <a:xfrm>
              <a:off x="0" y="95250"/>
              <a:ext cx="2611680" cy="781769"/>
            </a:xfrm>
            <a:prstGeom prst="rect">
              <a:avLst/>
            </a:prstGeom>
          </p:spPr>
          <p:txBody>
            <a:bodyPr anchor="ctr" rtlCol="false" tIns="50800" lIns="50800" bIns="50800" rIns="50800"/>
            <a:lstStyle/>
            <a:p>
              <a:pPr algn="ctr">
                <a:lnSpc>
                  <a:spcPts val="1925"/>
                </a:lnSpc>
              </a:pPr>
            </a:p>
          </p:txBody>
        </p:sp>
      </p:grpSp>
      <p:sp>
        <p:nvSpPr>
          <p:cNvPr name="TextBox 23" id="23"/>
          <p:cNvSpPr txBox="true"/>
          <p:nvPr/>
        </p:nvSpPr>
        <p:spPr>
          <a:xfrm rot="0">
            <a:off x="11409934" y="3856613"/>
            <a:ext cx="3413299" cy="1333500"/>
          </a:xfrm>
          <a:prstGeom prst="rect">
            <a:avLst/>
          </a:prstGeom>
        </p:spPr>
        <p:txBody>
          <a:bodyPr anchor="t" rtlCol="false" tIns="0" lIns="0" bIns="0" rIns="0">
            <a:spAutoFit/>
          </a:bodyPr>
          <a:lstStyle/>
          <a:p>
            <a:pPr algn="l" marL="0" indent="0" lvl="0">
              <a:lnSpc>
                <a:spcPts val="2100"/>
              </a:lnSpc>
            </a:pPr>
            <a:r>
              <a:rPr lang="en-US" b="true" sz="1500" spc="24">
                <a:solidFill>
                  <a:srgbClr val="FFFFFF"/>
                </a:solidFill>
                <a:latin typeface="Inter Bold"/>
                <a:ea typeface="Inter Bold"/>
                <a:cs typeface="Inter Bold"/>
                <a:sym typeface="Inter Bold"/>
              </a:rPr>
              <a:t>Preparación de pedidos:</a:t>
            </a:r>
            <a:r>
              <a:rPr lang="en-US" sz="1500" spc="24">
                <a:solidFill>
                  <a:srgbClr val="FFFFFF"/>
                </a:solidFill>
                <a:latin typeface="Inter"/>
                <a:ea typeface="Inter"/>
                <a:cs typeface="Inter"/>
                <a:sym typeface="Inter"/>
              </a:rPr>
              <a:t> Podrán prepararse directamente en la app, ingresando los pesos de las cajas y calculando automáticamente los pesos por producto.</a:t>
            </a:r>
          </a:p>
        </p:txBody>
      </p:sp>
      <p:sp>
        <p:nvSpPr>
          <p:cNvPr name="TextBox 24" id="24"/>
          <p:cNvSpPr txBox="true"/>
          <p:nvPr/>
        </p:nvSpPr>
        <p:spPr>
          <a:xfrm rot="0">
            <a:off x="9612562" y="4206656"/>
            <a:ext cx="1797372" cy="762861"/>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FFFFFF"/>
                </a:solidFill>
                <a:latin typeface="Cy Grotesk Key Semi-Bold"/>
                <a:ea typeface="Cy Grotesk Key Semi-Bold"/>
                <a:cs typeface="Cy Grotesk Key Semi-Bold"/>
                <a:sym typeface="Cy Grotesk Key Semi-Bold"/>
              </a:rPr>
              <a:t>02.</a:t>
            </a:r>
          </a:p>
        </p:txBody>
      </p:sp>
      <p:sp>
        <p:nvSpPr>
          <p:cNvPr name="TextBox 25" id="25"/>
          <p:cNvSpPr txBox="true"/>
          <p:nvPr/>
        </p:nvSpPr>
        <p:spPr>
          <a:xfrm rot="0">
            <a:off x="1166412" y="2462415"/>
            <a:ext cx="15955176" cy="710564"/>
          </a:xfrm>
          <a:prstGeom prst="rect">
            <a:avLst/>
          </a:prstGeom>
        </p:spPr>
        <p:txBody>
          <a:bodyPr anchor="t" rtlCol="false" tIns="0" lIns="0" bIns="0" rIns="0">
            <a:spAutoFit/>
          </a:bodyPr>
          <a:lstStyle/>
          <a:p>
            <a:pPr algn="ctr">
              <a:lnSpc>
                <a:spcPts val="2880"/>
              </a:lnSpc>
            </a:pPr>
            <a:r>
              <a:rPr lang="en-US" sz="2000">
                <a:solidFill>
                  <a:srgbClr val="202020"/>
                </a:solidFill>
                <a:latin typeface="Inter"/>
                <a:ea typeface="Inter"/>
                <a:cs typeface="Inter"/>
                <a:sym typeface="Inter"/>
              </a:rPr>
              <a:t>Una app móvil que centraliza y digitaliza todo el proceso de toma de pedidos, preparación y facturación, permitiendo a los vendedores registrar solicitudes directamente desde el teléfono, de manera rápida, ordenada y estandarizada.</a:t>
            </a:r>
          </a:p>
        </p:txBody>
      </p:sp>
      <p:sp>
        <p:nvSpPr>
          <p:cNvPr name="TextBox 26" id="26"/>
          <p:cNvSpPr txBox="true"/>
          <p:nvPr/>
        </p:nvSpPr>
        <p:spPr>
          <a:xfrm rot="0">
            <a:off x="4919361" y="1190625"/>
            <a:ext cx="8449277" cy="1200144"/>
          </a:xfrm>
          <a:prstGeom prst="rect">
            <a:avLst/>
          </a:prstGeom>
        </p:spPr>
        <p:txBody>
          <a:bodyPr anchor="t" rtlCol="false" tIns="0" lIns="0" bIns="0" rIns="0">
            <a:spAutoFit/>
          </a:bodyPr>
          <a:lstStyle/>
          <a:p>
            <a:pPr algn="ctr">
              <a:lnSpc>
                <a:spcPts val="8999"/>
              </a:lnSpc>
            </a:pPr>
            <a:r>
              <a:rPr lang="en-US" b="true" sz="8999" spc="-134">
                <a:solidFill>
                  <a:srgbClr val="000000"/>
                </a:solidFill>
                <a:latin typeface="Cy Grotesk Key Semi-Bold"/>
                <a:ea typeface="Cy Grotesk Key Semi-Bold"/>
                <a:cs typeface="Cy Grotesk Key Semi-Bold"/>
                <a:sym typeface="Cy Grotesk Key Semi-Bold"/>
              </a:rPr>
              <a:t>Solución</a:t>
            </a:r>
          </a:p>
        </p:txBody>
      </p:sp>
      <p:sp>
        <p:nvSpPr>
          <p:cNvPr name="TextBox 27" id="27"/>
          <p:cNvSpPr txBox="true"/>
          <p:nvPr/>
        </p:nvSpPr>
        <p:spPr>
          <a:xfrm rot="0">
            <a:off x="5167167" y="6471731"/>
            <a:ext cx="3434435" cy="1600200"/>
          </a:xfrm>
          <a:prstGeom prst="rect">
            <a:avLst/>
          </a:prstGeom>
        </p:spPr>
        <p:txBody>
          <a:bodyPr anchor="t" rtlCol="false" tIns="0" lIns="0" bIns="0" rIns="0">
            <a:spAutoFit/>
          </a:bodyPr>
          <a:lstStyle/>
          <a:p>
            <a:pPr algn="l" marL="0" indent="0" lvl="0">
              <a:lnSpc>
                <a:spcPts val="2100"/>
              </a:lnSpc>
            </a:pPr>
            <a:r>
              <a:rPr lang="en-US" b="true" sz="1500" spc="24">
                <a:solidFill>
                  <a:srgbClr val="FFFFFF"/>
                </a:solidFill>
                <a:latin typeface="Inter Bold"/>
                <a:ea typeface="Inter Bold"/>
                <a:cs typeface="Inter Bold"/>
                <a:sym typeface="Inter Bold"/>
              </a:rPr>
              <a:t>Facturación automática: </a:t>
            </a:r>
            <a:r>
              <a:rPr lang="en-US" sz="1500" spc="24">
                <a:solidFill>
                  <a:srgbClr val="FFFFFF"/>
                </a:solidFill>
                <a:latin typeface="Inter"/>
                <a:ea typeface="Inter"/>
                <a:cs typeface="Inter"/>
                <a:sym typeface="Inter"/>
              </a:rPr>
              <a:t>Permitirá facturar los pedidos, ya sea individualmente o en masa, guardándolo automáticamente en el dispositivo para así agilizar el proceso de facturación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955198" y="348824"/>
            <a:ext cx="2717290" cy="5421776"/>
          </a:xfrm>
          <a:custGeom>
            <a:avLst/>
            <a:gdLst/>
            <a:ahLst/>
            <a:cxnLst/>
            <a:rect r="r" b="b" t="t" l="l"/>
            <a:pathLst>
              <a:path h="5421776" w="2717290">
                <a:moveTo>
                  <a:pt x="0" y="0"/>
                </a:moveTo>
                <a:lnTo>
                  <a:pt x="2717290" y="0"/>
                </a:lnTo>
                <a:lnTo>
                  <a:pt x="2717290" y="5421776"/>
                </a:lnTo>
                <a:lnTo>
                  <a:pt x="0" y="5421776"/>
                </a:lnTo>
                <a:lnTo>
                  <a:pt x="0" y="0"/>
                </a:lnTo>
                <a:close/>
              </a:path>
            </a:pathLst>
          </a:custGeom>
          <a:blipFill>
            <a:blip r:embed="rId2"/>
            <a:stretch>
              <a:fillRect l="-2731" t="0" r="-6345" b="-17248"/>
            </a:stretch>
          </a:blipFill>
        </p:spPr>
      </p:sp>
      <p:sp>
        <p:nvSpPr>
          <p:cNvPr name="Freeform 6" id="6"/>
          <p:cNvSpPr/>
          <p:nvPr/>
        </p:nvSpPr>
        <p:spPr>
          <a:xfrm flipH="false" flipV="false" rot="0">
            <a:off x="9931505" y="4825599"/>
            <a:ext cx="2764677" cy="4128505"/>
          </a:xfrm>
          <a:custGeom>
            <a:avLst/>
            <a:gdLst/>
            <a:ahLst/>
            <a:cxnLst/>
            <a:rect r="r" b="b" t="t" l="l"/>
            <a:pathLst>
              <a:path h="4128505" w="2764677">
                <a:moveTo>
                  <a:pt x="0" y="0"/>
                </a:moveTo>
                <a:lnTo>
                  <a:pt x="2764677" y="0"/>
                </a:lnTo>
                <a:lnTo>
                  <a:pt x="2764677" y="4128505"/>
                </a:lnTo>
                <a:lnTo>
                  <a:pt x="0" y="4128505"/>
                </a:lnTo>
                <a:lnTo>
                  <a:pt x="0" y="0"/>
                </a:lnTo>
                <a:close/>
              </a:path>
            </a:pathLst>
          </a:custGeom>
          <a:blipFill>
            <a:blip r:embed="rId3"/>
            <a:stretch>
              <a:fillRect l="0" t="0" r="-1713" b="-47272"/>
            </a:stretch>
          </a:blipFill>
        </p:spPr>
      </p:sp>
      <p:sp>
        <p:nvSpPr>
          <p:cNvPr name="Freeform 7" id="7"/>
          <p:cNvSpPr/>
          <p:nvPr/>
        </p:nvSpPr>
        <p:spPr>
          <a:xfrm flipH="false" flipV="false" rot="0">
            <a:off x="13513971" y="348824"/>
            <a:ext cx="3745329" cy="8175867"/>
          </a:xfrm>
          <a:custGeom>
            <a:avLst/>
            <a:gdLst/>
            <a:ahLst/>
            <a:cxnLst/>
            <a:rect r="r" b="b" t="t" l="l"/>
            <a:pathLst>
              <a:path h="8175867" w="3745329">
                <a:moveTo>
                  <a:pt x="0" y="0"/>
                </a:moveTo>
                <a:lnTo>
                  <a:pt x="3745329" y="0"/>
                </a:lnTo>
                <a:lnTo>
                  <a:pt x="3745329" y="8175867"/>
                </a:lnTo>
                <a:lnTo>
                  <a:pt x="0" y="8175867"/>
                </a:lnTo>
                <a:lnTo>
                  <a:pt x="0" y="0"/>
                </a:lnTo>
                <a:close/>
              </a:path>
            </a:pathLst>
          </a:custGeom>
          <a:blipFill>
            <a:blip r:embed="rId4"/>
            <a:stretch>
              <a:fillRect l="-1622" t="0" r="-1081" b="-907"/>
            </a:stretch>
          </a:blipFill>
        </p:spPr>
      </p:sp>
      <p:sp>
        <p:nvSpPr>
          <p:cNvPr name="TextBox 8" id="8"/>
          <p:cNvSpPr txBox="true"/>
          <p:nvPr/>
        </p:nvSpPr>
        <p:spPr>
          <a:xfrm rot="0">
            <a:off x="1028700" y="1451376"/>
            <a:ext cx="8449277" cy="867415"/>
          </a:xfrm>
          <a:prstGeom prst="rect">
            <a:avLst/>
          </a:prstGeom>
        </p:spPr>
        <p:txBody>
          <a:bodyPr anchor="t" rtlCol="false" tIns="0" lIns="0" bIns="0" rIns="0">
            <a:spAutoFit/>
          </a:bodyPr>
          <a:lstStyle/>
          <a:p>
            <a:pPr algn="l">
              <a:lnSpc>
                <a:spcPts val="6400"/>
              </a:lnSpc>
            </a:pPr>
            <a:r>
              <a:rPr lang="en-US" sz="6400" spc="-96" b="true">
                <a:solidFill>
                  <a:srgbClr val="202020"/>
                </a:solidFill>
                <a:latin typeface="Cy Grotesk Key Semi-Bold"/>
                <a:ea typeface="Cy Grotesk Key Semi-Bold"/>
                <a:cs typeface="Cy Grotesk Key Semi-Bold"/>
                <a:sym typeface="Cy Grotesk Key Semi-Bold"/>
              </a:rPr>
              <a:t>Público objetivo</a:t>
            </a:r>
          </a:p>
        </p:txBody>
      </p:sp>
      <p:sp>
        <p:nvSpPr>
          <p:cNvPr name="TextBox 9" id="9"/>
          <p:cNvSpPr txBox="true"/>
          <p:nvPr/>
        </p:nvSpPr>
        <p:spPr>
          <a:xfrm rot="0">
            <a:off x="1028700" y="2623186"/>
            <a:ext cx="7949130" cy="2520314"/>
          </a:xfrm>
          <a:prstGeom prst="rect">
            <a:avLst/>
          </a:prstGeom>
        </p:spPr>
        <p:txBody>
          <a:bodyPr anchor="t" rtlCol="false" tIns="0" lIns="0" bIns="0" rIns="0">
            <a:spAutoFit/>
          </a:bodyPr>
          <a:lstStyle/>
          <a:p>
            <a:pPr algn="l">
              <a:lnSpc>
                <a:spcPts val="2880"/>
              </a:lnSpc>
            </a:pPr>
            <a:r>
              <a:rPr lang="en-US" sz="2000">
                <a:solidFill>
                  <a:srgbClr val="202020"/>
                </a:solidFill>
                <a:latin typeface="Inter"/>
                <a:ea typeface="Inter"/>
                <a:cs typeface="Inter"/>
                <a:sym typeface="Inter"/>
              </a:rPr>
              <a:t>La aplicación está diseñada pensando en que los principales usuarios son trabajadores y vendedores de la empresa que, en su mayoría, son personas mayores y con poca familiaridad con herramientas digitales. De allí que la aplicación tenga estos colores tan marcados, con botones grandes, disposición simple y directa, pero lo más importante, que tenga los pedidos y estados de los pedidos diferenciados por colores.</a:t>
            </a:r>
          </a:p>
        </p:txBody>
      </p:sp>
      <p:sp>
        <p:nvSpPr>
          <p:cNvPr name="TextBox 10" id="10"/>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EFE8DD"/>
                </a:solidFill>
                <a:latin typeface="Helvetica World Bold"/>
                <a:ea typeface="Helvetica World Bold"/>
                <a:cs typeface="Helvetica World Bold"/>
                <a:sym typeface="Helvetica World Bold"/>
              </a:rPr>
              <a:t>04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493244" y="3668613"/>
            <a:ext cx="5515417" cy="5369834"/>
          </a:xfrm>
          <a:custGeom>
            <a:avLst/>
            <a:gdLst/>
            <a:ahLst/>
            <a:cxnLst/>
            <a:rect r="r" b="b" t="t" l="l"/>
            <a:pathLst>
              <a:path h="5369834" w="5515417">
                <a:moveTo>
                  <a:pt x="0" y="0"/>
                </a:moveTo>
                <a:lnTo>
                  <a:pt x="5515417" y="0"/>
                </a:lnTo>
                <a:lnTo>
                  <a:pt x="5515417" y="5369834"/>
                </a:lnTo>
                <a:lnTo>
                  <a:pt x="0" y="5369834"/>
                </a:lnTo>
                <a:lnTo>
                  <a:pt x="0" y="0"/>
                </a:lnTo>
                <a:close/>
              </a:path>
            </a:pathLst>
          </a:custGeom>
          <a:blipFill>
            <a:blip r:embed="rId2"/>
            <a:stretch>
              <a:fillRect l="-7266" t="-1658" r="-9419" b="0"/>
            </a:stretch>
          </a:blipFill>
        </p:spPr>
      </p:sp>
      <p:sp>
        <p:nvSpPr>
          <p:cNvPr name="Freeform 6" id="6"/>
          <p:cNvSpPr/>
          <p:nvPr/>
        </p:nvSpPr>
        <p:spPr>
          <a:xfrm flipH="false" flipV="false" rot="0">
            <a:off x="10720217" y="3522860"/>
            <a:ext cx="5416857" cy="5614493"/>
          </a:xfrm>
          <a:custGeom>
            <a:avLst/>
            <a:gdLst/>
            <a:ahLst/>
            <a:cxnLst/>
            <a:rect r="r" b="b" t="t" l="l"/>
            <a:pathLst>
              <a:path h="5614493" w="5416857">
                <a:moveTo>
                  <a:pt x="0" y="0"/>
                </a:moveTo>
                <a:lnTo>
                  <a:pt x="5416857" y="0"/>
                </a:lnTo>
                <a:lnTo>
                  <a:pt x="5416857" y="5614493"/>
                </a:lnTo>
                <a:lnTo>
                  <a:pt x="0" y="5614493"/>
                </a:lnTo>
                <a:lnTo>
                  <a:pt x="0" y="0"/>
                </a:lnTo>
                <a:close/>
              </a:path>
            </a:pathLst>
          </a:custGeom>
          <a:blipFill>
            <a:blip r:embed="rId3"/>
            <a:stretch>
              <a:fillRect l="-1128" t="0" r="-1819" b="-1088"/>
            </a:stretch>
          </a:blipFill>
        </p:spPr>
      </p:sp>
      <p:sp>
        <p:nvSpPr>
          <p:cNvPr name="TextBox 7" id="7"/>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EFE8DD"/>
                </a:solidFill>
                <a:latin typeface="Helvetica World Bold"/>
                <a:ea typeface="Helvetica World Bold"/>
                <a:cs typeface="Helvetica World Bold"/>
                <a:sym typeface="Helvetica World Bold"/>
              </a:rPr>
              <a:t>05</a:t>
            </a:r>
          </a:p>
        </p:txBody>
      </p:sp>
      <p:sp>
        <p:nvSpPr>
          <p:cNvPr name="TextBox 8" id="8"/>
          <p:cNvSpPr txBox="true"/>
          <p:nvPr/>
        </p:nvSpPr>
        <p:spPr>
          <a:xfrm rot="0">
            <a:off x="2150926" y="1143000"/>
            <a:ext cx="13986147" cy="857885"/>
          </a:xfrm>
          <a:prstGeom prst="rect">
            <a:avLst/>
          </a:prstGeom>
        </p:spPr>
        <p:txBody>
          <a:bodyPr anchor="t" rtlCol="false" tIns="0" lIns="0" bIns="0" rIns="0">
            <a:spAutoFit/>
          </a:bodyPr>
          <a:lstStyle/>
          <a:p>
            <a:pPr algn="ctr">
              <a:lnSpc>
                <a:spcPts val="6399"/>
              </a:lnSpc>
            </a:pPr>
            <a:r>
              <a:rPr lang="en-US" b="true" sz="6399" spc="-95">
                <a:solidFill>
                  <a:srgbClr val="000000"/>
                </a:solidFill>
                <a:latin typeface="Cy Grotesk Key Semi-Bold"/>
                <a:ea typeface="Cy Grotesk Key Semi-Bold"/>
                <a:cs typeface="Cy Grotesk Key Semi-Bold"/>
                <a:sym typeface="Cy Grotesk Key Semi-Bold"/>
              </a:rPr>
              <a:t>Estado de Pedidos</a:t>
            </a:r>
          </a:p>
        </p:txBody>
      </p:sp>
      <p:sp>
        <p:nvSpPr>
          <p:cNvPr name="TextBox 9" id="9"/>
          <p:cNvSpPr txBox="true"/>
          <p:nvPr/>
        </p:nvSpPr>
        <p:spPr>
          <a:xfrm rot="0">
            <a:off x="3948298" y="2549590"/>
            <a:ext cx="4060363" cy="800100"/>
          </a:xfrm>
          <a:prstGeom prst="rect">
            <a:avLst/>
          </a:prstGeom>
        </p:spPr>
        <p:txBody>
          <a:bodyPr anchor="t" rtlCol="false" tIns="0" lIns="0" bIns="0" rIns="0">
            <a:spAutoFit/>
          </a:bodyPr>
          <a:lstStyle/>
          <a:p>
            <a:pPr algn="l" marL="0" indent="0" lvl="0">
              <a:lnSpc>
                <a:spcPts val="2100"/>
              </a:lnSpc>
            </a:pPr>
            <a:r>
              <a:rPr lang="en-US" b="true" sz="1500" spc="24">
                <a:solidFill>
                  <a:srgbClr val="000000"/>
                </a:solidFill>
                <a:latin typeface="Inter Bold"/>
                <a:ea typeface="Inter Bold"/>
                <a:cs typeface="Inter Bold"/>
                <a:sym typeface="Inter Bold"/>
              </a:rPr>
              <a:t>Pendiente de pesos: </a:t>
            </a:r>
            <a:r>
              <a:rPr lang="en-US" sz="1500" spc="24">
                <a:solidFill>
                  <a:srgbClr val="000000"/>
                </a:solidFill>
                <a:latin typeface="Inter"/>
                <a:ea typeface="Inter"/>
                <a:cs typeface="Inter"/>
                <a:sym typeface="Inter"/>
              </a:rPr>
              <a:t>Una vez creado el pedido, este queda pendiente de asignación de pesos</a:t>
            </a:r>
          </a:p>
        </p:txBody>
      </p:sp>
      <p:sp>
        <p:nvSpPr>
          <p:cNvPr name="TextBox 10" id="10"/>
          <p:cNvSpPr txBox="true"/>
          <p:nvPr/>
        </p:nvSpPr>
        <p:spPr>
          <a:xfrm rot="0">
            <a:off x="2150926" y="2640242"/>
            <a:ext cx="1797372" cy="761672"/>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000000"/>
                </a:solidFill>
                <a:latin typeface="Cy Grotesk Key Semi-Bold"/>
                <a:ea typeface="Cy Grotesk Key Semi-Bold"/>
                <a:cs typeface="Cy Grotesk Key Semi-Bold"/>
                <a:sym typeface="Cy Grotesk Key Semi-Bold"/>
              </a:rPr>
              <a:t>01.</a:t>
            </a:r>
          </a:p>
        </p:txBody>
      </p:sp>
      <p:sp>
        <p:nvSpPr>
          <p:cNvPr name="TextBox 11" id="11"/>
          <p:cNvSpPr txBox="true"/>
          <p:nvPr/>
        </p:nvSpPr>
        <p:spPr>
          <a:xfrm rot="0">
            <a:off x="12076710" y="2549590"/>
            <a:ext cx="4060363" cy="800100"/>
          </a:xfrm>
          <a:prstGeom prst="rect">
            <a:avLst/>
          </a:prstGeom>
        </p:spPr>
        <p:txBody>
          <a:bodyPr anchor="t" rtlCol="false" tIns="0" lIns="0" bIns="0" rIns="0">
            <a:spAutoFit/>
          </a:bodyPr>
          <a:lstStyle/>
          <a:p>
            <a:pPr algn="l" marL="0" indent="0" lvl="0">
              <a:lnSpc>
                <a:spcPts val="2100"/>
              </a:lnSpc>
            </a:pPr>
            <a:r>
              <a:rPr lang="en-US" b="true" sz="1500" spc="24">
                <a:solidFill>
                  <a:srgbClr val="000000"/>
                </a:solidFill>
                <a:latin typeface="Inter Bold"/>
                <a:ea typeface="Inter Bold"/>
                <a:cs typeface="Inter Bold"/>
                <a:sym typeface="Inter Bold"/>
              </a:rPr>
              <a:t>Pendiente de confirmación: </a:t>
            </a:r>
            <a:r>
              <a:rPr lang="en-US" sz="1500" spc="24">
                <a:solidFill>
                  <a:srgbClr val="000000"/>
                </a:solidFill>
                <a:latin typeface="Inter"/>
                <a:ea typeface="Inter"/>
                <a:cs typeface="Inter"/>
                <a:sym typeface="Inter"/>
              </a:rPr>
              <a:t>Una vez asignado los pesos, el pedido queda pendiente de confirmación</a:t>
            </a:r>
          </a:p>
        </p:txBody>
      </p:sp>
      <p:sp>
        <p:nvSpPr>
          <p:cNvPr name="TextBox 12" id="12"/>
          <p:cNvSpPr txBox="true"/>
          <p:nvPr/>
        </p:nvSpPr>
        <p:spPr>
          <a:xfrm rot="0">
            <a:off x="10279339" y="2640242"/>
            <a:ext cx="1797372" cy="761672"/>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000000"/>
                </a:solidFill>
                <a:latin typeface="Cy Grotesk Key Semi-Bold"/>
                <a:ea typeface="Cy Grotesk Key Semi-Bold"/>
                <a:cs typeface="Cy Grotesk Key Semi-Bold"/>
                <a:sym typeface="Cy Grotesk Key Semi-Bold"/>
              </a:rPr>
              <a:t>02.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7632" y="9124703"/>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010521" y="2554796"/>
            <a:ext cx="4974649" cy="6292112"/>
          </a:xfrm>
          <a:custGeom>
            <a:avLst/>
            <a:gdLst/>
            <a:ahLst/>
            <a:cxnLst/>
            <a:rect r="r" b="b" t="t" l="l"/>
            <a:pathLst>
              <a:path h="6292112" w="4974649">
                <a:moveTo>
                  <a:pt x="0" y="0"/>
                </a:moveTo>
                <a:lnTo>
                  <a:pt x="4974649" y="0"/>
                </a:lnTo>
                <a:lnTo>
                  <a:pt x="4974649" y="6292112"/>
                </a:lnTo>
                <a:lnTo>
                  <a:pt x="0" y="6292112"/>
                </a:lnTo>
                <a:lnTo>
                  <a:pt x="0" y="0"/>
                </a:lnTo>
                <a:close/>
              </a:path>
            </a:pathLst>
          </a:custGeom>
          <a:blipFill>
            <a:blip r:embed="rId2"/>
            <a:stretch>
              <a:fillRect l="-4797" t="-2167" r="0" b="-3543"/>
            </a:stretch>
          </a:blipFill>
        </p:spPr>
      </p:sp>
      <p:sp>
        <p:nvSpPr>
          <p:cNvPr name="Freeform 6" id="6"/>
          <p:cNvSpPr/>
          <p:nvPr/>
        </p:nvSpPr>
        <p:spPr>
          <a:xfrm flipH="false" flipV="false" rot="0">
            <a:off x="10124020" y="2554796"/>
            <a:ext cx="5627105" cy="5584838"/>
          </a:xfrm>
          <a:custGeom>
            <a:avLst/>
            <a:gdLst/>
            <a:ahLst/>
            <a:cxnLst/>
            <a:rect r="r" b="b" t="t" l="l"/>
            <a:pathLst>
              <a:path h="5584838" w="5627105">
                <a:moveTo>
                  <a:pt x="0" y="0"/>
                </a:moveTo>
                <a:lnTo>
                  <a:pt x="5627106" y="0"/>
                </a:lnTo>
                <a:lnTo>
                  <a:pt x="5627106" y="5584838"/>
                </a:lnTo>
                <a:lnTo>
                  <a:pt x="0" y="5584838"/>
                </a:lnTo>
                <a:lnTo>
                  <a:pt x="0" y="0"/>
                </a:lnTo>
                <a:close/>
              </a:path>
            </a:pathLst>
          </a:custGeom>
          <a:blipFill>
            <a:blip r:embed="rId3"/>
            <a:stretch>
              <a:fillRect l="-2997" t="-1239" r="-1907" b="0"/>
            </a:stretch>
          </a:blipFill>
        </p:spPr>
      </p:sp>
      <p:sp>
        <p:nvSpPr>
          <p:cNvPr name="TextBox 7" id="7"/>
          <p:cNvSpPr txBox="true"/>
          <p:nvPr/>
        </p:nvSpPr>
        <p:spPr>
          <a:xfrm rot="0">
            <a:off x="12279376" y="9145609"/>
            <a:ext cx="4401001" cy="450723"/>
          </a:xfrm>
          <a:prstGeom prst="rect">
            <a:avLst/>
          </a:prstGeom>
        </p:spPr>
        <p:txBody>
          <a:bodyPr anchor="t" rtlCol="false" tIns="0" lIns="0" bIns="0" rIns="0">
            <a:spAutoFit/>
          </a:bodyPr>
          <a:lstStyle/>
          <a:p>
            <a:pPr algn="r">
              <a:lnSpc>
                <a:spcPts val="3456"/>
              </a:lnSpc>
            </a:pPr>
            <a:r>
              <a:rPr lang="en-US" b="true" sz="2400">
                <a:solidFill>
                  <a:srgbClr val="EFE8DD"/>
                </a:solidFill>
                <a:latin typeface="Helvetica World Bold"/>
                <a:ea typeface="Helvetica World Bold"/>
                <a:cs typeface="Helvetica World Bold"/>
                <a:sym typeface="Helvetica World Bold"/>
              </a:rPr>
              <a:t>06</a:t>
            </a:r>
          </a:p>
        </p:txBody>
      </p:sp>
      <p:sp>
        <p:nvSpPr>
          <p:cNvPr name="TextBox 8" id="8"/>
          <p:cNvSpPr txBox="true"/>
          <p:nvPr/>
        </p:nvSpPr>
        <p:spPr>
          <a:xfrm rot="0">
            <a:off x="2909207" y="995198"/>
            <a:ext cx="4238493" cy="1066800"/>
          </a:xfrm>
          <a:prstGeom prst="rect">
            <a:avLst/>
          </a:prstGeom>
        </p:spPr>
        <p:txBody>
          <a:bodyPr anchor="t" rtlCol="false" tIns="0" lIns="0" bIns="0" rIns="0">
            <a:spAutoFit/>
          </a:bodyPr>
          <a:lstStyle/>
          <a:p>
            <a:pPr algn="l" marL="0" indent="0" lvl="0">
              <a:lnSpc>
                <a:spcPts val="2100"/>
              </a:lnSpc>
            </a:pPr>
            <a:r>
              <a:rPr lang="en-US" b="true" sz="1500" spc="24">
                <a:solidFill>
                  <a:srgbClr val="000000"/>
                </a:solidFill>
                <a:latin typeface="Inter Bold"/>
                <a:ea typeface="Inter Bold"/>
                <a:cs typeface="Inter Bold"/>
                <a:sym typeface="Inter Bold"/>
              </a:rPr>
              <a:t>Listo para facturar: </a:t>
            </a:r>
            <a:r>
              <a:rPr lang="en-US" sz="1500" spc="24">
                <a:solidFill>
                  <a:srgbClr val="000000"/>
                </a:solidFill>
                <a:latin typeface="Inter"/>
                <a:ea typeface="Inter"/>
                <a:cs typeface="Inter"/>
                <a:sym typeface="Inter"/>
              </a:rPr>
              <a:t>Una vez sea confirmado el pedido, este quedará listo para facturar y se enviará a facturación. Igualmente se podrá observar en pedidos.</a:t>
            </a:r>
          </a:p>
        </p:txBody>
      </p:sp>
      <p:sp>
        <p:nvSpPr>
          <p:cNvPr name="TextBox 9" id="9"/>
          <p:cNvSpPr txBox="true"/>
          <p:nvPr/>
        </p:nvSpPr>
        <p:spPr>
          <a:xfrm rot="0">
            <a:off x="1111835" y="1085850"/>
            <a:ext cx="1797372" cy="761672"/>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000000"/>
                </a:solidFill>
                <a:latin typeface="Cy Grotesk Key Semi-Bold"/>
                <a:ea typeface="Cy Grotesk Key Semi-Bold"/>
                <a:cs typeface="Cy Grotesk Key Semi-Bold"/>
                <a:sym typeface="Cy Grotesk Key Semi-Bold"/>
              </a:rPr>
              <a:t>03.</a:t>
            </a:r>
          </a:p>
        </p:txBody>
      </p:sp>
      <p:sp>
        <p:nvSpPr>
          <p:cNvPr name="TextBox 10" id="10"/>
          <p:cNvSpPr txBox="true"/>
          <p:nvPr/>
        </p:nvSpPr>
        <p:spPr>
          <a:xfrm rot="0">
            <a:off x="11497788" y="995198"/>
            <a:ext cx="4060363" cy="1333500"/>
          </a:xfrm>
          <a:prstGeom prst="rect">
            <a:avLst/>
          </a:prstGeom>
        </p:spPr>
        <p:txBody>
          <a:bodyPr anchor="t" rtlCol="false" tIns="0" lIns="0" bIns="0" rIns="0">
            <a:spAutoFit/>
          </a:bodyPr>
          <a:lstStyle/>
          <a:p>
            <a:pPr algn="l" marL="0" indent="0" lvl="0">
              <a:lnSpc>
                <a:spcPts val="2100"/>
              </a:lnSpc>
            </a:pPr>
            <a:r>
              <a:rPr lang="en-US" b="true" sz="1500" spc="24">
                <a:solidFill>
                  <a:srgbClr val="000000"/>
                </a:solidFill>
                <a:latin typeface="Inter Bold"/>
                <a:ea typeface="Inter Bold"/>
                <a:cs typeface="Inter Bold"/>
                <a:sym typeface="Inter Bold"/>
              </a:rPr>
              <a:t>Completado: </a:t>
            </a:r>
            <a:r>
              <a:rPr lang="en-US" sz="1500" spc="24">
                <a:solidFill>
                  <a:srgbClr val="000000"/>
                </a:solidFill>
                <a:latin typeface="Inter"/>
                <a:ea typeface="Inter"/>
                <a:cs typeface="Inter"/>
                <a:sym typeface="Inter"/>
              </a:rPr>
              <a:t>Este será el estado final de los pedidos, donde una vez que se facturen, quedarán como completados y estos serán los que darán información para los dashboards.</a:t>
            </a:r>
          </a:p>
        </p:txBody>
      </p:sp>
      <p:sp>
        <p:nvSpPr>
          <p:cNvPr name="TextBox 11" id="11"/>
          <p:cNvSpPr txBox="true"/>
          <p:nvPr/>
        </p:nvSpPr>
        <p:spPr>
          <a:xfrm rot="0">
            <a:off x="9700417" y="1085850"/>
            <a:ext cx="1797372" cy="761672"/>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000000"/>
                </a:solidFill>
                <a:latin typeface="Cy Grotesk Key Semi-Bold"/>
                <a:ea typeface="Cy Grotesk Key Semi-Bold"/>
                <a:cs typeface="Cy Grotesk Key Semi-Bold"/>
                <a:sym typeface="Cy Grotesk Key Semi-Bold"/>
              </a:rPr>
              <a:t>04.</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A03E3C"/>
        </a:solidFill>
      </p:bgPr>
    </p:bg>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FFFFFF"/>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A03E3C"/>
                </a:solidFill>
                <a:latin typeface="Helvetica World Bold"/>
                <a:ea typeface="Helvetica World Bold"/>
                <a:cs typeface="Helvetica World Bold"/>
                <a:sym typeface="Helvetica World Bold"/>
              </a:rPr>
              <a:t>07</a:t>
            </a:r>
          </a:p>
        </p:txBody>
      </p:sp>
      <p:sp>
        <p:nvSpPr>
          <p:cNvPr name="TextBox 6" id="6"/>
          <p:cNvSpPr txBox="true"/>
          <p:nvPr/>
        </p:nvSpPr>
        <p:spPr>
          <a:xfrm rot="0">
            <a:off x="2712224" y="1038225"/>
            <a:ext cx="12863552" cy="1677040"/>
          </a:xfrm>
          <a:prstGeom prst="rect">
            <a:avLst/>
          </a:prstGeom>
        </p:spPr>
        <p:txBody>
          <a:bodyPr anchor="t" rtlCol="false" tIns="0" lIns="0" bIns="0" rIns="0">
            <a:spAutoFit/>
          </a:bodyPr>
          <a:lstStyle/>
          <a:p>
            <a:pPr algn="ctr">
              <a:lnSpc>
                <a:spcPts val="6400"/>
              </a:lnSpc>
            </a:pPr>
            <a:r>
              <a:rPr lang="en-US" b="true" sz="6400" spc="-96">
                <a:solidFill>
                  <a:srgbClr val="FFFFFF"/>
                </a:solidFill>
                <a:latin typeface="Cy Grotesk Key Semi-Bold"/>
                <a:ea typeface="Cy Grotesk Key Semi-Bold"/>
                <a:cs typeface="Cy Grotesk Key Semi-Bold"/>
                <a:sym typeface="Cy Grotesk Key Semi-Bold"/>
              </a:rPr>
              <a:t>Objetivos generales y específicos</a:t>
            </a:r>
          </a:p>
        </p:txBody>
      </p:sp>
      <p:grpSp>
        <p:nvGrpSpPr>
          <p:cNvPr name="Group 7" id="7"/>
          <p:cNvGrpSpPr/>
          <p:nvPr/>
        </p:nvGrpSpPr>
        <p:grpSpPr>
          <a:xfrm rot="0">
            <a:off x="3252065" y="3133514"/>
            <a:ext cx="11783869" cy="1831856"/>
            <a:chOff x="0" y="0"/>
            <a:chExt cx="4836361" cy="751834"/>
          </a:xfrm>
        </p:grpSpPr>
        <p:sp>
          <p:nvSpPr>
            <p:cNvPr name="Freeform 8" id="8"/>
            <p:cNvSpPr/>
            <p:nvPr/>
          </p:nvSpPr>
          <p:spPr>
            <a:xfrm flipH="false" flipV="false" rot="0">
              <a:off x="0" y="0"/>
              <a:ext cx="4836361" cy="751834"/>
            </a:xfrm>
            <a:custGeom>
              <a:avLst/>
              <a:gdLst/>
              <a:ahLst/>
              <a:cxnLst/>
              <a:rect r="r" b="b" t="t" l="l"/>
              <a:pathLst>
                <a:path h="751834" w="4836361">
                  <a:moveTo>
                    <a:pt x="65699" y="0"/>
                  </a:moveTo>
                  <a:lnTo>
                    <a:pt x="4770662" y="0"/>
                  </a:lnTo>
                  <a:cubicBezTo>
                    <a:pt x="4788086" y="0"/>
                    <a:pt x="4804797" y="6922"/>
                    <a:pt x="4817118" y="19243"/>
                  </a:cubicBezTo>
                  <a:cubicBezTo>
                    <a:pt x="4829439" y="31564"/>
                    <a:pt x="4836361" y="48275"/>
                    <a:pt x="4836361" y="65699"/>
                  </a:cubicBezTo>
                  <a:lnTo>
                    <a:pt x="4836361" y="686135"/>
                  </a:lnTo>
                  <a:cubicBezTo>
                    <a:pt x="4836361" y="722420"/>
                    <a:pt x="4806947" y="751834"/>
                    <a:pt x="4770662" y="751834"/>
                  </a:cubicBezTo>
                  <a:lnTo>
                    <a:pt x="65699" y="751834"/>
                  </a:lnTo>
                  <a:cubicBezTo>
                    <a:pt x="29415" y="751834"/>
                    <a:pt x="0" y="722420"/>
                    <a:pt x="0" y="686135"/>
                  </a:cubicBezTo>
                  <a:lnTo>
                    <a:pt x="0" y="65699"/>
                  </a:lnTo>
                  <a:cubicBezTo>
                    <a:pt x="0" y="48275"/>
                    <a:pt x="6922" y="31564"/>
                    <a:pt x="19243" y="19243"/>
                  </a:cubicBezTo>
                  <a:cubicBezTo>
                    <a:pt x="31564" y="6922"/>
                    <a:pt x="48275" y="0"/>
                    <a:pt x="65699" y="0"/>
                  </a:cubicBezTo>
                  <a:close/>
                </a:path>
              </a:pathLst>
            </a:custGeom>
            <a:solidFill>
              <a:srgbClr val="FFFFFF"/>
            </a:solidFill>
          </p:spPr>
        </p:sp>
        <p:sp>
          <p:nvSpPr>
            <p:cNvPr name="TextBox 9" id="9"/>
            <p:cNvSpPr txBox="true"/>
            <p:nvPr/>
          </p:nvSpPr>
          <p:spPr>
            <a:xfrm>
              <a:off x="0" y="95250"/>
              <a:ext cx="4836361" cy="656584"/>
            </a:xfrm>
            <a:prstGeom prst="rect">
              <a:avLst/>
            </a:prstGeom>
          </p:spPr>
          <p:txBody>
            <a:bodyPr anchor="ctr" rtlCol="false" tIns="50800" lIns="50800" bIns="50800" rIns="50800"/>
            <a:lstStyle/>
            <a:p>
              <a:pPr algn="ctr">
                <a:lnSpc>
                  <a:spcPts val="1925"/>
                </a:lnSpc>
              </a:pPr>
            </a:p>
          </p:txBody>
        </p:sp>
      </p:grpSp>
      <p:sp>
        <p:nvSpPr>
          <p:cNvPr name="TextBox 10" id="10"/>
          <p:cNvSpPr txBox="true"/>
          <p:nvPr/>
        </p:nvSpPr>
        <p:spPr>
          <a:xfrm rot="0">
            <a:off x="4237320" y="3799766"/>
            <a:ext cx="9813361" cy="800100"/>
          </a:xfrm>
          <a:prstGeom prst="rect">
            <a:avLst/>
          </a:prstGeom>
        </p:spPr>
        <p:txBody>
          <a:bodyPr anchor="t" rtlCol="false" tIns="0" lIns="0" bIns="0" rIns="0">
            <a:spAutoFit/>
          </a:bodyPr>
          <a:lstStyle/>
          <a:p>
            <a:pPr algn="l" marL="0" indent="0" lvl="0">
              <a:lnSpc>
                <a:spcPts val="2100"/>
              </a:lnSpc>
            </a:pPr>
            <a:r>
              <a:rPr lang="en-US" b="true" sz="1500" spc="24">
                <a:solidFill>
                  <a:srgbClr val="A03E3C"/>
                </a:solidFill>
                <a:latin typeface="Inter Semi-Bold"/>
                <a:ea typeface="Inter Semi-Bold"/>
                <a:cs typeface="Inter Semi-Bold"/>
                <a:sym typeface="Inter Semi-Bold"/>
              </a:rPr>
              <a:t>Desarrollar un sistema digital compuesto por una aplicación móvil que permita optimizar, centralizar y automatizar los procesos de toma de pedidos, preparación y facturación en Carnes Darras, con el fin de mejorar la eficiencia operativa, reducir errores y aumentar la trazabilidad de la información.</a:t>
            </a:r>
          </a:p>
        </p:txBody>
      </p:sp>
      <p:grpSp>
        <p:nvGrpSpPr>
          <p:cNvPr name="Group 11" id="11"/>
          <p:cNvGrpSpPr/>
          <p:nvPr/>
        </p:nvGrpSpPr>
        <p:grpSpPr>
          <a:xfrm rot="0">
            <a:off x="3252065" y="5074603"/>
            <a:ext cx="11783869" cy="3823689"/>
            <a:chOff x="0" y="0"/>
            <a:chExt cx="4836361" cy="1569327"/>
          </a:xfrm>
        </p:grpSpPr>
        <p:sp>
          <p:nvSpPr>
            <p:cNvPr name="Freeform 12" id="12"/>
            <p:cNvSpPr/>
            <p:nvPr/>
          </p:nvSpPr>
          <p:spPr>
            <a:xfrm flipH="false" flipV="false" rot="0">
              <a:off x="0" y="0"/>
              <a:ext cx="4836361" cy="1569327"/>
            </a:xfrm>
            <a:custGeom>
              <a:avLst/>
              <a:gdLst/>
              <a:ahLst/>
              <a:cxnLst/>
              <a:rect r="r" b="b" t="t" l="l"/>
              <a:pathLst>
                <a:path h="1569327" w="4836361">
                  <a:moveTo>
                    <a:pt x="65699" y="0"/>
                  </a:moveTo>
                  <a:lnTo>
                    <a:pt x="4770662" y="0"/>
                  </a:lnTo>
                  <a:cubicBezTo>
                    <a:pt x="4788086" y="0"/>
                    <a:pt x="4804797" y="6922"/>
                    <a:pt x="4817118" y="19243"/>
                  </a:cubicBezTo>
                  <a:cubicBezTo>
                    <a:pt x="4829439" y="31564"/>
                    <a:pt x="4836361" y="48275"/>
                    <a:pt x="4836361" y="65699"/>
                  </a:cubicBezTo>
                  <a:lnTo>
                    <a:pt x="4836361" y="1503628"/>
                  </a:lnTo>
                  <a:cubicBezTo>
                    <a:pt x="4836361" y="1539912"/>
                    <a:pt x="4806947" y="1569327"/>
                    <a:pt x="4770662" y="1569327"/>
                  </a:cubicBezTo>
                  <a:lnTo>
                    <a:pt x="65699" y="1569327"/>
                  </a:lnTo>
                  <a:cubicBezTo>
                    <a:pt x="48275" y="1569327"/>
                    <a:pt x="31564" y="1562405"/>
                    <a:pt x="19243" y="1550084"/>
                  </a:cubicBezTo>
                  <a:cubicBezTo>
                    <a:pt x="6922" y="1537763"/>
                    <a:pt x="0" y="1521052"/>
                    <a:pt x="0" y="1503628"/>
                  </a:cubicBezTo>
                  <a:lnTo>
                    <a:pt x="0" y="65699"/>
                  </a:lnTo>
                  <a:cubicBezTo>
                    <a:pt x="0" y="48275"/>
                    <a:pt x="6922" y="31564"/>
                    <a:pt x="19243" y="19243"/>
                  </a:cubicBezTo>
                  <a:cubicBezTo>
                    <a:pt x="31564" y="6922"/>
                    <a:pt x="48275" y="0"/>
                    <a:pt x="65699" y="0"/>
                  </a:cubicBezTo>
                  <a:close/>
                </a:path>
              </a:pathLst>
            </a:custGeom>
            <a:solidFill>
              <a:srgbClr val="FFFFFF"/>
            </a:solidFill>
          </p:spPr>
        </p:sp>
        <p:sp>
          <p:nvSpPr>
            <p:cNvPr name="TextBox 13" id="13"/>
            <p:cNvSpPr txBox="true"/>
            <p:nvPr/>
          </p:nvSpPr>
          <p:spPr>
            <a:xfrm>
              <a:off x="0" y="95250"/>
              <a:ext cx="4836361" cy="1474077"/>
            </a:xfrm>
            <a:prstGeom prst="rect">
              <a:avLst/>
            </a:prstGeom>
          </p:spPr>
          <p:txBody>
            <a:bodyPr anchor="ctr" rtlCol="false" tIns="50800" lIns="50800" bIns="50800" rIns="50800"/>
            <a:lstStyle/>
            <a:p>
              <a:pPr algn="ctr">
                <a:lnSpc>
                  <a:spcPts val="1925"/>
                </a:lnSpc>
              </a:pPr>
            </a:p>
          </p:txBody>
        </p:sp>
      </p:grpSp>
      <p:sp>
        <p:nvSpPr>
          <p:cNvPr name="TextBox 14" id="14"/>
          <p:cNvSpPr txBox="true"/>
          <p:nvPr/>
        </p:nvSpPr>
        <p:spPr>
          <a:xfrm rot="0">
            <a:off x="4979527" y="3187981"/>
            <a:ext cx="8328945" cy="457836"/>
          </a:xfrm>
          <a:prstGeom prst="rect">
            <a:avLst/>
          </a:prstGeom>
        </p:spPr>
        <p:txBody>
          <a:bodyPr anchor="t" rtlCol="false" tIns="0" lIns="0" bIns="0" rIns="0">
            <a:spAutoFit/>
          </a:bodyPr>
          <a:lstStyle/>
          <a:p>
            <a:pPr algn="ctr" marL="0" indent="0" lvl="0">
              <a:lnSpc>
                <a:spcPts val="3639"/>
              </a:lnSpc>
            </a:pPr>
            <a:r>
              <a:rPr lang="en-US" b="true" sz="2599" spc="41">
                <a:solidFill>
                  <a:srgbClr val="A03E3C"/>
                </a:solidFill>
                <a:latin typeface="Inter Semi-Bold"/>
                <a:ea typeface="Inter Semi-Bold"/>
                <a:cs typeface="Inter Semi-Bold"/>
                <a:sym typeface="Inter Semi-Bold"/>
              </a:rPr>
              <a:t>Objetivos Generales</a:t>
            </a:r>
          </a:p>
        </p:txBody>
      </p:sp>
      <p:sp>
        <p:nvSpPr>
          <p:cNvPr name="TextBox 15" id="15"/>
          <p:cNvSpPr txBox="true"/>
          <p:nvPr/>
        </p:nvSpPr>
        <p:spPr>
          <a:xfrm rot="0">
            <a:off x="4237320" y="5715434"/>
            <a:ext cx="9813361" cy="3200400"/>
          </a:xfrm>
          <a:prstGeom prst="rect">
            <a:avLst/>
          </a:prstGeom>
        </p:spPr>
        <p:txBody>
          <a:bodyPr anchor="t" rtlCol="false" tIns="0" lIns="0" bIns="0" rIns="0">
            <a:spAutoFit/>
          </a:bodyPr>
          <a:lstStyle/>
          <a:p>
            <a:pPr algn="l">
              <a:lnSpc>
                <a:spcPts val="2100"/>
              </a:lnSpc>
            </a:pPr>
            <a:r>
              <a:rPr lang="en-US" sz="1500" spc="24" b="true">
                <a:solidFill>
                  <a:srgbClr val="A03E3C"/>
                </a:solidFill>
                <a:latin typeface="Inter Semi-Bold"/>
                <a:ea typeface="Inter Semi-Bold"/>
                <a:cs typeface="Inter Semi-Bold"/>
                <a:sym typeface="Inter Semi-Bold"/>
              </a:rPr>
              <a:t>1. </a:t>
            </a:r>
            <a:r>
              <a:rPr lang="en-US" b="true" sz="1500" spc="24">
                <a:solidFill>
                  <a:srgbClr val="A03E3C"/>
                </a:solidFill>
                <a:latin typeface="Inter Semi-Bold"/>
                <a:ea typeface="Inter Semi-Bold"/>
                <a:cs typeface="Inter Semi-Bold"/>
                <a:sym typeface="Inter Semi-Bold"/>
              </a:rPr>
              <a:t>Digitalizar la toma de pedidos: crear una app móvil que permita registrar pedidos de manera simple, rápida y accesible.</a:t>
            </a:r>
          </a:p>
          <a:p>
            <a:pPr algn="l">
              <a:lnSpc>
                <a:spcPts val="2100"/>
              </a:lnSpc>
            </a:pPr>
            <a:r>
              <a:rPr lang="en-US" b="true" sz="1500" spc="24">
                <a:solidFill>
                  <a:srgbClr val="A03E3C"/>
                </a:solidFill>
                <a:latin typeface="Inter Semi-Bold"/>
                <a:ea typeface="Inter Semi-Bold"/>
                <a:cs typeface="Inter Semi-Bold"/>
                <a:sym typeface="Inter Semi-Bold"/>
              </a:rPr>
              <a:t>2. Centralizar la información operativa: Implementar una base de datos y un sistema que almacene todos los pedidos, ventas y estados del flujo en un solo lugar, accesible por todos los usuarios permitidos.</a:t>
            </a:r>
          </a:p>
          <a:p>
            <a:pPr algn="l">
              <a:lnSpc>
                <a:spcPts val="2100"/>
              </a:lnSpc>
            </a:pPr>
            <a:r>
              <a:rPr lang="en-US" b="true" sz="1500" spc="24">
                <a:solidFill>
                  <a:srgbClr val="A03E3C"/>
                </a:solidFill>
                <a:latin typeface="Inter Semi-Bold"/>
                <a:ea typeface="Inter Semi-Bold"/>
                <a:cs typeface="Inter Semi-Bold"/>
                <a:sym typeface="Inter Semi-Bold"/>
              </a:rPr>
              <a:t>3. Automatizar la facturación</a:t>
            </a:r>
          </a:p>
          <a:p>
            <a:pPr algn="l">
              <a:lnSpc>
                <a:spcPts val="2100"/>
              </a:lnSpc>
            </a:pPr>
            <a:r>
              <a:rPr lang="en-US" b="true" sz="1500" spc="24">
                <a:solidFill>
                  <a:srgbClr val="A03E3C"/>
                </a:solidFill>
                <a:latin typeface="Inter Semi-Bold"/>
                <a:ea typeface="Inter Semi-Bold"/>
                <a:cs typeface="Inter Semi-Bold"/>
                <a:sym typeface="Inter Semi-Bold"/>
              </a:rPr>
              <a:t>4. Mejorar la trazabilidad del proceso: Registrar el estado de cada pedido (Pendiente de pesos, pendiente de confirmación, listo para facturar, completado),</a:t>
            </a:r>
          </a:p>
          <a:p>
            <a:pPr algn="l">
              <a:lnSpc>
                <a:spcPts val="2100"/>
              </a:lnSpc>
            </a:pPr>
            <a:r>
              <a:rPr lang="en-US" b="true" sz="1500" spc="24">
                <a:solidFill>
                  <a:srgbClr val="A03E3C"/>
                </a:solidFill>
                <a:latin typeface="Inter Semi-Bold"/>
                <a:ea typeface="Inter Semi-Bold"/>
                <a:cs typeface="Inter Semi-Bold"/>
                <a:sym typeface="Inter Semi-Bold"/>
              </a:rPr>
              <a:t>5. Reducir los tiempos operativos</a:t>
            </a:r>
          </a:p>
          <a:p>
            <a:pPr algn="l">
              <a:lnSpc>
                <a:spcPts val="2100"/>
              </a:lnSpc>
            </a:pPr>
            <a:r>
              <a:rPr lang="en-US" b="true" sz="1500" spc="24">
                <a:solidFill>
                  <a:srgbClr val="A03E3C"/>
                </a:solidFill>
                <a:latin typeface="Inter Semi-Bold"/>
                <a:ea typeface="Inter Semi-Bold"/>
                <a:cs typeface="Inter Semi-Bold"/>
                <a:sym typeface="Inter Semi-Bold"/>
              </a:rPr>
              <a:t>6. Generar reportes administrativos automatizados: Proporcionar informes diarios y estadísticas sobre ventas, productos más solicitados y comportamiento de clientes para apoyar la toma de decisiones.</a:t>
            </a:r>
          </a:p>
          <a:p>
            <a:pPr algn="l" marL="0" indent="0" lvl="0">
              <a:lnSpc>
                <a:spcPts val="2100"/>
              </a:lnSpc>
            </a:pPr>
          </a:p>
        </p:txBody>
      </p:sp>
      <p:sp>
        <p:nvSpPr>
          <p:cNvPr name="TextBox 16" id="16"/>
          <p:cNvSpPr txBox="true"/>
          <p:nvPr/>
        </p:nvSpPr>
        <p:spPr>
          <a:xfrm rot="0">
            <a:off x="4979527" y="5105198"/>
            <a:ext cx="8328945" cy="457836"/>
          </a:xfrm>
          <a:prstGeom prst="rect">
            <a:avLst/>
          </a:prstGeom>
        </p:spPr>
        <p:txBody>
          <a:bodyPr anchor="t" rtlCol="false" tIns="0" lIns="0" bIns="0" rIns="0">
            <a:spAutoFit/>
          </a:bodyPr>
          <a:lstStyle/>
          <a:p>
            <a:pPr algn="ctr" marL="0" indent="0" lvl="0">
              <a:lnSpc>
                <a:spcPts val="3639"/>
              </a:lnSpc>
            </a:pPr>
            <a:r>
              <a:rPr lang="en-US" b="true" sz="2599" spc="41">
                <a:solidFill>
                  <a:srgbClr val="A03E3C"/>
                </a:solidFill>
                <a:latin typeface="Inter Semi-Bold"/>
                <a:ea typeface="Inter Semi-Bold"/>
                <a:cs typeface="Inter Semi-Bold"/>
                <a:sym typeface="Inter Semi-Bold"/>
              </a:rPr>
              <a:t>Objetivos Específicos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pic>
        <p:nvPicPr>
          <p:cNvPr name="Picture 5" id="5"/>
          <p:cNvPicPr>
            <a:picLocks noChangeAspect="true"/>
          </p:cNvPicPr>
          <p:nvPr/>
        </p:nvPicPr>
        <p:blipFill>
          <a:blip r:embed="rId2"/>
          <a:srcRect l="0" t="0" r="0" b="0"/>
          <a:stretch>
            <a:fillRect/>
          </a:stretch>
        </p:blipFill>
        <p:spPr>
          <a:xfrm flipH="false" flipV="false" rot="0">
            <a:off x="12858299" y="3086100"/>
            <a:ext cx="4114800" cy="4114800"/>
          </a:xfrm>
          <a:prstGeom prst="rect">
            <a:avLst/>
          </a:prstGeom>
        </p:spPr>
      </p:pic>
      <p:sp>
        <p:nvSpPr>
          <p:cNvPr name="TextBox 6" id="6"/>
          <p:cNvSpPr txBox="true"/>
          <p:nvPr/>
        </p:nvSpPr>
        <p:spPr>
          <a:xfrm rot="0">
            <a:off x="1028700" y="1133475"/>
            <a:ext cx="9369615" cy="867415"/>
          </a:xfrm>
          <a:prstGeom prst="rect">
            <a:avLst/>
          </a:prstGeom>
        </p:spPr>
        <p:txBody>
          <a:bodyPr anchor="t" rtlCol="false" tIns="0" lIns="0" bIns="0" rIns="0">
            <a:spAutoFit/>
          </a:bodyPr>
          <a:lstStyle/>
          <a:p>
            <a:pPr algn="l">
              <a:lnSpc>
                <a:spcPts val="6400"/>
              </a:lnSpc>
            </a:pPr>
            <a:r>
              <a:rPr lang="en-US" sz="6400" spc="-96" b="true">
                <a:solidFill>
                  <a:srgbClr val="202020"/>
                </a:solidFill>
                <a:latin typeface="Cy Grotesk Key Semi-Bold"/>
                <a:ea typeface="Cy Grotesk Key Semi-Bold"/>
                <a:cs typeface="Cy Grotesk Key Semi-Bold"/>
                <a:sym typeface="Cy Grotesk Key Semi-Bold"/>
              </a:rPr>
              <a:t>Metodología SCRUM</a:t>
            </a:r>
          </a:p>
        </p:txBody>
      </p:sp>
      <p:sp>
        <p:nvSpPr>
          <p:cNvPr name="TextBox 7" id="7"/>
          <p:cNvSpPr txBox="true"/>
          <p:nvPr/>
        </p:nvSpPr>
        <p:spPr>
          <a:xfrm rot="0">
            <a:off x="1028700" y="2305284"/>
            <a:ext cx="10814052" cy="6139814"/>
          </a:xfrm>
          <a:prstGeom prst="rect">
            <a:avLst/>
          </a:prstGeom>
        </p:spPr>
        <p:txBody>
          <a:bodyPr anchor="t" rtlCol="false" tIns="0" lIns="0" bIns="0" rIns="0">
            <a:spAutoFit/>
          </a:bodyPr>
          <a:lstStyle/>
          <a:p>
            <a:pPr algn="l">
              <a:lnSpc>
                <a:spcPts val="2880"/>
              </a:lnSpc>
            </a:pPr>
            <a:r>
              <a:rPr lang="en-US" sz="2000">
                <a:solidFill>
                  <a:srgbClr val="202020"/>
                </a:solidFill>
                <a:latin typeface="Inter"/>
                <a:ea typeface="Inter"/>
                <a:cs typeface="Inter"/>
                <a:sym typeface="Inter"/>
              </a:rPr>
              <a:t>Abordaremos el problema utilizando la metodología ágil SCRUM, ya que, en el contexto de nuestro proyecto es mucho más efectivo incluir al cliente constantemente en el desarrollo, al ser mayormente personas adultas no tan arraigadas a la tecnología, por lo que el rechazo al cambio es muy alto.</a:t>
            </a:r>
          </a:p>
          <a:p>
            <a:pPr algn="l">
              <a:lnSpc>
                <a:spcPts val="2880"/>
              </a:lnSpc>
            </a:pPr>
          </a:p>
          <a:p>
            <a:pPr algn="l">
              <a:lnSpc>
                <a:spcPts val="2880"/>
              </a:lnSpc>
            </a:pPr>
            <a:r>
              <a:rPr lang="en-US" sz="2000">
                <a:solidFill>
                  <a:srgbClr val="202020"/>
                </a:solidFill>
                <a:latin typeface="Inter"/>
                <a:ea typeface="Inter"/>
                <a:cs typeface="Inter"/>
                <a:sym typeface="Inter"/>
              </a:rPr>
              <a:t>El proyecto abarcará </a:t>
            </a:r>
            <a:r>
              <a:rPr lang="en-US" sz="2000" b="true">
                <a:solidFill>
                  <a:srgbClr val="202020"/>
                </a:solidFill>
                <a:latin typeface="Inter Bold"/>
                <a:ea typeface="Inter Bold"/>
                <a:cs typeface="Inter Bold"/>
                <a:sym typeface="Inter Bold"/>
              </a:rPr>
              <a:t>4 Sprints</a:t>
            </a:r>
            <a:r>
              <a:rPr lang="en-US" sz="2000">
                <a:solidFill>
                  <a:srgbClr val="202020"/>
                </a:solidFill>
                <a:latin typeface="Inter"/>
                <a:ea typeface="Inter"/>
                <a:cs typeface="Inter"/>
                <a:sym typeface="Inter"/>
              </a:rPr>
              <a:t> diferenciados, siendo estos:</a:t>
            </a:r>
          </a:p>
          <a:p>
            <a:pPr algn="l" marL="431804" indent="-215902" lvl="1">
              <a:lnSpc>
                <a:spcPts val="2880"/>
              </a:lnSpc>
              <a:buFont typeface="Arial"/>
              <a:buChar char="•"/>
            </a:pPr>
            <a:r>
              <a:rPr lang="en-US" b="true" sz="2000">
                <a:solidFill>
                  <a:srgbClr val="202020"/>
                </a:solidFill>
                <a:latin typeface="Inter Bold"/>
                <a:ea typeface="Inter Bold"/>
                <a:cs typeface="Inter Bold"/>
                <a:sym typeface="Inter Bold"/>
              </a:rPr>
              <a:t>Sprint 1: </a:t>
            </a:r>
            <a:r>
              <a:rPr lang="en-US" sz="2000">
                <a:solidFill>
                  <a:srgbClr val="202020"/>
                </a:solidFill>
                <a:latin typeface="Inter"/>
                <a:ea typeface="Inter"/>
                <a:cs typeface="Inter"/>
                <a:sym typeface="Inter"/>
              </a:rPr>
              <a:t>Autenticación y base del sistema. Se enfoca en implementar la infraestructura inicial del sistema y toda la lógica necesaria para el acceso seguro de los usuarios.</a:t>
            </a:r>
          </a:p>
          <a:p>
            <a:pPr algn="l" marL="431804" indent="-215902" lvl="1">
              <a:lnSpc>
                <a:spcPts val="2880"/>
              </a:lnSpc>
              <a:buFont typeface="Arial"/>
              <a:buChar char="•"/>
            </a:pPr>
            <a:r>
              <a:rPr lang="en-US" b="true" sz="2000">
                <a:solidFill>
                  <a:srgbClr val="202020"/>
                </a:solidFill>
                <a:latin typeface="Inter Bold"/>
                <a:ea typeface="Inter Bold"/>
                <a:cs typeface="Inter Bold"/>
                <a:sym typeface="Inter Bold"/>
              </a:rPr>
              <a:t>Sprint 2: </a:t>
            </a:r>
            <a:r>
              <a:rPr lang="en-US" sz="2000">
                <a:solidFill>
                  <a:srgbClr val="202020"/>
                </a:solidFill>
                <a:latin typeface="Inter"/>
                <a:ea typeface="Inter"/>
                <a:cs typeface="Inter"/>
                <a:sym typeface="Inter"/>
              </a:rPr>
              <a:t>Gestión de pedidos. Desarrolló la funcionalidad central de la aplicación: la creación, edición y administración de pedidos.</a:t>
            </a:r>
          </a:p>
          <a:p>
            <a:pPr algn="l" marL="431804" indent="-215902" lvl="1">
              <a:lnSpc>
                <a:spcPts val="2880"/>
              </a:lnSpc>
              <a:buFont typeface="Arial"/>
              <a:buChar char="•"/>
            </a:pPr>
            <a:r>
              <a:rPr lang="en-US" b="true" sz="2000">
                <a:solidFill>
                  <a:srgbClr val="202020"/>
                </a:solidFill>
                <a:latin typeface="Inter Bold"/>
                <a:ea typeface="Inter Bold"/>
                <a:cs typeface="Inter Bold"/>
                <a:sym typeface="Inter Bold"/>
              </a:rPr>
              <a:t>Sprint 3:  </a:t>
            </a:r>
            <a:r>
              <a:rPr lang="en-US" sz="2000">
                <a:solidFill>
                  <a:srgbClr val="202020"/>
                </a:solidFill>
                <a:latin typeface="Inter"/>
                <a:ea typeface="Inter"/>
                <a:cs typeface="Inter"/>
                <a:sym typeface="Inter"/>
              </a:rPr>
              <a:t>Facturación. Se centró en automatizar el proceso de facturación y vincularlo con los pedidos registrados.</a:t>
            </a:r>
          </a:p>
          <a:p>
            <a:pPr algn="l" marL="431804" indent="-215902" lvl="1">
              <a:lnSpc>
                <a:spcPts val="2880"/>
              </a:lnSpc>
              <a:buFont typeface="Arial"/>
              <a:buChar char="•"/>
            </a:pPr>
            <a:r>
              <a:rPr lang="en-US" b="true" sz="2000">
                <a:solidFill>
                  <a:srgbClr val="202020"/>
                </a:solidFill>
                <a:latin typeface="Inter Bold"/>
                <a:ea typeface="Inter Bold"/>
                <a:cs typeface="Inter Bold"/>
                <a:sym typeface="Inter Bold"/>
              </a:rPr>
              <a:t>Sprint 4:</a:t>
            </a:r>
            <a:r>
              <a:rPr lang="en-US" sz="2000">
                <a:solidFill>
                  <a:srgbClr val="202020"/>
                </a:solidFill>
                <a:latin typeface="Inter"/>
                <a:ea typeface="Inter"/>
                <a:cs typeface="Inter"/>
                <a:sym typeface="Inter"/>
              </a:rPr>
              <a:t> Dashboards y reportes. Integró funciones de análisis e información operativa, necesarias para optimizar la toma de decisiones de la empresa.</a:t>
            </a:r>
          </a:p>
          <a:p>
            <a:pPr algn="l">
              <a:lnSpc>
                <a:spcPts val="2880"/>
              </a:lnSpc>
            </a:pPr>
          </a:p>
          <a:p>
            <a:pPr algn="l">
              <a:lnSpc>
                <a:spcPts val="2880"/>
              </a:lnSpc>
            </a:pPr>
          </a:p>
        </p:txBody>
      </p:sp>
      <p:sp>
        <p:nvSpPr>
          <p:cNvPr name="TextBox 8" id="8"/>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EFE8DD"/>
                </a:solidFill>
                <a:latin typeface="Helvetica World Bold"/>
                <a:ea typeface="Helvetica World Bold"/>
                <a:cs typeface="Helvetica World Bold"/>
                <a:sym typeface="Helvetica World Bold"/>
              </a:rPr>
              <a:t>08</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8481700" y="4668899"/>
          <a:ext cx="1324599" cy="949203"/>
        </p:xfrm>
        <a:graphic>
          <a:graphicData uri="http://schemas.openxmlformats.org/presentationml/2006/ole">
            <p:oleObj imgW="1574800" imgH="1206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3" id="3"/>
          <p:cNvGraphicFramePr/>
          <p:nvPr/>
        </p:nvGraphicFramePr>
        <p:xfrm>
          <a:off x="0" y="1283097"/>
          <a:ext cx="18288000" cy="9003903"/>
        </p:xfrm>
        <a:graphic>
          <a:graphicData uri="http://schemas.openxmlformats.org/presentationml/2006/ole">
            <p:oleObj imgW="21945600" imgH="12649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4" id="4"/>
          <p:cNvSpPr txBox="true"/>
          <p:nvPr/>
        </p:nvSpPr>
        <p:spPr>
          <a:xfrm rot="0">
            <a:off x="12858299" y="494980"/>
            <a:ext cx="4401001" cy="450723"/>
          </a:xfrm>
          <a:prstGeom prst="rect">
            <a:avLst/>
          </a:prstGeom>
        </p:spPr>
        <p:txBody>
          <a:bodyPr anchor="t" rtlCol="false" tIns="0" lIns="0" bIns="0" rIns="0">
            <a:spAutoFit/>
          </a:bodyPr>
          <a:lstStyle/>
          <a:p>
            <a:pPr algn="r">
              <a:lnSpc>
                <a:spcPts val="3456"/>
              </a:lnSpc>
            </a:pPr>
            <a:r>
              <a:rPr lang="en-US" b="true" sz="2400">
                <a:solidFill>
                  <a:srgbClr val="3A3A3A"/>
                </a:solidFill>
                <a:latin typeface="Helvetica World Bold"/>
                <a:ea typeface="Helvetica World Bold"/>
                <a:cs typeface="Helvetica World Bold"/>
                <a:sym typeface="Helvetica World Bold"/>
              </a:rPr>
              <a:t>09</a:t>
            </a:r>
          </a:p>
        </p:txBody>
      </p:sp>
      <p:sp>
        <p:nvSpPr>
          <p:cNvPr name="TextBox 5" id="5"/>
          <p:cNvSpPr txBox="true"/>
          <p:nvPr/>
        </p:nvSpPr>
        <p:spPr>
          <a:xfrm rot="0">
            <a:off x="4459193" y="161285"/>
            <a:ext cx="9369615" cy="867415"/>
          </a:xfrm>
          <a:prstGeom prst="rect">
            <a:avLst/>
          </a:prstGeom>
        </p:spPr>
        <p:txBody>
          <a:bodyPr anchor="t" rtlCol="false" tIns="0" lIns="0" bIns="0" rIns="0">
            <a:spAutoFit/>
          </a:bodyPr>
          <a:lstStyle/>
          <a:p>
            <a:pPr algn="ctr">
              <a:lnSpc>
                <a:spcPts val="6400"/>
              </a:lnSpc>
            </a:pPr>
            <a:r>
              <a:rPr lang="en-US" b="true" sz="6400" spc="-96">
                <a:solidFill>
                  <a:srgbClr val="202020"/>
                </a:solidFill>
                <a:latin typeface="Cy Grotesk Key Semi-Bold"/>
                <a:ea typeface="Cy Grotesk Key Semi-Bold"/>
                <a:cs typeface="Cy Grotesk Key Semi-Bold"/>
                <a:sym typeface="Cy Grotesk Key Semi-Bold"/>
              </a:rPr>
              <a:t>Cronograma</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FFFFFF"/>
                </a:solidFill>
                <a:latin typeface="Helvetica World Bold"/>
                <a:ea typeface="Helvetica World Bold"/>
                <a:cs typeface="Helvetica World Bold"/>
                <a:sym typeface="Helvetica World Bold"/>
              </a:rPr>
              <a:t>10</a:t>
            </a:r>
          </a:p>
        </p:txBody>
      </p:sp>
      <p:sp>
        <p:nvSpPr>
          <p:cNvPr name="TextBox 6" id="6"/>
          <p:cNvSpPr txBox="true"/>
          <p:nvPr/>
        </p:nvSpPr>
        <p:spPr>
          <a:xfrm rot="0">
            <a:off x="3480736" y="1505825"/>
            <a:ext cx="11326529" cy="867415"/>
          </a:xfrm>
          <a:prstGeom prst="rect">
            <a:avLst/>
          </a:prstGeom>
        </p:spPr>
        <p:txBody>
          <a:bodyPr anchor="t" rtlCol="false" tIns="0" lIns="0" bIns="0" rIns="0">
            <a:spAutoFit/>
          </a:bodyPr>
          <a:lstStyle/>
          <a:p>
            <a:pPr algn="ctr">
              <a:lnSpc>
                <a:spcPts val="6400"/>
              </a:lnSpc>
            </a:pPr>
            <a:r>
              <a:rPr lang="en-US" b="true" sz="6400" spc="-96">
                <a:solidFill>
                  <a:srgbClr val="202020"/>
                </a:solidFill>
                <a:latin typeface="Cy Grotesk Key Semi-Bold"/>
                <a:ea typeface="Cy Grotesk Key Semi-Bold"/>
                <a:cs typeface="Cy Grotesk Key Semi-Bold"/>
                <a:sym typeface="Cy Grotesk Key Semi-Bold"/>
              </a:rPr>
              <a:t>Arquitectura</a:t>
            </a:r>
          </a:p>
        </p:txBody>
      </p:sp>
      <p:grpSp>
        <p:nvGrpSpPr>
          <p:cNvPr name="Group 7" id="7"/>
          <p:cNvGrpSpPr/>
          <p:nvPr/>
        </p:nvGrpSpPr>
        <p:grpSpPr>
          <a:xfrm rot="0">
            <a:off x="6576843" y="3046282"/>
            <a:ext cx="5133492" cy="4939136"/>
            <a:chOff x="0" y="0"/>
            <a:chExt cx="1864975" cy="1794366"/>
          </a:xfrm>
        </p:grpSpPr>
        <p:sp>
          <p:nvSpPr>
            <p:cNvPr name="Freeform 8" id="8"/>
            <p:cNvSpPr/>
            <p:nvPr/>
          </p:nvSpPr>
          <p:spPr>
            <a:xfrm flipH="false" flipV="false" rot="0">
              <a:off x="0" y="0"/>
              <a:ext cx="1864975" cy="1794366"/>
            </a:xfrm>
            <a:custGeom>
              <a:avLst/>
              <a:gdLst/>
              <a:ahLst/>
              <a:cxnLst/>
              <a:rect r="r" b="b" t="t" l="l"/>
              <a:pathLst>
                <a:path h="1794366" w="1864975">
                  <a:moveTo>
                    <a:pt x="108585" y="0"/>
                  </a:moveTo>
                  <a:lnTo>
                    <a:pt x="1756390" y="0"/>
                  </a:lnTo>
                  <a:cubicBezTo>
                    <a:pt x="1816360" y="0"/>
                    <a:pt x="1864975" y="48615"/>
                    <a:pt x="1864975" y="108585"/>
                  </a:cubicBezTo>
                  <a:lnTo>
                    <a:pt x="1864975" y="1685781"/>
                  </a:lnTo>
                  <a:cubicBezTo>
                    <a:pt x="1864975" y="1745751"/>
                    <a:pt x="1816360" y="1794366"/>
                    <a:pt x="1756390" y="1794366"/>
                  </a:cubicBezTo>
                  <a:lnTo>
                    <a:pt x="108585" y="1794366"/>
                  </a:lnTo>
                  <a:cubicBezTo>
                    <a:pt x="48615" y="1794366"/>
                    <a:pt x="0" y="1745751"/>
                    <a:pt x="0" y="1685781"/>
                  </a:cubicBezTo>
                  <a:lnTo>
                    <a:pt x="0" y="108585"/>
                  </a:lnTo>
                  <a:cubicBezTo>
                    <a:pt x="0" y="48615"/>
                    <a:pt x="48615" y="0"/>
                    <a:pt x="108585" y="0"/>
                  </a:cubicBezTo>
                  <a:close/>
                </a:path>
              </a:pathLst>
            </a:custGeom>
            <a:solidFill>
              <a:srgbClr val="A03E3C"/>
            </a:solidFill>
          </p:spPr>
        </p:sp>
        <p:sp>
          <p:nvSpPr>
            <p:cNvPr name="TextBox 9" id="9"/>
            <p:cNvSpPr txBox="true"/>
            <p:nvPr/>
          </p:nvSpPr>
          <p:spPr>
            <a:xfrm>
              <a:off x="0" y="95250"/>
              <a:ext cx="1864975" cy="1699116"/>
            </a:xfrm>
            <a:prstGeom prst="rect">
              <a:avLst/>
            </a:prstGeom>
          </p:spPr>
          <p:txBody>
            <a:bodyPr anchor="ctr" rtlCol="false" tIns="50800" lIns="50800" bIns="50800" rIns="50800"/>
            <a:lstStyle/>
            <a:p>
              <a:pPr algn="ctr">
                <a:lnSpc>
                  <a:spcPts val="1925"/>
                </a:lnSpc>
              </a:pPr>
            </a:p>
          </p:txBody>
        </p:sp>
      </p:grpSp>
      <p:sp>
        <p:nvSpPr>
          <p:cNvPr name="TextBox 10" id="10"/>
          <p:cNvSpPr txBox="true"/>
          <p:nvPr/>
        </p:nvSpPr>
        <p:spPr>
          <a:xfrm rot="0">
            <a:off x="7197816" y="5138830"/>
            <a:ext cx="3891545" cy="2357120"/>
          </a:xfrm>
          <a:prstGeom prst="rect">
            <a:avLst/>
          </a:prstGeom>
        </p:spPr>
        <p:txBody>
          <a:bodyPr anchor="t" rtlCol="false" tIns="0" lIns="0" bIns="0" rIns="0">
            <a:spAutoFit/>
          </a:bodyPr>
          <a:lstStyle/>
          <a:p>
            <a:pPr algn="ctr">
              <a:lnSpc>
                <a:spcPts val="2380"/>
              </a:lnSpc>
            </a:pPr>
            <a:r>
              <a:rPr lang="en-US" b="true" sz="1700" spc="27">
                <a:solidFill>
                  <a:srgbClr val="EFE8DD"/>
                </a:solidFill>
                <a:latin typeface="Inter Bold"/>
                <a:ea typeface="Inter Bold"/>
                <a:cs typeface="Inter Bold"/>
                <a:sym typeface="Inter Bold"/>
              </a:rPr>
              <a:t>API REST</a:t>
            </a:r>
            <a:r>
              <a:rPr lang="en-US" sz="1700" spc="27">
                <a:solidFill>
                  <a:srgbClr val="EFE8DD"/>
                </a:solidFill>
                <a:latin typeface="Inter"/>
                <a:ea typeface="Inter"/>
                <a:cs typeface="Inter"/>
                <a:sym typeface="Inter"/>
              </a:rPr>
              <a:t> construida en</a:t>
            </a:r>
            <a:r>
              <a:rPr lang="en-US" b="true" sz="1700" spc="27">
                <a:solidFill>
                  <a:srgbClr val="EFE8DD"/>
                </a:solidFill>
                <a:latin typeface="Inter Bold"/>
                <a:ea typeface="Inter Bold"/>
                <a:cs typeface="Inter Bold"/>
                <a:sym typeface="Inter Bold"/>
              </a:rPr>
              <a:t> Django REST Framework</a:t>
            </a:r>
            <a:r>
              <a:rPr lang="en-US" sz="1700" spc="27">
                <a:solidFill>
                  <a:srgbClr val="EFE8DD"/>
                </a:solidFill>
                <a:latin typeface="Inter"/>
                <a:ea typeface="Inter"/>
                <a:cs typeface="Inter"/>
                <a:sym typeface="Inter"/>
              </a:rPr>
              <a:t> que gestiona pedidos, preparación, facturación y reportes.</a:t>
            </a:r>
          </a:p>
          <a:p>
            <a:pPr algn="ctr" marL="0" indent="0" lvl="0">
              <a:lnSpc>
                <a:spcPts val="2380"/>
              </a:lnSpc>
            </a:pPr>
            <a:r>
              <a:rPr lang="en-US" sz="1700" spc="27">
                <a:solidFill>
                  <a:srgbClr val="EFE8DD"/>
                </a:solidFill>
                <a:latin typeface="Inter"/>
                <a:ea typeface="Inter"/>
                <a:cs typeface="Inter"/>
                <a:sym typeface="Inter"/>
              </a:rPr>
              <a:t> Incluye autenticación por tokens, validación de datos, generación de archivos (PDF) y control de operaciones.</a:t>
            </a:r>
          </a:p>
        </p:txBody>
      </p:sp>
      <p:grpSp>
        <p:nvGrpSpPr>
          <p:cNvPr name="Group 11" id="11"/>
          <p:cNvGrpSpPr/>
          <p:nvPr/>
        </p:nvGrpSpPr>
        <p:grpSpPr>
          <a:xfrm rot="0">
            <a:off x="1259091" y="3046282"/>
            <a:ext cx="5133492" cy="4939136"/>
            <a:chOff x="0" y="0"/>
            <a:chExt cx="1864975" cy="1794366"/>
          </a:xfrm>
        </p:grpSpPr>
        <p:sp>
          <p:nvSpPr>
            <p:cNvPr name="Freeform 12" id="12"/>
            <p:cNvSpPr/>
            <p:nvPr/>
          </p:nvSpPr>
          <p:spPr>
            <a:xfrm flipH="false" flipV="false" rot="0">
              <a:off x="0" y="0"/>
              <a:ext cx="1864975" cy="1794366"/>
            </a:xfrm>
            <a:custGeom>
              <a:avLst/>
              <a:gdLst/>
              <a:ahLst/>
              <a:cxnLst/>
              <a:rect r="r" b="b" t="t" l="l"/>
              <a:pathLst>
                <a:path h="1794366" w="1864975">
                  <a:moveTo>
                    <a:pt x="108585" y="0"/>
                  </a:moveTo>
                  <a:lnTo>
                    <a:pt x="1756390" y="0"/>
                  </a:lnTo>
                  <a:cubicBezTo>
                    <a:pt x="1816360" y="0"/>
                    <a:pt x="1864975" y="48615"/>
                    <a:pt x="1864975" y="108585"/>
                  </a:cubicBezTo>
                  <a:lnTo>
                    <a:pt x="1864975" y="1685781"/>
                  </a:lnTo>
                  <a:cubicBezTo>
                    <a:pt x="1864975" y="1745751"/>
                    <a:pt x="1816360" y="1794366"/>
                    <a:pt x="1756390" y="1794366"/>
                  </a:cubicBezTo>
                  <a:lnTo>
                    <a:pt x="108585" y="1794366"/>
                  </a:lnTo>
                  <a:cubicBezTo>
                    <a:pt x="48615" y="1794366"/>
                    <a:pt x="0" y="1745751"/>
                    <a:pt x="0" y="1685781"/>
                  </a:cubicBezTo>
                  <a:lnTo>
                    <a:pt x="0" y="108585"/>
                  </a:lnTo>
                  <a:cubicBezTo>
                    <a:pt x="0" y="48615"/>
                    <a:pt x="48615" y="0"/>
                    <a:pt x="108585" y="0"/>
                  </a:cubicBezTo>
                  <a:close/>
                </a:path>
              </a:pathLst>
            </a:custGeom>
            <a:solidFill>
              <a:srgbClr val="7D2220"/>
            </a:solidFill>
          </p:spPr>
        </p:sp>
        <p:sp>
          <p:nvSpPr>
            <p:cNvPr name="TextBox 13" id="13"/>
            <p:cNvSpPr txBox="true"/>
            <p:nvPr/>
          </p:nvSpPr>
          <p:spPr>
            <a:xfrm>
              <a:off x="0" y="95250"/>
              <a:ext cx="1864975" cy="1699116"/>
            </a:xfrm>
            <a:prstGeom prst="rect">
              <a:avLst/>
            </a:prstGeom>
          </p:spPr>
          <p:txBody>
            <a:bodyPr anchor="ctr" rtlCol="false" tIns="50800" lIns="50800" bIns="50800" rIns="50800"/>
            <a:lstStyle/>
            <a:p>
              <a:pPr algn="ctr">
                <a:lnSpc>
                  <a:spcPts val="1925"/>
                </a:lnSpc>
              </a:pPr>
            </a:p>
          </p:txBody>
        </p:sp>
      </p:grpSp>
      <p:grpSp>
        <p:nvGrpSpPr>
          <p:cNvPr name="Group 14" id="14"/>
          <p:cNvGrpSpPr/>
          <p:nvPr/>
        </p:nvGrpSpPr>
        <p:grpSpPr>
          <a:xfrm rot="0">
            <a:off x="11895417" y="3046282"/>
            <a:ext cx="5133492" cy="4939136"/>
            <a:chOff x="0" y="0"/>
            <a:chExt cx="1864975" cy="1794366"/>
          </a:xfrm>
        </p:grpSpPr>
        <p:sp>
          <p:nvSpPr>
            <p:cNvPr name="Freeform 15" id="15"/>
            <p:cNvSpPr/>
            <p:nvPr/>
          </p:nvSpPr>
          <p:spPr>
            <a:xfrm flipH="false" flipV="false" rot="0">
              <a:off x="0" y="0"/>
              <a:ext cx="1864975" cy="1794366"/>
            </a:xfrm>
            <a:custGeom>
              <a:avLst/>
              <a:gdLst/>
              <a:ahLst/>
              <a:cxnLst/>
              <a:rect r="r" b="b" t="t" l="l"/>
              <a:pathLst>
                <a:path h="1794366" w="1864975">
                  <a:moveTo>
                    <a:pt x="108585" y="0"/>
                  </a:moveTo>
                  <a:lnTo>
                    <a:pt x="1756390" y="0"/>
                  </a:lnTo>
                  <a:cubicBezTo>
                    <a:pt x="1816360" y="0"/>
                    <a:pt x="1864975" y="48615"/>
                    <a:pt x="1864975" y="108585"/>
                  </a:cubicBezTo>
                  <a:lnTo>
                    <a:pt x="1864975" y="1685781"/>
                  </a:lnTo>
                  <a:cubicBezTo>
                    <a:pt x="1864975" y="1745751"/>
                    <a:pt x="1816360" y="1794366"/>
                    <a:pt x="1756390" y="1794366"/>
                  </a:cubicBezTo>
                  <a:lnTo>
                    <a:pt x="108585" y="1794366"/>
                  </a:lnTo>
                  <a:cubicBezTo>
                    <a:pt x="48615" y="1794366"/>
                    <a:pt x="0" y="1745751"/>
                    <a:pt x="0" y="1685781"/>
                  </a:cubicBezTo>
                  <a:lnTo>
                    <a:pt x="0" y="108585"/>
                  </a:lnTo>
                  <a:cubicBezTo>
                    <a:pt x="0" y="48615"/>
                    <a:pt x="48615" y="0"/>
                    <a:pt x="108585" y="0"/>
                  </a:cubicBezTo>
                  <a:close/>
                </a:path>
              </a:pathLst>
            </a:custGeom>
            <a:solidFill>
              <a:srgbClr val="EFE8DD"/>
            </a:solidFill>
          </p:spPr>
        </p:sp>
        <p:sp>
          <p:nvSpPr>
            <p:cNvPr name="TextBox 16" id="16"/>
            <p:cNvSpPr txBox="true"/>
            <p:nvPr/>
          </p:nvSpPr>
          <p:spPr>
            <a:xfrm>
              <a:off x="0" y="95250"/>
              <a:ext cx="1864975" cy="1699116"/>
            </a:xfrm>
            <a:prstGeom prst="rect">
              <a:avLst/>
            </a:prstGeom>
          </p:spPr>
          <p:txBody>
            <a:bodyPr anchor="ctr" rtlCol="false" tIns="50800" lIns="50800" bIns="50800" rIns="50800"/>
            <a:lstStyle/>
            <a:p>
              <a:pPr algn="ctr">
                <a:lnSpc>
                  <a:spcPts val="1925"/>
                </a:lnSpc>
              </a:pPr>
            </a:p>
          </p:txBody>
        </p:sp>
      </p:grpSp>
      <p:sp>
        <p:nvSpPr>
          <p:cNvPr name="TextBox 17" id="17"/>
          <p:cNvSpPr txBox="true"/>
          <p:nvPr/>
        </p:nvSpPr>
        <p:spPr>
          <a:xfrm rot="0">
            <a:off x="1882105" y="5138830"/>
            <a:ext cx="3887465" cy="2357120"/>
          </a:xfrm>
          <a:prstGeom prst="rect">
            <a:avLst/>
          </a:prstGeom>
        </p:spPr>
        <p:txBody>
          <a:bodyPr anchor="t" rtlCol="false" tIns="0" lIns="0" bIns="0" rIns="0">
            <a:spAutoFit/>
          </a:bodyPr>
          <a:lstStyle/>
          <a:p>
            <a:pPr algn="ctr">
              <a:lnSpc>
                <a:spcPts val="2380"/>
              </a:lnSpc>
            </a:pPr>
            <a:r>
              <a:rPr lang="en-US" sz="1700" spc="27">
                <a:solidFill>
                  <a:srgbClr val="EFE8DD"/>
                </a:solidFill>
                <a:latin typeface="Inter"/>
                <a:ea typeface="Inter"/>
                <a:cs typeface="Inter"/>
                <a:sym typeface="Inter"/>
              </a:rPr>
              <a:t>Aplicación móvil desarrollada en </a:t>
            </a:r>
            <a:r>
              <a:rPr lang="en-US" b="true" sz="1700" spc="27">
                <a:solidFill>
                  <a:srgbClr val="EFE8DD"/>
                </a:solidFill>
                <a:latin typeface="Inter Bold"/>
                <a:ea typeface="Inter Bold"/>
                <a:cs typeface="Inter Bold"/>
                <a:sym typeface="Inter Bold"/>
              </a:rPr>
              <a:t>Ionic + Angular</a:t>
            </a:r>
            <a:r>
              <a:rPr lang="en-US" sz="1700" spc="27">
                <a:solidFill>
                  <a:srgbClr val="EFE8DD"/>
                </a:solidFill>
                <a:latin typeface="Inter"/>
                <a:ea typeface="Inter"/>
                <a:cs typeface="Inter"/>
                <a:sym typeface="Inter"/>
              </a:rPr>
              <a:t>, diseñada con una interfaz simple y accesible para usuarios con poca experiencia tecnológica.</a:t>
            </a:r>
          </a:p>
          <a:p>
            <a:pPr algn="ctr" marL="0" indent="0" lvl="0">
              <a:lnSpc>
                <a:spcPts val="2380"/>
              </a:lnSpc>
            </a:pPr>
            <a:r>
              <a:rPr lang="en-US" sz="1700" spc="27">
                <a:solidFill>
                  <a:srgbClr val="EFE8DD"/>
                </a:solidFill>
                <a:latin typeface="Inter"/>
                <a:ea typeface="Inter"/>
                <a:cs typeface="Inter"/>
                <a:sym typeface="Inter"/>
              </a:rPr>
              <a:t> Incluye validaciones, navegación ordenada y consumo de API mediante solicitudes HTTP.</a:t>
            </a:r>
          </a:p>
        </p:txBody>
      </p:sp>
      <p:sp>
        <p:nvSpPr>
          <p:cNvPr name="TextBox 18" id="18"/>
          <p:cNvSpPr txBox="true"/>
          <p:nvPr/>
        </p:nvSpPr>
        <p:spPr>
          <a:xfrm rot="0">
            <a:off x="12519960" y="5163151"/>
            <a:ext cx="3887465" cy="1766570"/>
          </a:xfrm>
          <a:prstGeom prst="rect">
            <a:avLst/>
          </a:prstGeom>
        </p:spPr>
        <p:txBody>
          <a:bodyPr anchor="t" rtlCol="false" tIns="0" lIns="0" bIns="0" rIns="0">
            <a:spAutoFit/>
          </a:bodyPr>
          <a:lstStyle/>
          <a:p>
            <a:pPr algn="ctr">
              <a:lnSpc>
                <a:spcPts val="2380"/>
              </a:lnSpc>
            </a:pPr>
            <a:r>
              <a:rPr lang="en-US" sz="1700" spc="27">
                <a:solidFill>
                  <a:srgbClr val="202020"/>
                </a:solidFill>
                <a:latin typeface="Inter"/>
                <a:ea typeface="Inter"/>
                <a:cs typeface="Inter"/>
                <a:sym typeface="Inter"/>
              </a:rPr>
              <a:t>Sistema relacional que almacena pedidos, productos, usuarios, facturas y reportes.</a:t>
            </a:r>
          </a:p>
          <a:p>
            <a:pPr algn="ctr" marL="0" indent="0" lvl="0">
              <a:lnSpc>
                <a:spcPts val="2380"/>
              </a:lnSpc>
            </a:pPr>
            <a:r>
              <a:rPr lang="en-US" sz="1700" spc="27">
                <a:solidFill>
                  <a:srgbClr val="202020"/>
                </a:solidFill>
                <a:latin typeface="Inter"/>
                <a:ea typeface="Inter"/>
                <a:cs typeface="Inter"/>
                <a:sym typeface="Inter"/>
              </a:rPr>
              <a:t> Garantiza integridad, trazabilidad y sincronización entre las diferentes áreas de la empresa.</a:t>
            </a:r>
          </a:p>
        </p:txBody>
      </p:sp>
      <p:sp>
        <p:nvSpPr>
          <p:cNvPr name="TextBox 19" id="19"/>
          <p:cNvSpPr txBox="true"/>
          <p:nvPr/>
        </p:nvSpPr>
        <p:spPr>
          <a:xfrm rot="0">
            <a:off x="1796020" y="3935801"/>
            <a:ext cx="4059634" cy="862897"/>
          </a:xfrm>
          <a:prstGeom prst="rect">
            <a:avLst/>
          </a:prstGeom>
        </p:spPr>
        <p:txBody>
          <a:bodyPr anchor="t" rtlCol="false" tIns="0" lIns="0" bIns="0" rIns="0">
            <a:spAutoFit/>
          </a:bodyPr>
          <a:lstStyle/>
          <a:p>
            <a:pPr algn="ctr" marL="0" indent="0" lvl="0">
              <a:lnSpc>
                <a:spcPts val="6400"/>
              </a:lnSpc>
              <a:spcBef>
                <a:spcPct val="0"/>
              </a:spcBef>
            </a:pPr>
            <a:r>
              <a:rPr lang="en-US" b="true" sz="6400" spc="-96">
                <a:solidFill>
                  <a:srgbClr val="FFFFFF"/>
                </a:solidFill>
                <a:latin typeface="Cy Grotesk Key Semi-Bold"/>
                <a:ea typeface="Cy Grotesk Key Semi-Bold"/>
                <a:cs typeface="Cy Grotesk Key Semi-Bold"/>
                <a:sym typeface="Cy Grotesk Key Semi-Bold"/>
              </a:rPr>
              <a:t>Frontend</a:t>
            </a:r>
          </a:p>
        </p:txBody>
      </p:sp>
      <p:sp>
        <p:nvSpPr>
          <p:cNvPr name="TextBox 20" id="20"/>
          <p:cNvSpPr txBox="true"/>
          <p:nvPr/>
        </p:nvSpPr>
        <p:spPr>
          <a:xfrm rot="0">
            <a:off x="7198502" y="3935801"/>
            <a:ext cx="3890996" cy="862897"/>
          </a:xfrm>
          <a:prstGeom prst="rect">
            <a:avLst/>
          </a:prstGeom>
        </p:spPr>
        <p:txBody>
          <a:bodyPr anchor="t" rtlCol="false" tIns="0" lIns="0" bIns="0" rIns="0">
            <a:spAutoFit/>
          </a:bodyPr>
          <a:lstStyle/>
          <a:p>
            <a:pPr algn="ctr" marL="0" indent="0" lvl="0">
              <a:lnSpc>
                <a:spcPts val="6400"/>
              </a:lnSpc>
              <a:spcBef>
                <a:spcPct val="0"/>
              </a:spcBef>
            </a:pPr>
            <a:r>
              <a:rPr lang="en-US" b="true" sz="6400" spc="-96">
                <a:solidFill>
                  <a:srgbClr val="FFFFFF"/>
                </a:solidFill>
                <a:latin typeface="Cy Grotesk Key Semi-Bold"/>
                <a:ea typeface="Cy Grotesk Key Semi-Bold"/>
                <a:cs typeface="Cy Grotesk Key Semi-Bold"/>
                <a:sym typeface="Cy Grotesk Key Semi-Bold"/>
              </a:rPr>
              <a:t>Backend</a:t>
            </a:r>
          </a:p>
        </p:txBody>
      </p:sp>
      <p:sp>
        <p:nvSpPr>
          <p:cNvPr name="TextBox 21" id="21"/>
          <p:cNvSpPr txBox="true"/>
          <p:nvPr/>
        </p:nvSpPr>
        <p:spPr>
          <a:xfrm rot="0">
            <a:off x="12231950" y="3533247"/>
            <a:ext cx="4460427" cy="1668004"/>
          </a:xfrm>
          <a:prstGeom prst="rect">
            <a:avLst/>
          </a:prstGeom>
        </p:spPr>
        <p:txBody>
          <a:bodyPr anchor="t" rtlCol="false" tIns="0" lIns="0" bIns="0" rIns="0">
            <a:spAutoFit/>
          </a:bodyPr>
          <a:lstStyle/>
          <a:p>
            <a:pPr algn="ctr" marL="0" indent="0" lvl="0">
              <a:lnSpc>
                <a:spcPts val="6400"/>
              </a:lnSpc>
              <a:spcBef>
                <a:spcPct val="0"/>
              </a:spcBef>
            </a:pPr>
            <a:r>
              <a:rPr lang="en-US" b="true" sz="6400" spc="-96">
                <a:solidFill>
                  <a:srgbClr val="202020"/>
                </a:solidFill>
                <a:latin typeface="Cy Grotesk Key Semi-Bold"/>
                <a:ea typeface="Cy Grotesk Key Semi-Bold"/>
                <a:cs typeface="Cy Grotesk Key Semi-Bold"/>
                <a:sym typeface="Cy Grotesk Key Semi-Bold"/>
              </a:rPr>
              <a:t>Base de Datos</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FFFFFF"/>
                </a:solidFill>
                <a:latin typeface="Helvetica World Bold"/>
                <a:ea typeface="Helvetica World Bold"/>
                <a:cs typeface="Helvetica World Bold"/>
                <a:sym typeface="Helvetica World Bold"/>
              </a:rPr>
              <a:t>11</a:t>
            </a:r>
          </a:p>
        </p:txBody>
      </p:sp>
      <p:sp>
        <p:nvSpPr>
          <p:cNvPr name="TextBox 6" id="6"/>
          <p:cNvSpPr txBox="true"/>
          <p:nvPr/>
        </p:nvSpPr>
        <p:spPr>
          <a:xfrm rot="0">
            <a:off x="3480736" y="1505825"/>
            <a:ext cx="11326529" cy="867415"/>
          </a:xfrm>
          <a:prstGeom prst="rect">
            <a:avLst/>
          </a:prstGeom>
        </p:spPr>
        <p:txBody>
          <a:bodyPr anchor="t" rtlCol="false" tIns="0" lIns="0" bIns="0" rIns="0">
            <a:spAutoFit/>
          </a:bodyPr>
          <a:lstStyle/>
          <a:p>
            <a:pPr algn="ctr">
              <a:lnSpc>
                <a:spcPts val="6400"/>
              </a:lnSpc>
            </a:pPr>
            <a:r>
              <a:rPr lang="en-US" b="true" sz="6400" spc="-96">
                <a:solidFill>
                  <a:srgbClr val="202020"/>
                </a:solidFill>
                <a:latin typeface="Cy Grotesk Key Semi-Bold"/>
                <a:ea typeface="Cy Grotesk Key Semi-Bold"/>
                <a:cs typeface="Cy Grotesk Key Semi-Bold"/>
                <a:sym typeface="Cy Grotesk Key Semi-Bold"/>
              </a:rPr>
              <a:t>Stack Tecnológico</a:t>
            </a:r>
          </a:p>
        </p:txBody>
      </p:sp>
      <p:grpSp>
        <p:nvGrpSpPr>
          <p:cNvPr name="Group 7" id="7"/>
          <p:cNvGrpSpPr/>
          <p:nvPr/>
        </p:nvGrpSpPr>
        <p:grpSpPr>
          <a:xfrm rot="0">
            <a:off x="6576843" y="3046282"/>
            <a:ext cx="5133492" cy="4939136"/>
            <a:chOff x="0" y="0"/>
            <a:chExt cx="1864975" cy="1794366"/>
          </a:xfrm>
        </p:grpSpPr>
        <p:sp>
          <p:nvSpPr>
            <p:cNvPr name="Freeform 8" id="8"/>
            <p:cNvSpPr/>
            <p:nvPr/>
          </p:nvSpPr>
          <p:spPr>
            <a:xfrm flipH="false" flipV="false" rot="0">
              <a:off x="0" y="0"/>
              <a:ext cx="1864975" cy="1794366"/>
            </a:xfrm>
            <a:custGeom>
              <a:avLst/>
              <a:gdLst/>
              <a:ahLst/>
              <a:cxnLst/>
              <a:rect r="r" b="b" t="t" l="l"/>
              <a:pathLst>
                <a:path h="1794366" w="1864975">
                  <a:moveTo>
                    <a:pt x="108585" y="0"/>
                  </a:moveTo>
                  <a:lnTo>
                    <a:pt x="1756390" y="0"/>
                  </a:lnTo>
                  <a:cubicBezTo>
                    <a:pt x="1816360" y="0"/>
                    <a:pt x="1864975" y="48615"/>
                    <a:pt x="1864975" y="108585"/>
                  </a:cubicBezTo>
                  <a:lnTo>
                    <a:pt x="1864975" y="1685781"/>
                  </a:lnTo>
                  <a:cubicBezTo>
                    <a:pt x="1864975" y="1745751"/>
                    <a:pt x="1816360" y="1794366"/>
                    <a:pt x="1756390" y="1794366"/>
                  </a:cubicBezTo>
                  <a:lnTo>
                    <a:pt x="108585" y="1794366"/>
                  </a:lnTo>
                  <a:cubicBezTo>
                    <a:pt x="48615" y="1794366"/>
                    <a:pt x="0" y="1745751"/>
                    <a:pt x="0" y="1685781"/>
                  </a:cubicBezTo>
                  <a:lnTo>
                    <a:pt x="0" y="108585"/>
                  </a:lnTo>
                  <a:cubicBezTo>
                    <a:pt x="0" y="48615"/>
                    <a:pt x="48615" y="0"/>
                    <a:pt x="108585" y="0"/>
                  </a:cubicBezTo>
                  <a:close/>
                </a:path>
              </a:pathLst>
            </a:custGeom>
            <a:solidFill>
              <a:srgbClr val="A03E3C"/>
            </a:solidFill>
          </p:spPr>
        </p:sp>
        <p:sp>
          <p:nvSpPr>
            <p:cNvPr name="TextBox 9" id="9"/>
            <p:cNvSpPr txBox="true"/>
            <p:nvPr/>
          </p:nvSpPr>
          <p:spPr>
            <a:xfrm>
              <a:off x="0" y="95250"/>
              <a:ext cx="1864975" cy="1699116"/>
            </a:xfrm>
            <a:prstGeom prst="rect">
              <a:avLst/>
            </a:prstGeom>
          </p:spPr>
          <p:txBody>
            <a:bodyPr anchor="ctr" rtlCol="false" tIns="50800" lIns="50800" bIns="50800" rIns="50800"/>
            <a:lstStyle/>
            <a:p>
              <a:pPr algn="ctr">
                <a:lnSpc>
                  <a:spcPts val="1925"/>
                </a:lnSpc>
              </a:pPr>
            </a:p>
          </p:txBody>
        </p:sp>
      </p:grpSp>
      <p:sp>
        <p:nvSpPr>
          <p:cNvPr name="TextBox 10" id="10"/>
          <p:cNvSpPr txBox="true"/>
          <p:nvPr/>
        </p:nvSpPr>
        <p:spPr>
          <a:xfrm rot="0">
            <a:off x="7197816" y="5105400"/>
            <a:ext cx="3891545" cy="1934845"/>
          </a:xfrm>
          <a:prstGeom prst="rect">
            <a:avLst/>
          </a:prstGeom>
        </p:spPr>
        <p:txBody>
          <a:bodyPr anchor="t" rtlCol="false" tIns="0" lIns="0" bIns="0" rIns="0">
            <a:spAutoFit/>
          </a:bodyPr>
          <a:lstStyle/>
          <a:p>
            <a:pPr algn="ctr" marL="474978" indent="-237489" lvl="1">
              <a:lnSpc>
                <a:spcPts val="3079"/>
              </a:lnSpc>
              <a:buFont typeface="Arial"/>
              <a:buChar char="•"/>
            </a:pPr>
            <a:r>
              <a:rPr lang="en-US" b="true" sz="2199" spc="35">
                <a:solidFill>
                  <a:srgbClr val="EFE8DD"/>
                </a:solidFill>
                <a:latin typeface="Inter Bold"/>
                <a:ea typeface="Inter Bold"/>
                <a:cs typeface="Inter Bold"/>
                <a:sym typeface="Inter Bold"/>
              </a:rPr>
              <a:t>Python</a:t>
            </a:r>
          </a:p>
          <a:p>
            <a:pPr algn="ctr" marL="474978" indent="-237489" lvl="1">
              <a:lnSpc>
                <a:spcPts val="3079"/>
              </a:lnSpc>
              <a:buFont typeface="Arial"/>
              <a:buChar char="•"/>
            </a:pPr>
            <a:r>
              <a:rPr lang="en-US" b="true" sz="2199" spc="35">
                <a:solidFill>
                  <a:srgbClr val="EFE8DD"/>
                </a:solidFill>
                <a:latin typeface="Inter Bold"/>
                <a:ea typeface="Inter Bold"/>
                <a:cs typeface="Inter Bold"/>
                <a:sym typeface="Inter Bold"/>
              </a:rPr>
              <a:t>Django REST Framework</a:t>
            </a:r>
          </a:p>
          <a:p>
            <a:pPr algn="ctr" marL="474978" indent="-237489" lvl="1">
              <a:lnSpc>
                <a:spcPts val="3079"/>
              </a:lnSpc>
              <a:buFont typeface="Arial"/>
              <a:buChar char="•"/>
            </a:pPr>
            <a:r>
              <a:rPr lang="en-US" b="true" sz="2199" spc="35">
                <a:solidFill>
                  <a:srgbClr val="EFE8DD"/>
                </a:solidFill>
                <a:latin typeface="Inter Bold"/>
                <a:ea typeface="Inter Bold"/>
                <a:cs typeface="Inter Bold"/>
                <a:sym typeface="Inter Bold"/>
              </a:rPr>
              <a:t>JWT (Autenticación por tokens)</a:t>
            </a:r>
          </a:p>
        </p:txBody>
      </p:sp>
      <p:grpSp>
        <p:nvGrpSpPr>
          <p:cNvPr name="Group 11" id="11"/>
          <p:cNvGrpSpPr/>
          <p:nvPr/>
        </p:nvGrpSpPr>
        <p:grpSpPr>
          <a:xfrm rot="0">
            <a:off x="1259091" y="3046282"/>
            <a:ext cx="5133492" cy="4939136"/>
            <a:chOff x="0" y="0"/>
            <a:chExt cx="1864975" cy="1794366"/>
          </a:xfrm>
        </p:grpSpPr>
        <p:sp>
          <p:nvSpPr>
            <p:cNvPr name="Freeform 12" id="12"/>
            <p:cNvSpPr/>
            <p:nvPr/>
          </p:nvSpPr>
          <p:spPr>
            <a:xfrm flipH="false" flipV="false" rot="0">
              <a:off x="0" y="0"/>
              <a:ext cx="1864975" cy="1794366"/>
            </a:xfrm>
            <a:custGeom>
              <a:avLst/>
              <a:gdLst/>
              <a:ahLst/>
              <a:cxnLst/>
              <a:rect r="r" b="b" t="t" l="l"/>
              <a:pathLst>
                <a:path h="1794366" w="1864975">
                  <a:moveTo>
                    <a:pt x="108585" y="0"/>
                  </a:moveTo>
                  <a:lnTo>
                    <a:pt x="1756390" y="0"/>
                  </a:lnTo>
                  <a:cubicBezTo>
                    <a:pt x="1816360" y="0"/>
                    <a:pt x="1864975" y="48615"/>
                    <a:pt x="1864975" y="108585"/>
                  </a:cubicBezTo>
                  <a:lnTo>
                    <a:pt x="1864975" y="1685781"/>
                  </a:lnTo>
                  <a:cubicBezTo>
                    <a:pt x="1864975" y="1745751"/>
                    <a:pt x="1816360" y="1794366"/>
                    <a:pt x="1756390" y="1794366"/>
                  </a:cubicBezTo>
                  <a:lnTo>
                    <a:pt x="108585" y="1794366"/>
                  </a:lnTo>
                  <a:cubicBezTo>
                    <a:pt x="48615" y="1794366"/>
                    <a:pt x="0" y="1745751"/>
                    <a:pt x="0" y="1685781"/>
                  </a:cubicBezTo>
                  <a:lnTo>
                    <a:pt x="0" y="108585"/>
                  </a:lnTo>
                  <a:cubicBezTo>
                    <a:pt x="0" y="48615"/>
                    <a:pt x="48615" y="0"/>
                    <a:pt x="108585" y="0"/>
                  </a:cubicBezTo>
                  <a:close/>
                </a:path>
              </a:pathLst>
            </a:custGeom>
            <a:solidFill>
              <a:srgbClr val="7D2220"/>
            </a:solidFill>
          </p:spPr>
        </p:sp>
        <p:sp>
          <p:nvSpPr>
            <p:cNvPr name="TextBox 13" id="13"/>
            <p:cNvSpPr txBox="true"/>
            <p:nvPr/>
          </p:nvSpPr>
          <p:spPr>
            <a:xfrm>
              <a:off x="0" y="95250"/>
              <a:ext cx="1864975" cy="1699116"/>
            </a:xfrm>
            <a:prstGeom prst="rect">
              <a:avLst/>
            </a:prstGeom>
          </p:spPr>
          <p:txBody>
            <a:bodyPr anchor="ctr" rtlCol="false" tIns="50800" lIns="50800" bIns="50800" rIns="50800"/>
            <a:lstStyle/>
            <a:p>
              <a:pPr algn="ctr">
                <a:lnSpc>
                  <a:spcPts val="1925"/>
                </a:lnSpc>
              </a:pPr>
            </a:p>
          </p:txBody>
        </p:sp>
      </p:grpSp>
      <p:grpSp>
        <p:nvGrpSpPr>
          <p:cNvPr name="Group 14" id="14"/>
          <p:cNvGrpSpPr/>
          <p:nvPr/>
        </p:nvGrpSpPr>
        <p:grpSpPr>
          <a:xfrm rot="0">
            <a:off x="11895417" y="3046282"/>
            <a:ext cx="5133492" cy="4939136"/>
            <a:chOff x="0" y="0"/>
            <a:chExt cx="1864975" cy="1794366"/>
          </a:xfrm>
        </p:grpSpPr>
        <p:sp>
          <p:nvSpPr>
            <p:cNvPr name="Freeform 15" id="15"/>
            <p:cNvSpPr/>
            <p:nvPr/>
          </p:nvSpPr>
          <p:spPr>
            <a:xfrm flipH="false" flipV="false" rot="0">
              <a:off x="0" y="0"/>
              <a:ext cx="1864975" cy="1794366"/>
            </a:xfrm>
            <a:custGeom>
              <a:avLst/>
              <a:gdLst/>
              <a:ahLst/>
              <a:cxnLst/>
              <a:rect r="r" b="b" t="t" l="l"/>
              <a:pathLst>
                <a:path h="1794366" w="1864975">
                  <a:moveTo>
                    <a:pt x="108585" y="0"/>
                  </a:moveTo>
                  <a:lnTo>
                    <a:pt x="1756390" y="0"/>
                  </a:lnTo>
                  <a:cubicBezTo>
                    <a:pt x="1816360" y="0"/>
                    <a:pt x="1864975" y="48615"/>
                    <a:pt x="1864975" y="108585"/>
                  </a:cubicBezTo>
                  <a:lnTo>
                    <a:pt x="1864975" y="1685781"/>
                  </a:lnTo>
                  <a:cubicBezTo>
                    <a:pt x="1864975" y="1745751"/>
                    <a:pt x="1816360" y="1794366"/>
                    <a:pt x="1756390" y="1794366"/>
                  </a:cubicBezTo>
                  <a:lnTo>
                    <a:pt x="108585" y="1794366"/>
                  </a:lnTo>
                  <a:cubicBezTo>
                    <a:pt x="48615" y="1794366"/>
                    <a:pt x="0" y="1745751"/>
                    <a:pt x="0" y="1685781"/>
                  </a:cubicBezTo>
                  <a:lnTo>
                    <a:pt x="0" y="108585"/>
                  </a:lnTo>
                  <a:cubicBezTo>
                    <a:pt x="0" y="48615"/>
                    <a:pt x="48615" y="0"/>
                    <a:pt x="108585" y="0"/>
                  </a:cubicBezTo>
                  <a:close/>
                </a:path>
              </a:pathLst>
            </a:custGeom>
            <a:solidFill>
              <a:srgbClr val="EFE8DD"/>
            </a:solidFill>
          </p:spPr>
        </p:sp>
        <p:sp>
          <p:nvSpPr>
            <p:cNvPr name="TextBox 16" id="16"/>
            <p:cNvSpPr txBox="true"/>
            <p:nvPr/>
          </p:nvSpPr>
          <p:spPr>
            <a:xfrm>
              <a:off x="0" y="95250"/>
              <a:ext cx="1864975" cy="1699116"/>
            </a:xfrm>
            <a:prstGeom prst="rect">
              <a:avLst/>
            </a:prstGeom>
          </p:spPr>
          <p:txBody>
            <a:bodyPr anchor="ctr" rtlCol="false" tIns="50800" lIns="50800" bIns="50800" rIns="50800"/>
            <a:lstStyle/>
            <a:p>
              <a:pPr algn="ctr">
                <a:lnSpc>
                  <a:spcPts val="1925"/>
                </a:lnSpc>
              </a:pPr>
            </a:p>
          </p:txBody>
        </p:sp>
      </p:grpSp>
      <p:sp>
        <p:nvSpPr>
          <p:cNvPr name="TextBox 17" id="17"/>
          <p:cNvSpPr txBox="true"/>
          <p:nvPr/>
        </p:nvSpPr>
        <p:spPr>
          <a:xfrm rot="0">
            <a:off x="1882105" y="5138830"/>
            <a:ext cx="3887465" cy="1544320"/>
          </a:xfrm>
          <a:prstGeom prst="rect">
            <a:avLst/>
          </a:prstGeom>
        </p:spPr>
        <p:txBody>
          <a:bodyPr anchor="t" rtlCol="false" tIns="0" lIns="0" bIns="0" rIns="0">
            <a:spAutoFit/>
          </a:bodyPr>
          <a:lstStyle/>
          <a:p>
            <a:pPr algn="ctr" marL="474978" indent="-237489" lvl="1">
              <a:lnSpc>
                <a:spcPts val="3079"/>
              </a:lnSpc>
              <a:buFont typeface="Arial"/>
              <a:buChar char="•"/>
            </a:pPr>
            <a:r>
              <a:rPr lang="en-US" b="true" sz="2199" spc="35">
                <a:solidFill>
                  <a:srgbClr val="EFE8DD"/>
                </a:solidFill>
                <a:latin typeface="Inter Bold"/>
                <a:ea typeface="Inter Bold"/>
                <a:cs typeface="Inter Bold"/>
                <a:sym typeface="Inter Bold"/>
              </a:rPr>
              <a:t>Ionic</a:t>
            </a:r>
          </a:p>
          <a:p>
            <a:pPr algn="ctr" marL="474978" indent="-237489" lvl="1">
              <a:lnSpc>
                <a:spcPts val="3079"/>
              </a:lnSpc>
              <a:buFont typeface="Arial"/>
              <a:buChar char="•"/>
            </a:pPr>
            <a:r>
              <a:rPr lang="en-US" b="true" sz="2199" spc="35">
                <a:solidFill>
                  <a:srgbClr val="EFE8DD"/>
                </a:solidFill>
                <a:latin typeface="Inter Bold"/>
                <a:ea typeface="Inter Bold"/>
                <a:cs typeface="Inter Bold"/>
                <a:sym typeface="Inter Bold"/>
              </a:rPr>
              <a:t>Angular</a:t>
            </a:r>
          </a:p>
          <a:p>
            <a:pPr algn="ctr" marL="474978" indent="-237489" lvl="1">
              <a:lnSpc>
                <a:spcPts val="3079"/>
              </a:lnSpc>
              <a:buFont typeface="Arial"/>
              <a:buChar char="•"/>
            </a:pPr>
            <a:r>
              <a:rPr lang="en-US" b="true" sz="2199" spc="35">
                <a:solidFill>
                  <a:srgbClr val="EFE8DD"/>
                </a:solidFill>
                <a:latin typeface="Inter Bold"/>
                <a:ea typeface="Inter Bold"/>
                <a:cs typeface="Inter Bold"/>
                <a:sym typeface="Inter Bold"/>
              </a:rPr>
              <a:t>Typescript</a:t>
            </a:r>
          </a:p>
          <a:p>
            <a:pPr algn="ctr" marL="474978" indent="-237489" lvl="1">
              <a:lnSpc>
                <a:spcPts val="3079"/>
              </a:lnSpc>
              <a:buFont typeface="Arial"/>
              <a:buChar char="•"/>
            </a:pPr>
            <a:r>
              <a:rPr lang="en-US" b="true" sz="2199" spc="35">
                <a:solidFill>
                  <a:srgbClr val="EFE8DD"/>
                </a:solidFill>
                <a:latin typeface="Inter Bold"/>
                <a:ea typeface="Inter Bold"/>
                <a:cs typeface="Inter Bold"/>
                <a:sym typeface="Inter Bold"/>
              </a:rPr>
              <a:t>HTML/SCSS</a:t>
            </a:r>
          </a:p>
        </p:txBody>
      </p:sp>
      <p:sp>
        <p:nvSpPr>
          <p:cNvPr name="TextBox 18" id="18"/>
          <p:cNvSpPr txBox="true"/>
          <p:nvPr/>
        </p:nvSpPr>
        <p:spPr>
          <a:xfrm rot="0">
            <a:off x="12518431" y="5891940"/>
            <a:ext cx="3887465" cy="372745"/>
          </a:xfrm>
          <a:prstGeom prst="rect">
            <a:avLst/>
          </a:prstGeom>
        </p:spPr>
        <p:txBody>
          <a:bodyPr anchor="t" rtlCol="false" tIns="0" lIns="0" bIns="0" rIns="0">
            <a:spAutoFit/>
          </a:bodyPr>
          <a:lstStyle/>
          <a:p>
            <a:pPr algn="ctr" marL="474979" indent="-237490" lvl="1">
              <a:lnSpc>
                <a:spcPts val="3079"/>
              </a:lnSpc>
              <a:buFont typeface="Arial"/>
              <a:buChar char="•"/>
            </a:pPr>
            <a:r>
              <a:rPr lang="en-US" sz="2199" spc="35">
                <a:solidFill>
                  <a:srgbClr val="202020"/>
                </a:solidFill>
                <a:latin typeface="Inter"/>
                <a:ea typeface="Inter"/>
                <a:cs typeface="Inter"/>
                <a:sym typeface="Inter"/>
              </a:rPr>
              <a:t>MySQL</a:t>
            </a:r>
          </a:p>
        </p:txBody>
      </p:sp>
      <p:sp>
        <p:nvSpPr>
          <p:cNvPr name="TextBox 19" id="19"/>
          <p:cNvSpPr txBox="true"/>
          <p:nvPr/>
        </p:nvSpPr>
        <p:spPr>
          <a:xfrm rot="0">
            <a:off x="1796020" y="3935801"/>
            <a:ext cx="4059634" cy="862897"/>
          </a:xfrm>
          <a:prstGeom prst="rect">
            <a:avLst/>
          </a:prstGeom>
        </p:spPr>
        <p:txBody>
          <a:bodyPr anchor="t" rtlCol="false" tIns="0" lIns="0" bIns="0" rIns="0">
            <a:spAutoFit/>
          </a:bodyPr>
          <a:lstStyle/>
          <a:p>
            <a:pPr algn="ctr" marL="0" indent="0" lvl="0">
              <a:lnSpc>
                <a:spcPts val="6400"/>
              </a:lnSpc>
              <a:spcBef>
                <a:spcPct val="0"/>
              </a:spcBef>
            </a:pPr>
            <a:r>
              <a:rPr lang="en-US" b="true" sz="6400" spc="-96">
                <a:solidFill>
                  <a:srgbClr val="FFFFFF"/>
                </a:solidFill>
                <a:latin typeface="Cy Grotesk Key Semi-Bold"/>
                <a:ea typeface="Cy Grotesk Key Semi-Bold"/>
                <a:cs typeface="Cy Grotesk Key Semi-Bold"/>
                <a:sym typeface="Cy Grotesk Key Semi-Bold"/>
              </a:rPr>
              <a:t>Frontend</a:t>
            </a:r>
          </a:p>
        </p:txBody>
      </p:sp>
      <p:sp>
        <p:nvSpPr>
          <p:cNvPr name="TextBox 20" id="20"/>
          <p:cNvSpPr txBox="true"/>
          <p:nvPr/>
        </p:nvSpPr>
        <p:spPr>
          <a:xfrm rot="0">
            <a:off x="7198502" y="3935801"/>
            <a:ext cx="3890996" cy="862897"/>
          </a:xfrm>
          <a:prstGeom prst="rect">
            <a:avLst/>
          </a:prstGeom>
        </p:spPr>
        <p:txBody>
          <a:bodyPr anchor="t" rtlCol="false" tIns="0" lIns="0" bIns="0" rIns="0">
            <a:spAutoFit/>
          </a:bodyPr>
          <a:lstStyle/>
          <a:p>
            <a:pPr algn="ctr" marL="0" indent="0" lvl="0">
              <a:lnSpc>
                <a:spcPts val="6400"/>
              </a:lnSpc>
              <a:spcBef>
                <a:spcPct val="0"/>
              </a:spcBef>
            </a:pPr>
            <a:r>
              <a:rPr lang="en-US" b="true" sz="6400" spc="-96">
                <a:solidFill>
                  <a:srgbClr val="FFFFFF"/>
                </a:solidFill>
                <a:latin typeface="Cy Grotesk Key Semi-Bold"/>
                <a:ea typeface="Cy Grotesk Key Semi-Bold"/>
                <a:cs typeface="Cy Grotesk Key Semi-Bold"/>
                <a:sym typeface="Cy Grotesk Key Semi-Bold"/>
              </a:rPr>
              <a:t>Backend</a:t>
            </a:r>
          </a:p>
        </p:txBody>
      </p:sp>
      <p:sp>
        <p:nvSpPr>
          <p:cNvPr name="TextBox 21" id="21"/>
          <p:cNvSpPr txBox="true"/>
          <p:nvPr/>
        </p:nvSpPr>
        <p:spPr>
          <a:xfrm rot="0">
            <a:off x="12231950" y="3533247"/>
            <a:ext cx="4460427" cy="1668004"/>
          </a:xfrm>
          <a:prstGeom prst="rect">
            <a:avLst/>
          </a:prstGeom>
        </p:spPr>
        <p:txBody>
          <a:bodyPr anchor="t" rtlCol="false" tIns="0" lIns="0" bIns="0" rIns="0">
            <a:spAutoFit/>
          </a:bodyPr>
          <a:lstStyle/>
          <a:p>
            <a:pPr algn="ctr" marL="0" indent="0" lvl="0">
              <a:lnSpc>
                <a:spcPts val="6400"/>
              </a:lnSpc>
              <a:spcBef>
                <a:spcPct val="0"/>
              </a:spcBef>
            </a:pPr>
            <a:r>
              <a:rPr lang="en-US" b="true" sz="6400" spc="-96">
                <a:solidFill>
                  <a:srgbClr val="202020"/>
                </a:solidFill>
                <a:latin typeface="Cy Grotesk Key Semi-Bold"/>
                <a:ea typeface="Cy Grotesk Key Semi-Bold"/>
                <a:cs typeface="Cy Grotesk Key Semi-Bold"/>
                <a:sym typeface="Cy Grotesk Key Semi-Bold"/>
              </a:rPr>
              <a:t>Base de Datos</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EFE8DD"/>
                </a:solidFill>
                <a:latin typeface="Helvetica World Bold"/>
                <a:ea typeface="Helvetica World Bold"/>
                <a:cs typeface="Helvetica World Bold"/>
                <a:sym typeface="Helvetica World Bold"/>
              </a:rPr>
              <a:t>02</a:t>
            </a:r>
          </a:p>
        </p:txBody>
      </p:sp>
      <p:grpSp>
        <p:nvGrpSpPr>
          <p:cNvPr name="Group 3" id="3"/>
          <p:cNvGrpSpPr/>
          <p:nvPr/>
        </p:nvGrpSpPr>
        <p:grpSpPr>
          <a:xfrm rot="0">
            <a:off x="-462312" y="-1237188"/>
            <a:ext cx="18894942" cy="14237917"/>
            <a:chOff x="0" y="0"/>
            <a:chExt cx="4976446" cy="3749904"/>
          </a:xfrm>
        </p:grpSpPr>
        <p:sp>
          <p:nvSpPr>
            <p:cNvPr name="Freeform 4" id="4"/>
            <p:cNvSpPr/>
            <p:nvPr/>
          </p:nvSpPr>
          <p:spPr>
            <a:xfrm flipH="false" flipV="false" rot="0">
              <a:off x="0" y="0"/>
              <a:ext cx="4976446" cy="3749904"/>
            </a:xfrm>
            <a:custGeom>
              <a:avLst/>
              <a:gdLst/>
              <a:ahLst/>
              <a:cxnLst/>
              <a:rect r="r" b="b" t="t" l="l"/>
              <a:pathLst>
                <a:path h="3749904" w="4976446">
                  <a:moveTo>
                    <a:pt x="20896" y="0"/>
                  </a:moveTo>
                  <a:lnTo>
                    <a:pt x="4955549" y="0"/>
                  </a:lnTo>
                  <a:cubicBezTo>
                    <a:pt x="4961091" y="0"/>
                    <a:pt x="4966407" y="2202"/>
                    <a:pt x="4970325" y="6120"/>
                  </a:cubicBezTo>
                  <a:cubicBezTo>
                    <a:pt x="4974244" y="10039"/>
                    <a:pt x="4976446" y="15354"/>
                    <a:pt x="4976446" y="20896"/>
                  </a:cubicBezTo>
                  <a:lnTo>
                    <a:pt x="4976446" y="3729008"/>
                  </a:lnTo>
                  <a:cubicBezTo>
                    <a:pt x="4976446" y="3734550"/>
                    <a:pt x="4974244" y="3739865"/>
                    <a:pt x="4970325" y="3743783"/>
                  </a:cubicBezTo>
                  <a:cubicBezTo>
                    <a:pt x="4966407" y="3747703"/>
                    <a:pt x="4961091" y="3749904"/>
                    <a:pt x="4955549" y="3749904"/>
                  </a:cubicBezTo>
                  <a:lnTo>
                    <a:pt x="20896" y="3749904"/>
                  </a:lnTo>
                  <a:cubicBezTo>
                    <a:pt x="15354" y="3749904"/>
                    <a:pt x="10039" y="3747703"/>
                    <a:pt x="6120" y="3743783"/>
                  </a:cubicBezTo>
                  <a:cubicBezTo>
                    <a:pt x="2202" y="3739865"/>
                    <a:pt x="0" y="3734550"/>
                    <a:pt x="0" y="3729008"/>
                  </a:cubicBezTo>
                  <a:lnTo>
                    <a:pt x="0" y="20896"/>
                  </a:lnTo>
                  <a:cubicBezTo>
                    <a:pt x="0" y="15354"/>
                    <a:pt x="2202" y="10039"/>
                    <a:pt x="6120" y="6120"/>
                  </a:cubicBezTo>
                  <a:cubicBezTo>
                    <a:pt x="10039" y="2202"/>
                    <a:pt x="15354" y="0"/>
                    <a:pt x="20896" y="0"/>
                  </a:cubicBezTo>
                  <a:close/>
                </a:path>
              </a:pathLst>
            </a:custGeom>
            <a:solidFill>
              <a:srgbClr val="A03E3C"/>
            </a:solidFill>
          </p:spPr>
        </p:sp>
        <p:sp>
          <p:nvSpPr>
            <p:cNvPr name="TextBox 5" id="5"/>
            <p:cNvSpPr txBox="true"/>
            <p:nvPr/>
          </p:nvSpPr>
          <p:spPr>
            <a:xfrm>
              <a:off x="0" y="-38100"/>
              <a:ext cx="4976446" cy="3788004"/>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631381" y="3767076"/>
            <a:ext cx="15025238" cy="2860657"/>
          </a:xfrm>
          <a:prstGeom prst="rect">
            <a:avLst/>
          </a:prstGeom>
        </p:spPr>
        <p:txBody>
          <a:bodyPr anchor="t" rtlCol="false" tIns="0" lIns="0" bIns="0" rIns="0">
            <a:spAutoFit/>
          </a:bodyPr>
          <a:lstStyle/>
          <a:p>
            <a:pPr algn="ctr">
              <a:lnSpc>
                <a:spcPts val="10999"/>
              </a:lnSpc>
            </a:pPr>
            <a:r>
              <a:rPr lang="en-US" b="true" sz="10999" spc="-164">
                <a:solidFill>
                  <a:srgbClr val="FFFFFF"/>
                </a:solidFill>
                <a:latin typeface="Cy Grotesk Key Semi-Bold"/>
                <a:ea typeface="Cy Grotesk Key Semi-Bold"/>
                <a:cs typeface="Cy Grotesk Key Semi-Bold"/>
                <a:sym typeface="Cy Grotesk Key Semi-Bold"/>
              </a:rPr>
              <a:t>Demostración de Proyecto</a:t>
            </a:r>
          </a:p>
        </p:txBody>
      </p:sp>
      <p:sp>
        <p:nvSpPr>
          <p:cNvPr name="TextBox 7" id="7"/>
          <p:cNvSpPr txBox="true"/>
          <p:nvPr/>
        </p:nvSpPr>
        <p:spPr>
          <a:xfrm rot="0">
            <a:off x="13010699" y="9431606"/>
            <a:ext cx="4401001" cy="450723"/>
          </a:xfrm>
          <a:prstGeom prst="rect">
            <a:avLst/>
          </a:prstGeom>
        </p:spPr>
        <p:txBody>
          <a:bodyPr anchor="t" rtlCol="false" tIns="0" lIns="0" bIns="0" rIns="0">
            <a:spAutoFit/>
          </a:bodyPr>
          <a:lstStyle/>
          <a:p>
            <a:pPr algn="r">
              <a:lnSpc>
                <a:spcPts val="3456"/>
              </a:lnSpc>
            </a:pPr>
            <a:r>
              <a:rPr lang="en-US" b="true" sz="2400">
                <a:solidFill>
                  <a:srgbClr val="F8F7F6"/>
                </a:solidFill>
                <a:latin typeface="Helvetica World Bold"/>
                <a:ea typeface="Helvetica World Bold"/>
                <a:cs typeface="Helvetica World Bold"/>
                <a:sym typeface="Helvetica World Bold"/>
              </a:rPr>
              <a:t>12</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727292" y="2723844"/>
            <a:ext cx="10833417" cy="867415"/>
          </a:xfrm>
          <a:prstGeom prst="rect">
            <a:avLst/>
          </a:prstGeom>
        </p:spPr>
        <p:txBody>
          <a:bodyPr anchor="t" rtlCol="false" tIns="0" lIns="0" bIns="0" rIns="0">
            <a:spAutoFit/>
          </a:bodyPr>
          <a:lstStyle/>
          <a:p>
            <a:pPr algn="ctr">
              <a:lnSpc>
                <a:spcPts val="6400"/>
              </a:lnSpc>
            </a:pPr>
            <a:r>
              <a:rPr lang="en-US" b="true" sz="6400" spc="-96">
                <a:solidFill>
                  <a:srgbClr val="202020"/>
                </a:solidFill>
                <a:latin typeface="Cy Grotesk Key Semi-Bold"/>
                <a:ea typeface="Cy Grotesk Key Semi-Bold"/>
                <a:cs typeface="Cy Grotesk Key Semi-Bold"/>
                <a:sym typeface="Cy Grotesk Key Semi-Bold"/>
              </a:rPr>
              <a:t>Conclusión</a:t>
            </a:r>
          </a:p>
        </p:txBody>
      </p:sp>
      <p:sp>
        <p:nvSpPr>
          <p:cNvPr name="TextBox 6" id="6"/>
          <p:cNvSpPr txBox="true"/>
          <p:nvPr/>
        </p:nvSpPr>
        <p:spPr>
          <a:xfrm rot="0">
            <a:off x="2778244" y="3715865"/>
            <a:ext cx="12731511" cy="3244214"/>
          </a:xfrm>
          <a:prstGeom prst="rect">
            <a:avLst/>
          </a:prstGeom>
        </p:spPr>
        <p:txBody>
          <a:bodyPr anchor="t" rtlCol="false" tIns="0" lIns="0" bIns="0" rIns="0">
            <a:spAutoFit/>
          </a:bodyPr>
          <a:lstStyle/>
          <a:p>
            <a:pPr algn="ctr">
              <a:lnSpc>
                <a:spcPts val="2880"/>
              </a:lnSpc>
            </a:pPr>
            <a:r>
              <a:rPr lang="en-US" sz="2000">
                <a:solidFill>
                  <a:srgbClr val="202020"/>
                </a:solidFill>
                <a:latin typeface="Inter"/>
                <a:ea typeface="Inter"/>
                <a:cs typeface="Inter"/>
                <a:sym typeface="Inter"/>
              </a:rPr>
              <a:t>El proyecto PedidosCD permitió modernizar procesos críticos de Carnes Darras mediante una aplicación móvil que centraliza pedidos, preparación, facturación y reportes diarios. Con esta solución, la empresa mejora la eficiencia operativa, reduce tiempos administrativos y obtiene mayor trazabilidad en todas sus operaciones.</a:t>
            </a:r>
          </a:p>
          <a:p>
            <a:pPr algn="ctr">
              <a:lnSpc>
                <a:spcPts val="2880"/>
              </a:lnSpc>
            </a:pPr>
          </a:p>
          <a:p>
            <a:pPr algn="ctr">
              <a:lnSpc>
                <a:spcPts val="2880"/>
              </a:lnSpc>
            </a:pPr>
            <a:r>
              <a:rPr lang="en-US" sz="2000">
                <a:solidFill>
                  <a:srgbClr val="202020"/>
                </a:solidFill>
                <a:latin typeface="Inter"/>
                <a:ea typeface="Inter"/>
                <a:cs typeface="Inter"/>
                <a:sym typeface="Inter"/>
              </a:rPr>
              <a:t>El</a:t>
            </a:r>
            <a:r>
              <a:rPr lang="en-US" sz="2000">
                <a:solidFill>
                  <a:srgbClr val="202020"/>
                </a:solidFill>
                <a:latin typeface="Inter"/>
                <a:ea typeface="Inter"/>
                <a:cs typeface="Inter"/>
                <a:sym typeface="Inter"/>
              </a:rPr>
              <a:t> proyecto no solo beneficiará a la empresa, sino que también fortaleció nuestras competencias profesionales en desarrollo de software, gestión de proyectos y aseguramiento de calidad, consolidando habilidades esenciales para nuestro futuro laboral.</a:t>
            </a:r>
          </a:p>
          <a:p>
            <a:pPr algn="ctr">
              <a:lnSpc>
                <a:spcPts val="2880"/>
              </a:lnSpc>
            </a:pPr>
          </a:p>
        </p:txBody>
      </p:sp>
      <p:sp>
        <p:nvSpPr>
          <p:cNvPr name="TextBox 7" id="7"/>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FFFFFF"/>
                </a:solidFill>
                <a:latin typeface="Helvetica World Bold"/>
                <a:ea typeface="Helvetica World Bold"/>
                <a:cs typeface="Helvetica World Bold"/>
                <a:sym typeface="Helvetica World Bold"/>
              </a:rPr>
              <a:t>13</a:t>
            </a:r>
          </a:p>
        </p:txBody>
      </p:sp>
      <p:sp>
        <p:nvSpPr>
          <p:cNvPr name="Freeform 8" id="8"/>
          <p:cNvSpPr/>
          <p:nvPr/>
        </p:nvSpPr>
        <p:spPr>
          <a:xfrm flipH="false" flipV="false" rot="-10800000">
            <a:off x="14551151" y="612485"/>
            <a:ext cx="5241897" cy="1982390"/>
          </a:xfrm>
          <a:custGeom>
            <a:avLst/>
            <a:gdLst/>
            <a:ahLst/>
            <a:cxnLst/>
            <a:rect r="r" b="b" t="t" l="l"/>
            <a:pathLst>
              <a:path h="1982390" w="5241897">
                <a:moveTo>
                  <a:pt x="0" y="0"/>
                </a:moveTo>
                <a:lnTo>
                  <a:pt x="5241897" y="0"/>
                </a:lnTo>
                <a:lnTo>
                  <a:pt x="5241897" y="1982390"/>
                </a:lnTo>
                <a:lnTo>
                  <a:pt x="0" y="1982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1077725" y="6960079"/>
            <a:ext cx="5569110" cy="1863120"/>
          </a:xfrm>
          <a:custGeom>
            <a:avLst/>
            <a:gdLst/>
            <a:ahLst/>
            <a:cxnLst/>
            <a:rect r="r" b="b" t="t" l="l"/>
            <a:pathLst>
              <a:path h="1863120" w="5569110">
                <a:moveTo>
                  <a:pt x="0" y="0"/>
                </a:moveTo>
                <a:lnTo>
                  <a:pt x="5569110" y="0"/>
                </a:lnTo>
                <a:lnTo>
                  <a:pt x="5569110" y="1863120"/>
                </a:lnTo>
                <a:lnTo>
                  <a:pt x="0" y="18631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965107" y="2979806"/>
            <a:ext cx="10357787" cy="3251012"/>
          </a:xfrm>
          <a:prstGeom prst="rect">
            <a:avLst/>
          </a:prstGeom>
        </p:spPr>
        <p:txBody>
          <a:bodyPr anchor="t" rtlCol="false" tIns="0" lIns="0" bIns="0" rIns="0">
            <a:spAutoFit/>
          </a:bodyPr>
          <a:lstStyle/>
          <a:p>
            <a:pPr algn="ctr">
              <a:lnSpc>
                <a:spcPts val="12492"/>
              </a:lnSpc>
            </a:pPr>
            <a:r>
              <a:rPr lang="en-US" b="true" sz="12492" spc="-187">
                <a:solidFill>
                  <a:srgbClr val="A03E3C"/>
                </a:solidFill>
                <a:latin typeface="Cy Grotesk Key Bold"/>
                <a:ea typeface="Cy Grotesk Key Bold"/>
                <a:cs typeface="Cy Grotesk Key Bold"/>
                <a:sym typeface="Cy Grotesk Key Bold"/>
              </a:rPr>
              <a:t>¡Muchas gracias!</a:t>
            </a:r>
          </a:p>
        </p:txBody>
      </p:sp>
      <p:grpSp>
        <p:nvGrpSpPr>
          <p:cNvPr name="Group 3" id="3"/>
          <p:cNvGrpSpPr/>
          <p:nvPr/>
        </p:nvGrpSpPr>
        <p:grpSpPr>
          <a:xfrm rot="0">
            <a:off x="-748710" y="9258300"/>
            <a:ext cx="19785420" cy="597310"/>
            <a:chOff x="0" y="0"/>
            <a:chExt cx="5210975" cy="157316"/>
          </a:xfrm>
        </p:grpSpPr>
        <p:sp>
          <p:nvSpPr>
            <p:cNvPr name="Freeform 4" id="4"/>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5" id="5"/>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303801" y="2241660"/>
            <a:ext cx="1019092" cy="1019092"/>
          </a:xfrm>
          <a:custGeom>
            <a:avLst/>
            <a:gdLst/>
            <a:ahLst/>
            <a:cxnLst/>
            <a:rect r="r" b="b" t="t" l="l"/>
            <a:pathLst>
              <a:path h="1019092" w="1019092">
                <a:moveTo>
                  <a:pt x="0" y="0"/>
                </a:moveTo>
                <a:lnTo>
                  <a:pt x="1019092" y="0"/>
                </a:lnTo>
                <a:lnTo>
                  <a:pt x="1019092" y="1019093"/>
                </a:lnTo>
                <a:lnTo>
                  <a:pt x="0" y="10190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3601238" y="6859722"/>
            <a:ext cx="3164398" cy="477536"/>
          </a:xfrm>
          <a:custGeom>
            <a:avLst/>
            <a:gdLst/>
            <a:ahLst/>
            <a:cxnLst/>
            <a:rect r="r" b="b" t="t" l="l"/>
            <a:pathLst>
              <a:path h="477536" w="3164398">
                <a:moveTo>
                  <a:pt x="0" y="0"/>
                </a:moveTo>
                <a:lnTo>
                  <a:pt x="3164399" y="0"/>
                </a:lnTo>
                <a:lnTo>
                  <a:pt x="3164399" y="477537"/>
                </a:lnTo>
                <a:lnTo>
                  <a:pt x="0" y="477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DAG45uPy6xo</dc:identifier>
  <dcterms:modified xsi:type="dcterms:W3CDTF">2011-08-01T06:04:30Z</dcterms:modified>
  <cp:revision>1</cp:revision>
  <dc:title>PPT PedidosCD</dc:title>
</cp:coreProperties>
</file>