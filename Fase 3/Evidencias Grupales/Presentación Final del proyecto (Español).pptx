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y Grotesk Key Ultra-Bold" charset="1" panose="00000900000000000000"/>
      <p:regular r:id="rId23"/>
    </p:embeddedFont>
    <p:embeddedFont>
      <p:font typeface="Cy Grotesk Key Bold" charset="1" panose="00000800000000000000"/>
      <p:regular r:id="rId24"/>
    </p:embeddedFont>
    <p:embeddedFont>
      <p:font typeface="Inter Bold" charset="1" panose="020B0802030000000004"/>
      <p:regular r:id="rId25"/>
    </p:embeddedFont>
    <p:embeddedFont>
      <p:font typeface="Inter" charset="1" panose="020B0502030000000004"/>
      <p:regular r:id="rId26"/>
    </p:embeddedFont>
    <p:embeddedFont>
      <p:font typeface="Cy Grotesk Key Semi-Bold" charset="1" panose="00000700000000000000"/>
      <p:regular r:id="rId27"/>
    </p:embeddedFont>
    <p:embeddedFont>
      <p:font typeface="Cy Grotesk Key" charset="1" panose="00000500000000000000"/>
      <p:regular r:id="rId28"/>
    </p:embeddedFont>
    <p:embeddedFont>
      <p:font typeface="Helvetica World Bold" charset="1" panose="020B0800040000020004"/>
      <p:regular r:id="rId29"/>
    </p:embeddedFont>
    <p:embeddedFont>
      <p:font typeface="Inter Semi-Bold" charset="1" panose="02000503000000020004"/>
      <p:regular r:id="rId30"/>
    </p:embeddedFont>
    <p:embeddedFont>
      <p:font typeface="Open Sans Bold" charset="1" panose="020B080603050402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5.pn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6.png" Type="http://schemas.openxmlformats.org/officeDocument/2006/relationships/image"/><Relationship Id="rId8" Target="../media/image41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43.png" Type="http://schemas.openxmlformats.org/officeDocument/2006/relationships/image"/><Relationship Id="rId5" Target="../embeddings/oleObject2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8.png" Type="http://schemas.openxmlformats.org/officeDocument/2006/relationships/image"/><Relationship Id="rId12" Target="../media/image53.png" Type="http://schemas.openxmlformats.org/officeDocument/2006/relationships/image"/><Relationship Id="rId13" Target="../media/image54.svg" Type="http://schemas.openxmlformats.org/officeDocument/2006/relationships/image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50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6.png" Type="http://schemas.openxmlformats.org/officeDocument/2006/relationships/image"/><Relationship Id="rId5" Target="../media/image5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60.png" Type="http://schemas.openxmlformats.org/officeDocument/2006/relationships/image"/><Relationship Id="rId5" Target="../media/image61.svg" Type="http://schemas.openxmlformats.org/officeDocument/2006/relationships/image"/><Relationship Id="rId6" Target="../media/image5.png" Type="http://schemas.openxmlformats.org/officeDocument/2006/relationships/image"/><Relationship Id="rId7" Target="../media/image10.png" Type="http://schemas.openxmlformats.org/officeDocument/2006/relationships/image"/><Relationship Id="rId8" Target="../media/image8.png" Type="http://schemas.openxmlformats.org/officeDocument/2006/relationships/image"/><Relationship Id="rId9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92940" y="2636897"/>
            <a:ext cx="12102119" cy="2860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92"/>
              </a:lnSpc>
            </a:pPr>
            <a:r>
              <a:rPr lang="en-US" b="true" sz="10992" spc="-164">
                <a:solidFill>
                  <a:srgbClr val="A42811"/>
                </a:solidFill>
                <a:latin typeface="Cy Grotesk Key Ultra-Bold"/>
                <a:ea typeface="Cy Grotesk Key Ultra-Bold"/>
                <a:cs typeface="Cy Grotesk Key Ultra-Bold"/>
                <a:sym typeface="Cy Grotesk Key Ultra-Bold"/>
              </a:rPr>
              <a:t>Proyecto APT: PEDIDOS CD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748710" y="9067797"/>
            <a:ext cx="19785420" cy="597310"/>
            <a:chOff x="0" y="0"/>
            <a:chExt cx="5210975" cy="1573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10975" cy="157316"/>
            </a:xfrm>
            <a:custGeom>
              <a:avLst/>
              <a:gdLst/>
              <a:ahLst/>
              <a:cxnLst/>
              <a:rect r="r" b="b" t="t" l="l"/>
              <a:pathLst>
                <a:path h="157316" w="5210975">
                  <a:moveTo>
                    <a:pt x="19956" y="0"/>
                  </a:moveTo>
                  <a:lnTo>
                    <a:pt x="5191019" y="0"/>
                  </a:lnTo>
                  <a:cubicBezTo>
                    <a:pt x="5202040" y="0"/>
                    <a:pt x="5210975" y="8935"/>
                    <a:pt x="5210975" y="19956"/>
                  </a:cubicBezTo>
                  <a:lnTo>
                    <a:pt x="5210975" y="137360"/>
                  </a:lnTo>
                  <a:cubicBezTo>
                    <a:pt x="5210975" y="142653"/>
                    <a:pt x="5208872" y="147729"/>
                    <a:pt x="5205130" y="151471"/>
                  </a:cubicBezTo>
                  <a:cubicBezTo>
                    <a:pt x="5201388" y="155214"/>
                    <a:pt x="5196312" y="157316"/>
                    <a:pt x="5191019" y="157316"/>
                  </a:cubicBezTo>
                  <a:lnTo>
                    <a:pt x="19956" y="157316"/>
                  </a:lnTo>
                  <a:cubicBezTo>
                    <a:pt x="8935" y="157316"/>
                    <a:pt x="0" y="148382"/>
                    <a:pt x="0" y="137360"/>
                  </a:cubicBezTo>
                  <a:lnTo>
                    <a:pt x="0" y="19956"/>
                  </a:lnTo>
                  <a:cubicBezTo>
                    <a:pt x="0" y="8935"/>
                    <a:pt x="8935" y="0"/>
                    <a:pt x="19956" y="0"/>
                  </a:cubicBezTo>
                  <a:close/>
                </a:path>
              </a:pathLst>
            </a:custGeom>
            <a:solidFill>
              <a:srgbClr val="A4281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10975" cy="195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748710" y="9258300"/>
            <a:ext cx="19785420" cy="597310"/>
            <a:chOff x="0" y="0"/>
            <a:chExt cx="5210975" cy="1573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10975" cy="157316"/>
            </a:xfrm>
            <a:custGeom>
              <a:avLst/>
              <a:gdLst/>
              <a:ahLst/>
              <a:cxnLst/>
              <a:rect r="r" b="b" t="t" l="l"/>
              <a:pathLst>
                <a:path h="157316" w="5210975">
                  <a:moveTo>
                    <a:pt x="19956" y="0"/>
                  </a:moveTo>
                  <a:lnTo>
                    <a:pt x="5191019" y="0"/>
                  </a:lnTo>
                  <a:cubicBezTo>
                    <a:pt x="5202040" y="0"/>
                    <a:pt x="5210975" y="8935"/>
                    <a:pt x="5210975" y="19956"/>
                  </a:cubicBezTo>
                  <a:lnTo>
                    <a:pt x="5210975" y="137360"/>
                  </a:lnTo>
                  <a:cubicBezTo>
                    <a:pt x="5210975" y="142653"/>
                    <a:pt x="5208872" y="147729"/>
                    <a:pt x="5205130" y="151471"/>
                  </a:cubicBezTo>
                  <a:cubicBezTo>
                    <a:pt x="5201388" y="155214"/>
                    <a:pt x="5196312" y="157316"/>
                    <a:pt x="5191019" y="157316"/>
                  </a:cubicBezTo>
                  <a:lnTo>
                    <a:pt x="19956" y="157316"/>
                  </a:lnTo>
                  <a:cubicBezTo>
                    <a:pt x="8935" y="157316"/>
                    <a:pt x="0" y="148382"/>
                    <a:pt x="0" y="137360"/>
                  </a:cubicBezTo>
                  <a:lnTo>
                    <a:pt x="0" y="19956"/>
                  </a:lnTo>
                  <a:cubicBezTo>
                    <a:pt x="0" y="8935"/>
                    <a:pt x="8935" y="0"/>
                    <a:pt x="19956" y="0"/>
                  </a:cubicBezTo>
                  <a:close/>
                </a:path>
              </a:pathLst>
            </a:custGeom>
            <a:solidFill>
              <a:srgbClr val="862D2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210975" cy="195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800000">
            <a:off x="14551151" y="612485"/>
            <a:ext cx="5241897" cy="1982390"/>
          </a:xfrm>
          <a:custGeom>
            <a:avLst/>
            <a:gdLst/>
            <a:ahLst/>
            <a:cxnLst/>
            <a:rect r="r" b="b" t="t" l="l"/>
            <a:pathLst>
              <a:path h="1982390" w="5241897">
                <a:moveTo>
                  <a:pt x="0" y="0"/>
                </a:moveTo>
                <a:lnTo>
                  <a:pt x="5241897" y="0"/>
                </a:lnTo>
                <a:lnTo>
                  <a:pt x="5241897" y="1982390"/>
                </a:lnTo>
                <a:lnTo>
                  <a:pt x="0" y="19823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-1077725" y="6329890"/>
            <a:ext cx="5569110" cy="1863120"/>
          </a:xfrm>
          <a:custGeom>
            <a:avLst/>
            <a:gdLst/>
            <a:ahLst/>
            <a:cxnLst/>
            <a:rect r="r" b="b" t="t" l="l"/>
            <a:pathLst>
              <a:path h="1863120" w="5569110">
                <a:moveTo>
                  <a:pt x="0" y="0"/>
                </a:moveTo>
                <a:lnTo>
                  <a:pt x="5569110" y="0"/>
                </a:lnTo>
                <a:lnTo>
                  <a:pt x="5569110" y="1863120"/>
                </a:lnTo>
                <a:lnTo>
                  <a:pt x="0" y="1863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385892" y="1028700"/>
            <a:ext cx="1307593" cy="1310871"/>
          </a:xfrm>
          <a:custGeom>
            <a:avLst/>
            <a:gdLst/>
            <a:ahLst/>
            <a:cxnLst/>
            <a:rect r="r" b="b" t="t" l="l"/>
            <a:pathLst>
              <a:path h="1310871" w="1307593">
                <a:moveTo>
                  <a:pt x="0" y="0"/>
                </a:moveTo>
                <a:lnTo>
                  <a:pt x="1307593" y="0"/>
                </a:lnTo>
                <a:lnTo>
                  <a:pt x="1307593" y="1310871"/>
                </a:lnTo>
                <a:lnTo>
                  <a:pt x="0" y="13108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70046" y="5182307"/>
            <a:ext cx="1307593" cy="1310871"/>
          </a:xfrm>
          <a:custGeom>
            <a:avLst/>
            <a:gdLst/>
            <a:ahLst/>
            <a:cxnLst/>
            <a:rect r="r" b="b" t="t" l="l"/>
            <a:pathLst>
              <a:path h="1310871" w="1307593">
                <a:moveTo>
                  <a:pt x="0" y="0"/>
                </a:moveTo>
                <a:lnTo>
                  <a:pt x="1307594" y="0"/>
                </a:lnTo>
                <a:lnTo>
                  <a:pt x="1307594" y="1310870"/>
                </a:lnTo>
                <a:lnTo>
                  <a:pt x="0" y="13108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564650" y="7471763"/>
            <a:ext cx="4454440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69"/>
              </a:lnSpc>
              <a:spcBef>
                <a:spcPct val="0"/>
              </a:spcBef>
            </a:pPr>
            <a:r>
              <a:rPr lang="en-US" b="true" sz="1899">
                <a:solidFill>
                  <a:srgbClr val="2B2B2B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NOMBRE DEL PROYECTO: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64650" y="7814130"/>
            <a:ext cx="4454440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69"/>
              </a:lnSpc>
              <a:spcBef>
                <a:spcPct val="0"/>
              </a:spcBef>
            </a:pPr>
            <a:r>
              <a:rPr lang="en-US" b="true" sz="1899">
                <a:solidFill>
                  <a:srgbClr val="2B2B2B"/>
                </a:solidFill>
                <a:latin typeface="Inter Bold"/>
                <a:ea typeface="Inter Bold"/>
                <a:cs typeface="Inter Bold"/>
                <a:sym typeface="Inter Bold"/>
              </a:rPr>
              <a:t>PedidosCD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75473" y="7471763"/>
            <a:ext cx="4454440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69"/>
              </a:lnSpc>
              <a:spcBef>
                <a:spcPct val="0"/>
              </a:spcBef>
            </a:pPr>
            <a:r>
              <a:rPr lang="en-US" b="true" sz="1899">
                <a:solidFill>
                  <a:srgbClr val="2B2B2B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NOMBRES: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75473" y="7814130"/>
            <a:ext cx="4454440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9"/>
              </a:lnSpc>
            </a:pPr>
            <a:r>
              <a:rPr lang="en-US" sz="1899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Marcelo Darras</a:t>
            </a:r>
          </a:p>
          <a:p>
            <a:pPr algn="ctr" marL="0" indent="0" lvl="0">
              <a:lnSpc>
                <a:spcPts val="2469"/>
              </a:lnSpc>
              <a:spcBef>
                <a:spcPct val="0"/>
              </a:spcBef>
            </a:pPr>
            <a:r>
              <a:rPr lang="en-US" sz="1899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Jesús Delgado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20284" y="7445677"/>
            <a:ext cx="4454440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69"/>
              </a:lnSpc>
              <a:spcBef>
                <a:spcPct val="0"/>
              </a:spcBef>
            </a:pPr>
            <a:r>
              <a:rPr lang="en-US" b="true" sz="1899">
                <a:solidFill>
                  <a:srgbClr val="2B2B2B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DOCENTE: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20284" y="7788044"/>
            <a:ext cx="4454440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69"/>
              </a:lnSpc>
              <a:spcBef>
                <a:spcPct val="0"/>
              </a:spcBef>
            </a:pPr>
            <a:r>
              <a:rPr lang="en-US" sz="1899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Jorge Castro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48710" y="-1148058"/>
            <a:ext cx="8037268" cy="14237917"/>
            <a:chOff x="0" y="0"/>
            <a:chExt cx="2116811" cy="37499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6811" cy="3749904"/>
            </a:xfrm>
            <a:custGeom>
              <a:avLst/>
              <a:gdLst/>
              <a:ahLst/>
              <a:cxnLst/>
              <a:rect r="r" b="b" t="t" l="l"/>
              <a:pathLst>
                <a:path h="3749904" w="2116811">
                  <a:moveTo>
                    <a:pt x="49126" y="0"/>
                  </a:moveTo>
                  <a:lnTo>
                    <a:pt x="2067686" y="0"/>
                  </a:lnTo>
                  <a:cubicBezTo>
                    <a:pt x="2080715" y="0"/>
                    <a:pt x="2093210" y="5176"/>
                    <a:pt x="2102423" y="14389"/>
                  </a:cubicBezTo>
                  <a:cubicBezTo>
                    <a:pt x="2111636" y="23602"/>
                    <a:pt x="2116811" y="36097"/>
                    <a:pt x="2116811" y="49126"/>
                  </a:cubicBezTo>
                  <a:lnTo>
                    <a:pt x="2116811" y="3700778"/>
                  </a:lnTo>
                  <a:cubicBezTo>
                    <a:pt x="2116811" y="3713807"/>
                    <a:pt x="2111636" y="3726302"/>
                    <a:pt x="2102423" y="3735515"/>
                  </a:cubicBezTo>
                  <a:cubicBezTo>
                    <a:pt x="2093210" y="3744728"/>
                    <a:pt x="2080715" y="3749904"/>
                    <a:pt x="2067686" y="3749904"/>
                  </a:cubicBezTo>
                  <a:lnTo>
                    <a:pt x="49126" y="3749904"/>
                  </a:lnTo>
                  <a:cubicBezTo>
                    <a:pt x="36097" y="3749904"/>
                    <a:pt x="23602" y="3744728"/>
                    <a:pt x="14389" y="3735515"/>
                  </a:cubicBezTo>
                  <a:cubicBezTo>
                    <a:pt x="5176" y="3726302"/>
                    <a:pt x="0" y="3713807"/>
                    <a:pt x="0" y="3700778"/>
                  </a:cubicBezTo>
                  <a:lnTo>
                    <a:pt x="0" y="49126"/>
                  </a:lnTo>
                  <a:cubicBezTo>
                    <a:pt x="0" y="36097"/>
                    <a:pt x="5176" y="23602"/>
                    <a:pt x="14389" y="14389"/>
                  </a:cubicBezTo>
                  <a:cubicBezTo>
                    <a:pt x="23602" y="5176"/>
                    <a:pt x="36097" y="0"/>
                    <a:pt x="49126" y="0"/>
                  </a:cubicBezTo>
                  <a:close/>
                </a:path>
              </a:pathLst>
            </a:custGeom>
            <a:solidFill>
              <a:srgbClr val="862D2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16811" cy="3788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159580"/>
            <a:ext cx="8449277" cy="120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b="true" sz="8999" spc="-134">
                <a:solidFill>
                  <a:srgbClr val="FFFFFF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Índice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57766" y="1000891"/>
            <a:ext cx="10330234" cy="819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72"/>
              </a:lnSpc>
            </a:pPr>
            <a:r>
              <a:rPr lang="en-US" b="true" sz="3800" spc="-57" strike="noStrike" u="none">
                <a:solidFill>
                  <a:srgbClr val="00000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01. </a:t>
            </a:r>
            <a:r>
              <a:rPr lang="en-US" sz="3800" spc="-57" strike="noStrike" u="none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Contexto</a:t>
            </a:r>
          </a:p>
          <a:p>
            <a:pPr algn="just">
              <a:lnSpc>
                <a:spcPts val="5472"/>
              </a:lnSpc>
            </a:pPr>
            <a:r>
              <a:rPr lang="en-US" b="true" sz="3800" spc="-57" strike="noStrike" u="none">
                <a:solidFill>
                  <a:srgbClr val="00000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02. </a:t>
            </a:r>
            <a:r>
              <a:rPr lang="en-US" sz="3800" spc="-57" strike="noStrike" u="none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Problema</a:t>
            </a:r>
          </a:p>
          <a:p>
            <a:pPr algn="just">
              <a:lnSpc>
                <a:spcPts val="5472"/>
              </a:lnSpc>
            </a:pPr>
            <a:r>
              <a:rPr lang="en-US" b="true" sz="3800" spc="-57" strike="noStrike" u="none">
                <a:solidFill>
                  <a:srgbClr val="00000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03. </a:t>
            </a:r>
            <a:r>
              <a:rPr lang="en-US" sz="3800" spc="-57" strike="noStrike" u="none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Solución</a:t>
            </a:r>
          </a:p>
          <a:p>
            <a:pPr algn="just">
              <a:lnSpc>
                <a:spcPts val="5472"/>
              </a:lnSpc>
            </a:pPr>
            <a:r>
              <a:rPr lang="en-US" b="true" sz="3800" spc="-57" strike="noStrike" u="none">
                <a:solidFill>
                  <a:srgbClr val="0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04.</a:t>
            </a:r>
            <a:r>
              <a:rPr lang="en-US" sz="3800" spc="-57" strike="noStrike" u="none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Público objetivo</a:t>
            </a:r>
          </a:p>
          <a:p>
            <a:pPr algn="just">
              <a:lnSpc>
                <a:spcPts val="5472"/>
              </a:lnSpc>
            </a:pPr>
            <a:r>
              <a:rPr lang="en-US" b="true" sz="3800" spc="-57" strike="noStrike" u="none">
                <a:solidFill>
                  <a:srgbClr val="00000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05. y 06. </a:t>
            </a:r>
            <a:r>
              <a:rPr lang="en-US" sz="3800" spc="-57" strike="noStrike" u="none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Estado de pedidos</a:t>
            </a:r>
          </a:p>
          <a:p>
            <a:pPr algn="just">
              <a:lnSpc>
                <a:spcPts val="5472"/>
              </a:lnSpc>
            </a:pPr>
            <a:r>
              <a:rPr lang="en-US" b="true" sz="3800" spc="-57" strike="noStrike" u="none">
                <a:solidFill>
                  <a:srgbClr val="00000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07. </a:t>
            </a:r>
            <a:r>
              <a:rPr lang="en-US" sz="3800" spc="-57" strike="noStrike" u="none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Objetivo general</a:t>
            </a:r>
          </a:p>
          <a:p>
            <a:pPr algn="just">
              <a:lnSpc>
                <a:spcPts val="5472"/>
              </a:lnSpc>
            </a:pPr>
            <a:r>
              <a:rPr lang="en-US" b="true" sz="3800" spc="-57" strike="noStrike" u="none">
                <a:solidFill>
                  <a:srgbClr val="000000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08.</a:t>
            </a:r>
            <a:r>
              <a:rPr lang="en-US" sz="3800" spc="-57" strike="noStrike" u="none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Objetivos especificos</a:t>
            </a:r>
          </a:p>
          <a:p>
            <a:pPr algn="just">
              <a:lnSpc>
                <a:spcPts val="5472"/>
              </a:lnSpc>
            </a:pPr>
            <a:r>
              <a:rPr lang="en-US" b="true" sz="3800" spc="-57" strike="noStrike" u="none">
                <a:solidFill>
                  <a:srgbClr val="00000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09. </a:t>
            </a:r>
            <a:r>
              <a:rPr lang="en-US" sz="3800" spc="-57" strike="noStrike" u="none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Metodología</a:t>
            </a:r>
          </a:p>
          <a:p>
            <a:pPr algn="just">
              <a:lnSpc>
                <a:spcPts val="5472"/>
              </a:lnSpc>
            </a:pPr>
            <a:r>
              <a:rPr lang="en-US" b="true" sz="3800" spc="-57" strike="noStrike" u="none">
                <a:solidFill>
                  <a:srgbClr val="00000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10 </a:t>
            </a:r>
            <a:r>
              <a:rPr lang="en-US" sz="3800" spc="-57" strike="noStrike" u="none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Cronograma</a:t>
            </a:r>
          </a:p>
          <a:p>
            <a:pPr algn="just">
              <a:lnSpc>
                <a:spcPts val="5472"/>
              </a:lnSpc>
            </a:pPr>
            <a:r>
              <a:rPr lang="en-US" b="true" sz="3800" spc="-57" strike="noStrike" u="none">
                <a:solidFill>
                  <a:srgbClr val="00000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11. y  12. </a:t>
            </a:r>
            <a:r>
              <a:rPr lang="en-US" sz="3800" spc="-57" strike="noStrike" u="none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Arquitectura y stack tecnológico</a:t>
            </a:r>
          </a:p>
          <a:p>
            <a:pPr algn="just">
              <a:lnSpc>
                <a:spcPts val="5472"/>
              </a:lnSpc>
            </a:pPr>
            <a:r>
              <a:rPr lang="en-US" b="true" sz="3800" spc="-57" strike="noStrike" u="none">
                <a:solidFill>
                  <a:srgbClr val="00000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13. </a:t>
            </a:r>
            <a:r>
              <a:rPr lang="en-US" sz="3800" spc="-57" strike="noStrike" u="none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Demostración del Proyecto</a:t>
            </a:r>
          </a:p>
          <a:p>
            <a:pPr algn="just">
              <a:lnSpc>
                <a:spcPts val="5472"/>
              </a:lnSpc>
            </a:pPr>
            <a:r>
              <a:rPr lang="en-US" b="true" sz="3800" spc="-57" strike="noStrike" u="none">
                <a:solidFill>
                  <a:srgbClr val="00000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14. </a:t>
            </a:r>
            <a:r>
              <a:rPr lang="en-US" sz="3800" spc="-57" strike="noStrike" u="none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Conclusión</a:t>
            </a:r>
          </a:p>
        </p:txBody>
      </p:sp>
      <p:grpSp>
        <p:nvGrpSpPr>
          <p:cNvPr name="Group 7" id="7"/>
          <p:cNvGrpSpPr/>
          <p:nvPr/>
        </p:nvGrpSpPr>
        <p:grpSpPr>
          <a:xfrm rot="-5400000">
            <a:off x="-2708992" y="3071217"/>
            <a:ext cx="19785420" cy="597310"/>
            <a:chOff x="0" y="0"/>
            <a:chExt cx="5210975" cy="1573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10975" cy="157316"/>
            </a:xfrm>
            <a:custGeom>
              <a:avLst/>
              <a:gdLst/>
              <a:ahLst/>
              <a:cxnLst/>
              <a:rect r="r" b="b" t="t" l="l"/>
              <a:pathLst>
                <a:path h="157316" w="5210975">
                  <a:moveTo>
                    <a:pt x="19956" y="0"/>
                  </a:moveTo>
                  <a:lnTo>
                    <a:pt x="5191019" y="0"/>
                  </a:lnTo>
                  <a:cubicBezTo>
                    <a:pt x="5202040" y="0"/>
                    <a:pt x="5210975" y="8935"/>
                    <a:pt x="5210975" y="19956"/>
                  </a:cubicBezTo>
                  <a:lnTo>
                    <a:pt x="5210975" y="137360"/>
                  </a:lnTo>
                  <a:cubicBezTo>
                    <a:pt x="5210975" y="142653"/>
                    <a:pt x="5208872" y="147729"/>
                    <a:pt x="5205130" y="151471"/>
                  </a:cubicBezTo>
                  <a:cubicBezTo>
                    <a:pt x="5201388" y="155214"/>
                    <a:pt x="5196312" y="157316"/>
                    <a:pt x="5191019" y="157316"/>
                  </a:cubicBezTo>
                  <a:lnTo>
                    <a:pt x="19956" y="157316"/>
                  </a:lnTo>
                  <a:cubicBezTo>
                    <a:pt x="8935" y="157316"/>
                    <a:pt x="0" y="148382"/>
                    <a:pt x="0" y="137360"/>
                  </a:cubicBezTo>
                  <a:lnTo>
                    <a:pt x="0" y="19956"/>
                  </a:lnTo>
                  <a:cubicBezTo>
                    <a:pt x="0" y="8935"/>
                    <a:pt x="8935" y="0"/>
                    <a:pt x="19956" y="0"/>
                  </a:cubicBezTo>
                  <a:close/>
                </a:path>
              </a:pathLst>
            </a:custGeom>
            <a:solidFill>
              <a:srgbClr val="A4281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10975" cy="195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48710" y="9258300"/>
            <a:ext cx="19785420" cy="597310"/>
            <a:chOff x="0" y="0"/>
            <a:chExt cx="5210975" cy="157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10975" cy="157316"/>
            </a:xfrm>
            <a:custGeom>
              <a:avLst/>
              <a:gdLst/>
              <a:ahLst/>
              <a:cxnLst/>
              <a:rect r="r" b="b" t="t" l="l"/>
              <a:pathLst>
                <a:path h="157316" w="5210975">
                  <a:moveTo>
                    <a:pt x="19956" y="0"/>
                  </a:moveTo>
                  <a:lnTo>
                    <a:pt x="5191019" y="0"/>
                  </a:lnTo>
                  <a:cubicBezTo>
                    <a:pt x="5202040" y="0"/>
                    <a:pt x="5210975" y="8935"/>
                    <a:pt x="5210975" y="19956"/>
                  </a:cubicBezTo>
                  <a:lnTo>
                    <a:pt x="5210975" y="137360"/>
                  </a:lnTo>
                  <a:cubicBezTo>
                    <a:pt x="5210975" y="142653"/>
                    <a:pt x="5208872" y="147729"/>
                    <a:pt x="5205130" y="151471"/>
                  </a:cubicBezTo>
                  <a:cubicBezTo>
                    <a:pt x="5201388" y="155214"/>
                    <a:pt x="5196312" y="157316"/>
                    <a:pt x="5191019" y="157316"/>
                  </a:cubicBezTo>
                  <a:lnTo>
                    <a:pt x="19956" y="157316"/>
                  </a:lnTo>
                  <a:cubicBezTo>
                    <a:pt x="8935" y="157316"/>
                    <a:pt x="0" y="148382"/>
                    <a:pt x="0" y="137360"/>
                  </a:cubicBezTo>
                  <a:lnTo>
                    <a:pt x="0" y="19956"/>
                  </a:lnTo>
                  <a:cubicBezTo>
                    <a:pt x="0" y="8935"/>
                    <a:pt x="8935" y="0"/>
                    <a:pt x="19956" y="0"/>
                  </a:cubicBezTo>
                  <a:close/>
                </a:path>
              </a:pathLst>
            </a:custGeom>
            <a:solidFill>
              <a:srgbClr val="A4281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10975" cy="195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487609" y="446404"/>
            <a:ext cx="5226618" cy="4079035"/>
          </a:xfrm>
          <a:custGeom>
            <a:avLst/>
            <a:gdLst/>
            <a:ahLst/>
            <a:cxnLst/>
            <a:rect r="r" b="b" t="t" l="l"/>
            <a:pathLst>
              <a:path h="4079035" w="5226618">
                <a:moveTo>
                  <a:pt x="0" y="0"/>
                </a:moveTo>
                <a:lnTo>
                  <a:pt x="5226618" y="0"/>
                </a:lnTo>
                <a:lnTo>
                  <a:pt x="5226618" y="4079035"/>
                </a:lnTo>
                <a:lnTo>
                  <a:pt x="0" y="4079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1240189" cy="1243297"/>
          </a:xfrm>
          <a:custGeom>
            <a:avLst/>
            <a:gdLst/>
            <a:ahLst/>
            <a:cxnLst/>
            <a:rect r="r" b="b" t="t" l="l"/>
            <a:pathLst>
              <a:path h="1243297" w="1240189">
                <a:moveTo>
                  <a:pt x="0" y="0"/>
                </a:moveTo>
                <a:lnTo>
                  <a:pt x="1240189" y="0"/>
                </a:lnTo>
                <a:lnTo>
                  <a:pt x="1240189" y="1243297"/>
                </a:lnTo>
                <a:lnTo>
                  <a:pt x="0" y="12432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50556" y="4525439"/>
            <a:ext cx="6700725" cy="4104194"/>
          </a:xfrm>
          <a:custGeom>
            <a:avLst/>
            <a:gdLst/>
            <a:ahLst/>
            <a:cxnLst/>
            <a:rect r="r" b="b" t="t" l="l"/>
            <a:pathLst>
              <a:path h="4104194" w="6700725">
                <a:moveTo>
                  <a:pt x="0" y="0"/>
                </a:moveTo>
                <a:lnTo>
                  <a:pt x="6700725" y="0"/>
                </a:lnTo>
                <a:lnTo>
                  <a:pt x="6700725" y="4104194"/>
                </a:lnTo>
                <a:lnTo>
                  <a:pt x="0" y="4104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04950" y="2687721"/>
            <a:ext cx="8449277" cy="86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6400" spc="-96" b="true">
                <a:solidFill>
                  <a:srgbClr val="20202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Contexto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4950" y="3672852"/>
            <a:ext cx="7949130" cy="215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Carnes Darras es una empresa chilena dedicada a la distribución de carnes, importando principalmente desde Brasil y complementando su oferta con productos nacionales como filete de pollo y pulpa de cerdo. Su principal cartera de clientes corresponde a restaurantes pequeños y medianos, que demandan reposición constante y un servicio ágil.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58299" y="9279206"/>
            <a:ext cx="4401001" cy="45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56"/>
              </a:lnSpc>
            </a:pPr>
            <a:r>
              <a:rPr lang="en-US" b="true" sz="2400">
                <a:solidFill>
                  <a:srgbClr val="EFE8D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858299" y="9279206"/>
            <a:ext cx="4401001" cy="45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56"/>
              </a:lnSpc>
            </a:pPr>
            <a:r>
              <a:rPr lang="en-US" b="true" sz="2400">
                <a:solidFill>
                  <a:srgbClr val="EFE8D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492000" y="-1162967"/>
            <a:ext cx="18894942" cy="14237917"/>
            <a:chOff x="0" y="0"/>
            <a:chExt cx="4976446" cy="37499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76446" cy="3749904"/>
            </a:xfrm>
            <a:custGeom>
              <a:avLst/>
              <a:gdLst/>
              <a:ahLst/>
              <a:cxnLst/>
              <a:rect r="r" b="b" t="t" l="l"/>
              <a:pathLst>
                <a:path h="3749904" w="4976446">
                  <a:moveTo>
                    <a:pt x="20896" y="0"/>
                  </a:moveTo>
                  <a:lnTo>
                    <a:pt x="4955549" y="0"/>
                  </a:lnTo>
                  <a:cubicBezTo>
                    <a:pt x="4961091" y="0"/>
                    <a:pt x="4966407" y="2202"/>
                    <a:pt x="4970325" y="6120"/>
                  </a:cubicBezTo>
                  <a:cubicBezTo>
                    <a:pt x="4974244" y="10039"/>
                    <a:pt x="4976446" y="15354"/>
                    <a:pt x="4976446" y="20896"/>
                  </a:cubicBezTo>
                  <a:lnTo>
                    <a:pt x="4976446" y="3729008"/>
                  </a:lnTo>
                  <a:cubicBezTo>
                    <a:pt x="4976446" y="3734550"/>
                    <a:pt x="4974244" y="3739865"/>
                    <a:pt x="4970325" y="3743783"/>
                  </a:cubicBezTo>
                  <a:cubicBezTo>
                    <a:pt x="4966407" y="3747703"/>
                    <a:pt x="4961091" y="3749904"/>
                    <a:pt x="4955549" y="3749904"/>
                  </a:cubicBezTo>
                  <a:lnTo>
                    <a:pt x="20896" y="3749904"/>
                  </a:lnTo>
                  <a:cubicBezTo>
                    <a:pt x="15354" y="3749904"/>
                    <a:pt x="10039" y="3747703"/>
                    <a:pt x="6120" y="3743783"/>
                  </a:cubicBezTo>
                  <a:cubicBezTo>
                    <a:pt x="2202" y="3739865"/>
                    <a:pt x="0" y="3734550"/>
                    <a:pt x="0" y="3729008"/>
                  </a:cubicBezTo>
                  <a:lnTo>
                    <a:pt x="0" y="20896"/>
                  </a:lnTo>
                  <a:cubicBezTo>
                    <a:pt x="0" y="15354"/>
                    <a:pt x="2202" y="10039"/>
                    <a:pt x="6120" y="6120"/>
                  </a:cubicBezTo>
                  <a:cubicBezTo>
                    <a:pt x="10039" y="2202"/>
                    <a:pt x="15354" y="0"/>
                    <a:pt x="20896" y="0"/>
                  </a:cubicBezTo>
                  <a:close/>
                </a:path>
              </a:pathLst>
            </a:custGeom>
            <a:solidFill>
              <a:srgbClr val="A03E3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976446" cy="3788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75863" y="2511749"/>
            <a:ext cx="14936274" cy="4803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6"/>
              </a:lnSpc>
            </a:pP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</a:t>
            </a: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rnes Darras actualment</a:t>
            </a: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opera con procesos administrativos manuales y desactualizados,  procesos que se realizan de forma física, mediante papeles en los que se mueve la información, sin respaldo en servidor, nube o cualquier otro método tecnológico.</a:t>
            </a:r>
          </a:p>
          <a:p>
            <a:pPr algn="just">
              <a:lnSpc>
                <a:spcPts val="3456"/>
              </a:lnSpc>
            </a:pPr>
          </a:p>
          <a:p>
            <a:pPr algn="just">
              <a:lnSpc>
                <a:spcPts val="3456"/>
              </a:lnSpc>
            </a:pP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Los únicos procesos que se realizan en una computadora es la creación de facturas en la pagina de facturación externa “NUBOX”, y el posterior reporte de ventas diarias que se guarda en una carpeta compartida de la empresa.</a:t>
            </a:r>
          </a:p>
          <a:p>
            <a:pPr algn="just">
              <a:lnSpc>
                <a:spcPts val="3456"/>
              </a:lnSpc>
            </a:pPr>
          </a:p>
          <a:p>
            <a:pPr algn="just">
              <a:lnSpc>
                <a:spcPts val="3456"/>
              </a:lnSpc>
            </a:pP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Para efectos de este proyecto nos centraremos en el área de pedidos y facturación, ya que es el sector más inmediato en el que más tiempo se invierte durante el día.</a:t>
            </a:r>
          </a:p>
          <a:p>
            <a:pPr algn="just">
              <a:lnSpc>
                <a:spcPts val="345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730833" y="1190625"/>
            <a:ext cx="8449277" cy="120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b="true" sz="8999" spc="-134">
                <a:solidFill>
                  <a:srgbClr val="FFFFFF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Problema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10699" y="9431606"/>
            <a:ext cx="4401001" cy="45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56"/>
              </a:lnSpc>
            </a:pPr>
            <a:r>
              <a:rPr lang="en-US" b="true" sz="2400">
                <a:solidFill>
                  <a:srgbClr val="F8F7F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48710" y="9258300"/>
            <a:ext cx="19785420" cy="597310"/>
            <a:chOff x="0" y="0"/>
            <a:chExt cx="5210975" cy="157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10975" cy="157316"/>
            </a:xfrm>
            <a:custGeom>
              <a:avLst/>
              <a:gdLst/>
              <a:ahLst/>
              <a:cxnLst/>
              <a:rect r="r" b="b" t="t" l="l"/>
              <a:pathLst>
                <a:path h="157316" w="5210975">
                  <a:moveTo>
                    <a:pt x="19956" y="0"/>
                  </a:moveTo>
                  <a:lnTo>
                    <a:pt x="5191019" y="0"/>
                  </a:lnTo>
                  <a:cubicBezTo>
                    <a:pt x="5202040" y="0"/>
                    <a:pt x="5210975" y="8935"/>
                    <a:pt x="5210975" y="19956"/>
                  </a:cubicBezTo>
                  <a:lnTo>
                    <a:pt x="5210975" y="137360"/>
                  </a:lnTo>
                  <a:cubicBezTo>
                    <a:pt x="5210975" y="142653"/>
                    <a:pt x="5208872" y="147729"/>
                    <a:pt x="5205130" y="151471"/>
                  </a:cubicBezTo>
                  <a:cubicBezTo>
                    <a:pt x="5201388" y="155214"/>
                    <a:pt x="5196312" y="157316"/>
                    <a:pt x="5191019" y="157316"/>
                  </a:cubicBezTo>
                  <a:lnTo>
                    <a:pt x="19956" y="157316"/>
                  </a:lnTo>
                  <a:cubicBezTo>
                    <a:pt x="8935" y="157316"/>
                    <a:pt x="0" y="148382"/>
                    <a:pt x="0" y="137360"/>
                  </a:cubicBezTo>
                  <a:lnTo>
                    <a:pt x="0" y="19956"/>
                  </a:lnTo>
                  <a:cubicBezTo>
                    <a:pt x="0" y="8935"/>
                    <a:pt x="8935" y="0"/>
                    <a:pt x="19956" y="0"/>
                  </a:cubicBezTo>
                  <a:close/>
                </a:path>
              </a:pathLst>
            </a:custGeom>
            <a:solidFill>
              <a:srgbClr val="A03E3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10975" cy="195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282233" y="3583475"/>
            <a:ext cx="5671267" cy="1904447"/>
            <a:chOff x="0" y="0"/>
            <a:chExt cx="2611680" cy="8770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11680" cy="877019"/>
            </a:xfrm>
            <a:custGeom>
              <a:avLst/>
              <a:gdLst/>
              <a:ahLst/>
              <a:cxnLst/>
              <a:rect r="r" b="b" t="t" l="l"/>
              <a:pathLst>
                <a:path h="877019" w="2611680">
                  <a:moveTo>
                    <a:pt x="98288" y="0"/>
                  </a:moveTo>
                  <a:lnTo>
                    <a:pt x="2513392" y="0"/>
                  </a:lnTo>
                  <a:cubicBezTo>
                    <a:pt x="2567675" y="0"/>
                    <a:pt x="2611680" y="44005"/>
                    <a:pt x="2611680" y="98288"/>
                  </a:cubicBezTo>
                  <a:lnTo>
                    <a:pt x="2611680" y="778731"/>
                  </a:lnTo>
                  <a:cubicBezTo>
                    <a:pt x="2611680" y="804798"/>
                    <a:pt x="2601325" y="829798"/>
                    <a:pt x="2582892" y="848231"/>
                  </a:cubicBezTo>
                  <a:cubicBezTo>
                    <a:pt x="2564460" y="866663"/>
                    <a:pt x="2539460" y="877019"/>
                    <a:pt x="2513392" y="877019"/>
                  </a:cubicBezTo>
                  <a:lnTo>
                    <a:pt x="98288" y="877019"/>
                  </a:lnTo>
                  <a:cubicBezTo>
                    <a:pt x="72221" y="877019"/>
                    <a:pt x="47221" y="866663"/>
                    <a:pt x="28788" y="848231"/>
                  </a:cubicBezTo>
                  <a:cubicBezTo>
                    <a:pt x="10355" y="829798"/>
                    <a:pt x="0" y="804798"/>
                    <a:pt x="0" y="778731"/>
                  </a:cubicBezTo>
                  <a:lnTo>
                    <a:pt x="0" y="98288"/>
                  </a:lnTo>
                  <a:cubicBezTo>
                    <a:pt x="0" y="72221"/>
                    <a:pt x="10355" y="47221"/>
                    <a:pt x="28788" y="28788"/>
                  </a:cubicBezTo>
                  <a:cubicBezTo>
                    <a:pt x="47221" y="10355"/>
                    <a:pt x="72221" y="0"/>
                    <a:pt x="98288" y="0"/>
                  </a:cubicBezTo>
                  <a:close/>
                </a:path>
              </a:pathLst>
            </a:custGeom>
            <a:solidFill>
              <a:srgbClr val="A03E3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0"/>
              <a:ext cx="2611680" cy="781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282233" y="6190965"/>
            <a:ext cx="5671267" cy="2127109"/>
            <a:chOff x="0" y="0"/>
            <a:chExt cx="2611680" cy="9795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11680" cy="979557"/>
            </a:xfrm>
            <a:custGeom>
              <a:avLst/>
              <a:gdLst/>
              <a:ahLst/>
              <a:cxnLst/>
              <a:rect r="r" b="b" t="t" l="l"/>
              <a:pathLst>
                <a:path h="979557" w="2611680">
                  <a:moveTo>
                    <a:pt x="98288" y="0"/>
                  </a:moveTo>
                  <a:lnTo>
                    <a:pt x="2513392" y="0"/>
                  </a:lnTo>
                  <a:cubicBezTo>
                    <a:pt x="2567675" y="0"/>
                    <a:pt x="2611680" y="44005"/>
                    <a:pt x="2611680" y="98288"/>
                  </a:cubicBezTo>
                  <a:lnTo>
                    <a:pt x="2611680" y="881269"/>
                  </a:lnTo>
                  <a:cubicBezTo>
                    <a:pt x="2611680" y="907337"/>
                    <a:pt x="2601325" y="932337"/>
                    <a:pt x="2582892" y="950769"/>
                  </a:cubicBezTo>
                  <a:cubicBezTo>
                    <a:pt x="2564460" y="969202"/>
                    <a:pt x="2539460" y="979557"/>
                    <a:pt x="2513392" y="979557"/>
                  </a:cubicBezTo>
                  <a:lnTo>
                    <a:pt x="98288" y="979557"/>
                  </a:lnTo>
                  <a:cubicBezTo>
                    <a:pt x="72221" y="979557"/>
                    <a:pt x="47221" y="969202"/>
                    <a:pt x="28788" y="950769"/>
                  </a:cubicBezTo>
                  <a:cubicBezTo>
                    <a:pt x="10355" y="932337"/>
                    <a:pt x="0" y="907337"/>
                    <a:pt x="0" y="881269"/>
                  </a:cubicBezTo>
                  <a:lnTo>
                    <a:pt x="0" y="98288"/>
                  </a:lnTo>
                  <a:cubicBezTo>
                    <a:pt x="0" y="72221"/>
                    <a:pt x="10355" y="47221"/>
                    <a:pt x="28788" y="28788"/>
                  </a:cubicBezTo>
                  <a:cubicBezTo>
                    <a:pt x="47221" y="10355"/>
                    <a:pt x="72221" y="0"/>
                    <a:pt x="98288" y="0"/>
                  </a:cubicBezTo>
                  <a:close/>
                </a:path>
              </a:pathLst>
            </a:custGeom>
            <a:solidFill>
              <a:srgbClr val="A03E3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0"/>
              <a:ext cx="2611680" cy="884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34500" y="6190965"/>
            <a:ext cx="5671267" cy="2127109"/>
            <a:chOff x="0" y="0"/>
            <a:chExt cx="2611680" cy="9795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11680" cy="979557"/>
            </a:xfrm>
            <a:custGeom>
              <a:avLst/>
              <a:gdLst/>
              <a:ahLst/>
              <a:cxnLst/>
              <a:rect r="r" b="b" t="t" l="l"/>
              <a:pathLst>
                <a:path h="979557" w="2611680">
                  <a:moveTo>
                    <a:pt x="98288" y="0"/>
                  </a:moveTo>
                  <a:lnTo>
                    <a:pt x="2513392" y="0"/>
                  </a:lnTo>
                  <a:cubicBezTo>
                    <a:pt x="2567675" y="0"/>
                    <a:pt x="2611680" y="44005"/>
                    <a:pt x="2611680" y="98288"/>
                  </a:cubicBezTo>
                  <a:lnTo>
                    <a:pt x="2611680" y="881269"/>
                  </a:lnTo>
                  <a:cubicBezTo>
                    <a:pt x="2611680" y="907337"/>
                    <a:pt x="2601325" y="932337"/>
                    <a:pt x="2582892" y="950769"/>
                  </a:cubicBezTo>
                  <a:cubicBezTo>
                    <a:pt x="2564460" y="969202"/>
                    <a:pt x="2539460" y="979557"/>
                    <a:pt x="2513392" y="979557"/>
                  </a:cubicBezTo>
                  <a:lnTo>
                    <a:pt x="98288" y="979557"/>
                  </a:lnTo>
                  <a:cubicBezTo>
                    <a:pt x="72221" y="979557"/>
                    <a:pt x="47221" y="969202"/>
                    <a:pt x="28788" y="950769"/>
                  </a:cubicBezTo>
                  <a:cubicBezTo>
                    <a:pt x="10355" y="932337"/>
                    <a:pt x="0" y="907337"/>
                    <a:pt x="0" y="881269"/>
                  </a:cubicBezTo>
                  <a:lnTo>
                    <a:pt x="0" y="98288"/>
                  </a:lnTo>
                  <a:cubicBezTo>
                    <a:pt x="0" y="72221"/>
                    <a:pt x="10355" y="47221"/>
                    <a:pt x="28788" y="28788"/>
                  </a:cubicBezTo>
                  <a:cubicBezTo>
                    <a:pt x="47221" y="10355"/>
                    <a:pt x="72221" y="0"/>
                    <a:pt x="98288" y="0"/>
                  </a:cubicBezTo>
                  <a:close/>
                </a:path>
              </a:pathLst>
            </a:custGeom>
            <a:solidFill>
              <a:srgbClr val="A03E3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0"/>
              <a:ext cx="2611680" cy="884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34500" y="3583475"/>
            <a:ext cx="5671267" cy="1904447"/>
            <a:chOff x="0" y="0"/>
            <a:chExt cx="2611680" cy="8770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11680" cy="877019"/>
            </a:xfrm>
            <a:custGeom>
              <a:avLst/>
              <a:gdLst/>
              <a:ahLst/>
              <a:cxnLst/>
              <a:rect r="r" b="b" t="t" l="l"/>
              <a:pathLst>
                <a:path h="877019" w="2611680">
                  <a:moveTo>
                    <a:pt x="98288" y="0"/>
                  </a:moveTo>
                  <a:lnTo>
                    <a:pt x="2513392" y="0"/>
                  </a:lnTo>
                  <a:cubicBezTo>
                    <a:pt x="2567675" y="0"/>
                    <a:pt x="2611680" y="44005"/>
                    <a:pt x="2611680" y="98288"/>
                  </a:cubicBezTo>
                  <a:lnTo>
                    <a:pt x="2611680" y="778731"/>
                  </a:lnTo>
                  <a:cubicBezTo>
                    <a:pt x="2611680" y="804798"/>
                    <a:pt x="2601325" y="829798"/>
                    <a:pt x="2582892" y="848231"/>
                  </a:cubicBezTo>
                  <a:cubicBezTo>
                    <a:pt x="2564460" y="866663"/>
                    <a:pt x="2539460" y="877019"/>
                    <a:pt x="2513392" y="877019"/>
                  </a:cubicBezTo>
                  <a:lnTo>
                    <a:pt x="98288" y="877019"/>
                  </a:lnTo>
                  <a:cubicBezTo>
                    <a:pt x="72221" y="877019"/>
                    <a:pt x="47221" y="866663"/>
                    <a:pt x="28788" y="848231"/>
                  </a:cubicBezTo>
                  <a:cubicBezTo>
                    <a:pt x="10355" y="829798"/>
                    <a:pt x="0" y="804798"/>
                    <a:pt x="0" y="778731"/>
                  </a:cubicBezTo>
                  <a:lnTo>
                    <a:pt x="0" y="98288"/>
                  </a:lnTo>
                  <a:cubicBezTo>
                    <a:pt x="0" y="72221"/>
                    <a:pt x="10355" y="47221"/>
                    <a:pt x="28788" y="28788"/>
                  </a:cubicBezTo>
                  <a:cubicBezTo>
                    <a:pt x="47221" y="10355"/>
                    <a:pt x="72221" y="0"/>
                    <a:pt x="98288" y="0"/>
                  </a:cubicBezTo>
                  <a:close/>
                </a:path>
              </a:pathLst>
            </a:custGeom>
            <a:solidFill>
              <a:srgbClr val="A03E3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0"/>
              <a:ext cx="2611680" cy="781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419204" y="555589"/>
            <a:ext cx="1422214" cy="1425778"/>
          </a:xfrm>
          <a:custGeom>
            <a:avLst/>
            <a:gdLst/>
            <a:ahLst/>
            <a:cxnLst/>
            <a:rect r="r" b="b" t="t" l="l"/>
            <a:pathLst>
              <a:path h="1425778" w="1422214">
                <a:moveTo>
                  <a:pt x="0" y="0"/>
                </a:moveTo>
                <a:lnTo>
                  <a:pt x="1422213" y="0"/>
                </a:lnTo>
                <a:lnTo>
                  <a:pt x="1422213" y="1425778"/>
                </a:lnTo>
                <a:lnTo>
                  <a:pt x="0" y="1425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6776">
            <a:off x="15778809" y="927961"/>
            <a:ext cx="703004" cy="681035"/>
          </a:xfrm>
          <a:custGeom>
            <a:avLst/>
            <a:gdLst/>
            <a:ahLst/>
            <a:cxnLst/>
            <a:rect r="r" b="b" t="t" l="l"/>
            <a:pathLst>
              <a:path h="681035" w="703004">
                <a:moveTo>
                  <a:pt x="0" y="0"/>
                </a:moveTo>
                <a:lnTo>
                  <a:pt x="703003" y="0"/>
                </a:lnTo>
                <a:lnTo>
                  <a:pt x="703003" y="681035"/>
                </a:lnTo>
                <a:lnTo>
                  <a:pt x="0" y="6810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858299" y="9279206"/>
            <a:ext cx="4401001" cy="45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56"/>
              </a:lnSpc>
            </a:pPr>
            <a:r>
              <a:rPr lang="en-US" b="true" sz="2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57667" y="3989963"/>
            <a:ext cx="324393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</a:pPr>
            <a:r>
              <a:rPr lang="en-US" b="true" sz="1500" spc="2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Registro de pedidos:</a:t>
            </a:r>
            <a:r>
              <a:rPr lang="en-US" sz="1500" spc="2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Permitiendo registrándolos dentro de la app, eliminando la necesidad de llamar al gerente y el uso de papeles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560295" y="4207250"/>
            <a:ext cx="1797372" cy="76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04"/>
              </a:lnSpc>
              <a:spcBef>
                <a:spcPct val="0"/>
              </a:spcBef>
            </a:pPr>
            <a:r>
              <a:rPr lang="en-US" b="true" sz="5704" spc="-85" strike="noStrike" u="none">
                <a:solidFill>
                  <a:srgbClr val="FFFFFF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01.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60295" y="6925477"/>
            <a:ext cx="1797372" cy="76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04"/>
              </a:lnSpc>
              <a:spcBef>
                <a:spcPct val="0"/>
              </a:spcBef>
            </a:pPr>
            <a:r>
              <a:rPr lang="en-US" b="true" sz="5704" spc="-85" strike="noStrike" u="none">
                <a:solidFill>
                  <a:srgbClr val="FFFFFF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03.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09934" y="6471731"/>
            <a:ext cx="3413299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</a:pPr>
            <a:r>
              <a:rPr lang="en-US" b="true" sz="1500" spc="2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Reportes y Dashboards: </a:t>
            </a:r>
            <a:r>
              <a:rPr lang="en-US" sz="1500" spc="2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Permitirá ver el estado de los pedidos, productos más vendidos y los clientes con más pedidos realizados. Tendrá datos diarios, mensuales y anuiales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12562" y="6925477"/>
            <a:ext cx="1797372" cy="76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04"/>
              </a:lnSpc>
              <a:spcBef>
                <a:spcPct val="0"/>
              </a:spcBef>
            </a:pPr>
            <a:r>
              <a:rPr lang="en-US" b="true" sz="5704" spc="-85" strike="noStrike" u="none">
                <a:solidFill>
                  <a:srgbClr val="FFFFFF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04.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09934" y="3856613"/>
            <a:ext cx="3413299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</a:pPr>
            <a:r>
              <a:rPr lang="en-US" b="true" sz="1500" spc="2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Preparación de pedidos:</a:t>
            </a:r>
            <a:r>
              <a:rPr lang="en-US" sz="1500" spc="2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Podrán prepararse directamente en la app, ingresando los pesos de las cajas y calculando automáticamente los pesos por producto.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12562" y="4206656"/>
            <a:ext cx="1797372" cy="76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04"/>
              </a:lnSpc>
              <a:spcBef>
                <a:spcPct val="0"/>
              </a:spcBef>
            </a:pPr>
            <a:r>
              <a:rPr lang="en-US" b="true" sz="5704" spc="-85" strike="noStrike" u="none">
                <a:solidFill>
                  <a:srgbClr val="FFFFFF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02.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66412" y="2462415"/>
            <a:ext cx="15955176" cy="710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200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Una app móvil que centraliza y digitaliza todo el proceso de toma de pedidos, preparación y facturación, permitiendo a los vendedores registrar solicitudes directamente desde el teléfono, de manera rápida, ordenada y estandarizada.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19361" y="1190625"/>
            <a:ext cx="8449277" cy="120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b="true" sz="8999" spc="-134">
                <a:solidFill>
                  <a:srgbClr val="00000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Solución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67167" y="6471731"/>
            <a:ext cx="3434435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</a:pPr>
            <a:r>
              <a:rPr lang="en-US" b="true" sz="1500" spc="2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Facturación automática: </a:t>
            </a:r>
            <a:r>
              <a:rPr lang="en-US" sz="1500" spc="2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Permitirá facturar los pedidos, ya sea individualmente o en masa, guardándolo automáticamente en el dispositivo para así agilizar el proceso de facturación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48710" y="9258300"/>
            <a:ext cx="19785420" cy="597310"/>
            <a:chOff x="0" y="0"/>
            <a:chExt cx="5210975" cy="157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10975" cy="157316"/>
            </a:xfrm>
            <a:custGeom>
              <a:avLst/>
              <a:gdLst/>
              <a:ahLst/>
              <a:cxnLst/>
              <a:rect r="r" b="b" t="t" l="l"/>
              <a:pathLst>
                <a:path h="157316" w="5210975">
                  <a:moveTo>
                    <a:pt x="19956" y="0"/>
                  </a:moveTo>
                  <a:lnTo>
                    <a:pt x="5191019" y="0"/>
                  </a:lnTo>
                  <a:cubicBezTo>
                    <a:pt x="5202040" y="0"/>
                    <a:pt x="5210975" y="8935"/>
                    <a:pt x="5210975" y="19956"/>
                  </a:cubicBezTo>
                  <a:lnTo>
                    <a:pt x="5210975" y="137360"/>
                  </a:lnTo>
                  <a:cubicBezTo>
                    <a:pt x="5210975" y="142653"/>
                    <a:pt x="5208872" y="147729"/>
                    <a:pt x="5205130" y="151471"/>
                  </a:cubicBezTo>
                  <a:cubicBezTo>
                    <a:pt x="5201388" y="155214"/>
                    <a:pt x="5196312" y="157316"/>
                    <a:pt x="5191019" y="157316"/>
                  </a:cubicBezTo>
                  <a:lnTo>
                    <a:pt x="19956" y="157316"/>
                  </a:lnTo>
                  <a:cubicBezTo>
                    <a:pt x="8935" y="157316"/>
                    <a:pt x="0" y="148382"/>
                    <a:pt x="0" y="137360"/>
                  </a:cubicBezTo>
                  <a:lnTo>
                    <a:pt x="0" y="19956"/>
                  </a:lnTo>
                  <a:cubicBezTo>
                    <a:pt x="0" y="8935"/>
                    <a:pt x="8935" y="0"/>
                    <a:pt x="19956" y="0"/>
                  </a:cubicBezTo>
                  <a:close/>
                </a:path>
              </a:pathLst>
            </a:custGeom>
            <a:solidFill>
              <a:srgbClr val="A03E3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10975" cy="195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955198" y="348824"/>
            <a:ext cx="2717290" cy="5421776"/>
          </a:xfrm>
          <a:custGeom>
            <a:avLst/>
            <a:gdLst/>
            <a:ahLst/>
            <a:cxnLst/>
            <a:rect r="r" b="b" t="t" l="l"/>
            <a:pathLst>
              <a:path h="5421776" w="2717290">
                <a:moveTo>
                  <a:pt x="0" y="0"/>
                </a:moveTo>
                <a:lnTo>
                  <a:pt x="2717290" y="0"/>
                </a:lnTo>
                <a:lnTo>
                  <a:pt x="2717290" y="5421776"/>
                </a:lnTo>
                <a:lnTo>
                  <a:pt x="0" y="54217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31" t="0" r="-6345" b="-1724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31505" y="4825599"/>
            <a:ext cx="2764677" cy="4128505"/>
          </a:xfrm>
          <a:custGeom>
            <a:avLst/>
            <a:gdLst/>
            <a:ahLst/>
            <a:cxnLst/>
            <a:rect r="r" b="b" t="t" l="l"/>
            <a:pathLst>
              <a:path h="4128505" w="2764677">
                <a:moveTo>
                  <a:pt x="0" y="0"/>
                </a:moveTo>
                <a:lnTo>
                  <a:pt x="2764677" y="0"/>
                </a:lnTo>
                <a:lnTo>
                  <a:pt x="2764677" y="4128505"/>
                </a:lnTo>
                <a:lnTo>
                  <a:pt x="0" y="41285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713" b="-4727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13971" y="348824"/>
            <a:ext cx="3745329" cy="8175867"/>
          </a:xfrm>
          <a:custGeom>
            <a:avLst/>
            <a:gdLst/>
            <a:ahLst/>
            <a:cxnLst/>
            <a:rect r="r" b="b" t="t" l="l"/>
            <a:pathLst>
              <a:path h="8175867" w="3745329">
                <a:moveTo>
                  <a:pt x="0" y="0"/>
                </a:moveTo>
                <a:lnTo>
                  <a:pt x="3745329" y="0"/>
                </a:lnTo>
                <a:lnTo>
                  <a:pt x="3745329" y="8175867"/>
                </a:lnTo>
                <a:lnTo>
                  <a:pt x="0" y="8175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22" t="0" r="-1081" b="-90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451376"/>
            <a:ext cx="8449277" cy="86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6400" spc="-96" b="true">
                <a:solidFill>
                  <a:srgbClr val="20202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Público objetivo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623186"/>
            <a:ext cx="7949130" cy="252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La aplicación está diseñada pensando en que los principales usuarios son trabajadores y vendedores de la empresa que, en su mayoría, son personas mayores y con poca familiaridad con herramientas digitales. De allí que la aplicación tenga estos colores tan marcados, con botones grandes, disposición simple y directa, pero lo más importante, que tenga los pedidos y estados de los pedidos diferenciados por colores.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58299" y="9279206"/>
            <a:ext cx="4401001" cy="45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56"/>
              </a:lnSpc>
            </a:pPr>
            <a:r>
              <a:rPr lang="en-US" b="true" sz="2400">
                <a:solidFill>
                  <a:srgbClr val="EFE8D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48710" y="9258300"/>
            <a:ext cx="19785420" cy="597310"/>
            <a:chOff x="0" y="0"/>
            <a:chExt cx="5210975" cy="157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10975" cy="157316"/>
            </a:xfrm>
            <a:custGeom>
              <a:avLst/>
              <a:gdLst/>
              <a:ahLst/>
              <a:cxnLst/>
              <a:rect r="r" b="b" t="t" l="l"/>
              <a:pathLst>
                <a:path h="157316" w="5210975">
                  <a:moveTo>
                    <a:pt x="19956" y="0"/>
                  </a:moveTo>
                  <a:lnTo>
                    <a:pt x="5191019" y="0"/>
                  </a:lnTo>
                  <a:cubicBezTo>
                    <a:pt x="5202040" y="0"/>
                    <a:pt x="5210975" y="8935"/>
                    <a:pt x="5210975" y="19956"/>
                  </a:cubicBezTo>
                  <a:lnTo>
                    <a:pt x="5210975" y="137360"/>
                  </a:lnTo>
                  <a:cubicBezTo>
                    <a:pt x="5210975" y="142653"/>
                    <a:pt x="5208872" y="147729"/>
                    <a:pt x="5205130" y="151471"/>
                  </a:cubicBezTo>
                  <a:cubicBezTo>
                    <a:pt x="5201388" y="155214"/>
                    <a:pt x="5196312" y="157316"/>
                    <a:pt x="5191019" y="157316"/>
                  </a:cubicBezTo>
                  <a:lnTo>
                    <a:pt x="19956" y="157316"/>
                  </a:lnTo>
                  <a:cubicBezTo>
                    <a:pt x="8935" y="157316"/>
                    <a:pt x="0" y="148382"/>
                    <a:pt x="0" y="137360"/>
                  </a:cubicBezTo>
                  <a:lnTo>
                    <a:pt x="0" y="19956"/>
                  </a:lnTo>
                  <a:cubicBezTo>
                    <a:pt x="0" y="8935"/>
                    <a:pt x="8935" y="0"/>
                    <a:pt x="19956" y="0"/>
                  </a:cubicBezTo>
                  <a:close/>
                </a:path>
              </a:pathLst>
            </a:custGeom>
            <a:solidFill>
              <a:srgbClr val="A03E3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10975" cy="195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93244" y="3668613"/>
            <a:ext cx="5515417" cy="5369834"/>
          </a:xfrm>
          <a:custGeom>
            <a:avLst/>
            <a:gdLst/>
            <a:ahLst/>
            <a:cxnLst/>
            <a:rect r="r" b="b" t="t" l="l"/>
            <a:pathLst>
              <a:path h="5369834" w="5515417">
                <a:moveTo>
                  <a:pt x="0" y="0"/>
                </a:moveTo>
                <a:lnTo>
                  <a:pt x="5515417" y="0"/>
                </a:lnTo>
                <a:lnTo>
                  <a:pt x="5515417" y="5369834"/>
                </a:lnTo>
                <a:lnTo>
                  <a:pt x="0" y="5369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66" t="-1658" r="-941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20217" y="3522860"/>
            <a:ext cx="5416857" cy="5614493"/>
          </a:xfrm>
          <a:custGeom>
            <a:avLst/>
            <a:gdLst/>
            <a:ahLst/>
            <a:cxnLst/>
            <a:rect r="r" b="b" t="t" l="l"/>
            <a:pathLst>
              <a:path h="5614493" w="5416857">
                <a:moveTo>
                  <a:pt x="0" y="0"/>
                </a:moveTo>
                <a:lnTo>
                  <a:pt x="5416857" y="0"/>
                </a:lnTo>
                <a:lnTo>
                  <a:pt x="5416857" y="5614493"/>
                </a:lnTo>
                <a:lnTo>
                  <a:pt x="0" y="56144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28" t="0" r="-1819" b="-108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858299" y="9279206"/>
            <a:ext cx="4401001" cy="45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56"/>
              </a:lnSpc>
            </a:pPr>
            <a:r>
              <a:rPr lang="en-US" b="true" sz="2400">
                <a:solidFill>
                  <a:srgbClr val="EFE8D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50926" y="1143000"/>
            <a:ext cx="13986147" cy="85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b="true" sz="6399" spc="-95">
                <a:solidFill>
                  <a:srgbClr val="00000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Estado de Pedidos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48298" y="2549590"/>
            <a:ext cx="4060363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</a:pPr>
            <a:r>
              <a:rPr lang="en-US" b="true" sz="1500" spc="2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Pendiente de pesos: </a:t>
            </a:r>
            <a:r>
              <a:rPr lang="en-US" sz="1500" spc="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Una vez creado el pedido, este queda pendiente de asignación de pesos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50926" y="2640242"/>
            <a:ext cx="1797372" cy="76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04"/>
              </a:lnSpc>
              <a:spcBef>
                <a:spcPct val="0"/>
              </a:spcBef>
            </a:pPr>
            <a:r>
              <a:rPr lang="en-US" b="true" sz="5704" spc="-85" strike="noStrike" u="none">
                <a:solidFill>
                  <a:srgbClr val="00000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01.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76710" y="2549590"/>
            <a:ext cx="4060363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</a:pPr>
            <a:r>
              <a:rPr lang="en-US" b="true" sz="1500" spc="2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Pendiente de confirmación: </a:t>
            </a:r>
            <a:r>
              <a:rPr lang="en-US" sz="1500" spc="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Una vez asignado los pesos, el pedido queda pendiente de confirmación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79339" y="2640242"/>
            <a:ext cx="1797372" cy="76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04"/>
              </a:lnSpc>
              <a:spcBef>
                <a:spcPct val="0"/>
              </a:spcBef>
            </a:pPr>
            <a:r>
              <a:rPr lang="en-US" b="true" sz="5704" spc="-85" strike="noStrike" u="none">
                <a:solidFill>
                  <a:srgbClr val="00000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02.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27632" y="9124703"/>
            <a:ext cx="19785420" cy="597310"/>
            <a:chOff x="0" y="0"/>
            <a:chExt cx="5210975" cy="157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10975" cy="157316"/>
            </a:xfrm>
            <a:custGeom>
              <a:avLst/>
              <a:gdLst/>
              <a:ahLst/>
              <a:cxnLst/>
              <a:rect r="r" b="b" t="t" l="l"/>
              <a:pathLst>
                <a:path h="157316" w="5210975">
                  <a:moveTo>
                    <a:pt x="19956" y="0"/>
                  </a:moveTo>
                  <a:lnTo>
                    <a:pt x="5191019" y="0"/>
                  </a:lnTo>
                  <a:cubicBezTo>
                    <a:pt x="5202040" y="0"/>
                    <a:pt x="5210975" y="8935"/>
                    <a:pt x="5210975" y="19956"/>
                  </a:cubicBezTo>
                  <a:lnTo>
                    <a:pt x="5210975" y="137360"/>
                  </a:lnTo>
                  <a:cubicBezTo>
                    <a:pt x="5210975" y="142653"/>
                    <a:pt x="5208872" y="147729"/>
                    <a:pt x="5205130" y="151471"/>
                  </a:cubicBezTo>
                  <a:cubicBezTo>
                    <a:pt x="5201388" y="155214"/>
                    <a:pt x="5196312" y="157316"/>
                    <a:pt x="5191019" y="157316"/>
                  </a:cubicBezTo>
                  <a:lnTo>
                    <a:pt x="19956" y="157316"/>
                  </a:lnTo>
                  <a:cubicBezTo>
                    <a:pt x="8935" y="157316"/>
                    <a:pt x="0" y="148382"/>
                    <a:pt x="0" y="137360"/>
                  </a:cubicBezTo>
                  <a:lnTo>
                    <a:pt x="0" y="19956"/>
                  </a:lnTo>
                  <a:cubicBezTo>
                    <a:pt x="0" y="8935"/>
                    <a:pt x="8935" y="0"/>
                    <a:pt x="19956" y="0"/>
                  </a:cubicBezTo>
                  <a:close/>
                </a:path>
              </a:pathLst>
            </a:custGeom>
            <a:solidFill>
              <a:srgbClr val="A03E3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10975" cy="195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10521" y="2554796"/>
            <a:ext cx="4974649" cy="6292112"/>
          </a:xfrm>
          <a:custGeom>
            <a:avLst/>
            <a:gdLst/>
            <a:ahLst/>
            <a:cxnLst/>
            <a:rect r="r" b="b" t="t" l="l"/>
            <a:pathLst>
              <a:path h="6292112" w="4974649">
                <a:moveTo>
                  <a:pt x="0" y="0"/>
                </a:moveTo>
                <a:lnTo>
                  <a:pt x="4974649" y="0"/>
                </a:lnTo>
                <a:lnTo>
                  <a:pt x="4974649" y="6292112"/>
                </a:lnTo>
                <a:lnTo>
                  <a:pt x="0" y="62921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97" t="-2167" r="0" b="-354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24020" y="2554796"/>
            <a:ext cx="5627105" cy="5584838"/>
          </a:xfrm>
          <a:custGeom>
            <a:avLst/>
            <a:gdLst/>
            <a:ahLst/>
            <a:cxnLst/>
            <a:rect r="r" b="b" t="t" l="l"/>
            <a:pathLst>
              <a:path h="5584838" w="5627105">
                <a:moveTo>
                  <a:pt x="0" y="0"/>
                </a:moveTo>
                <a:lnTo>
                  <a:pt x="5627106" y="0"/>
                </a:lnTo>
                <a:lnTo>
                  <a:pt x="5627106" y="5584838"/>
                </a:lnTo>
                <a:lnTo>
                  <a:pt x="0" y="558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97" t="-1239" r="-1907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279376" y="9145609"/>
            <a:ext cx="4401001" cy="45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56"/>
              </a:lnSpc>
            </a:pPr>
            <a:r>
              <a:rPr lang="en-US" b="true" sz="2400">
                <a:solidFill>
                  <a:srgbClr val="EFE8D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09207" y="995198"/>
            <a:ext cx="4238493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</a:pPr>
            <a:r>
              <a:rPr lang="en-US" b="true" sz="1500" spc="2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Listo para facturar: </a:t>
            </a:r>
            <a:r>
              <a:rPr lang="en-US" sz="1500" spc="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Una vez sea confirmado el pedido, este quedará listo para facturar y se enviará a facturación. Igualmente se podrá observar en pedidos.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1835" y="1085850"/>
            <a:ext cx="1797372" cy="76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04"/>
              </a:lnSpc>
              <a:spcBef>
                <a:spcPct val="0"/>
              </a:spcBef>
            </a:pPr>
            <a:r>
              <a:rPr lang="en-US" b="true" sz="5704" spc="-85" strike="noStrike" u="none">
                <a:solidFill>
                  <a:srgbClr val="00000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03.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97788" y="995198"/>
            <a:ext cx="4060363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</a:pPr>
            <a:r>
              <a:rPr lang="en-US" b="true" sz="1500" spc="2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Completado: </a:t>
            </a:r>
            <a:r>
              <a:rPr lang="en-US" sz="1500" spc="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Este será el estado final de los pedidos, donde una vez que se facturen, quedarán como completados y estos serán los que darán información para los dashboards.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00417" y="1085850"/>
            <a:ext cx="1797372" cy="76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04"/>
              </a:lnSpc>
              <a:spcBef>
                <a:spcPct val="0"/>
              </a:spcBef>
            </a:pPr>
            <a:r>
              <a:rPr lang="en-US" b="true" sz="5704" spc="-85" strike="noStrike" u="none">
                <a:solidFill>
                  <a:srgbClr val="00000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04.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03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48710" y="9258300"/>
            <a:ext cx="19785420" cy="597310"/>
            <a:chOff x="0" y="0"/>
            <a:chExt cx="5210975" cy="157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10975" cy="157316"/>
            </a:xfrm>
            <a:custGeom>
              <a:avLst/>
              <a:gdLst/>
              <a:ahLst/>
              <a:cxnLst/>
              <a:rect r="r" b="b" t="t" l="l"/>
              <a:pathLst>
                <a:path h="157316" w="5210975">
                  <a:moveTo>
                    <a:pt x="19956" y="0"/>
                  </a:moveTo>
                  <a:lnTo>
                    <a:pt x="5191019" y="0"/>
                  </a:lnTo>
                  <a:cubicBezTo>
                    <a:pt x="5202040" y="0"/>
                    <a:pt x="5210975" y="8935"/>
                    <a:pt x="5210975" y="19956"/>
                  </a:cubicBezTo>
                  <a:lnTo>
                    <a:pt x="5210975" y="137360"/>
                  </a:lnTo>
                  <a:cubicBezTo>
                    <a:pt x="5210975" y="142653"/>
                    <a:pt x="5208872" y="147729"/>
                    <a:pt x="5205130" y="151471"/>
                  </a:cubicBezTo>
                  <a:cubicBezTo>
                    <a:pt x="5201388" y="155214"/>
                    <a:pt x="5196312" y="157316"/>
                    <a:pt x="5191019" y="157316"/>
                  </a:cubicBezTo>
                  <a:lnTo>
                    <a:pt x="19956" y="157316"/>
                  </a:lnTo>
                  <a:cubicBezTo>
                    <a:pt x="8935" y="157316"/>
                    <a:pt x="0" y="148382"/>
                    <a:pt x="0" y="137360"/>
                  </a:cubicBezTo>
                  <a:lnTo>
                    <a:pt x="0" y="19956"/>
                  </a:lnTo>
                  <a:cubicBezTo>
                    <a:pt x="0" y="8935"/>
                    <a:pt x="8935" y="0"/>
                    <a:pt x="199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10975" cy="195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72717" y="1484173"/>
            <a:ext cx="6077329" cy="6383198"/>
            <a:chOff x="0" y="0"/>
            <a:chExt cx="8103105" cy="851093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8103105" cy="8510931"/>
              <a:chOff x="0" y="0"/>
              <a:chExt cx="3107371" cy="326376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107371" cy="3263764"/>
              </a:xfrm>
              <a:custGeom>
                <a:avLst/>
                <a:gdLst/>
                <a:ahLst/>
                <a:cxnLst/>
                <a:rect r="r" b="b" t="t" l="l"/>
                <a:pathLst>
                  <a:path h="3263764" w="3107371">
                    <a:moveTo>
                      <a:pt x="127390" y="0"/>
                    </a:moveTo>
                    <a:lnTo>
                      <a:pt x="2979981" y="0"/>
                    </a:lnTo>
                    <a:cubicBezTo>
                      <a:pt x="3050337" y="0"/>
                      <a:pt x="3107371" y="57035"/>
                      <a:pt x="3107371" y="127390"/>
                    </a:cubicBezTo>
                    <a:lnTo>
                      <a:pt x="3107371" y="3136374"/>
                    </a:lnTo>
                    <a:cubicBezTo>
                      <a:pt x="3107371" y="3206729"/>
                      <a:pt x="3050337" y="3263764"/>
                      <a:pt x="2979981" y="3263764"/>
                    </a:cubicBezTo>
                    <a:lnTo>
                      <a:pt x="127390" y="3263764"/>
                    </a:lnTo>
                    <a:cubicBezTo>
                      <a:pt x="57035" y="3263764"/>
                      <a:pt x="0" y="3206729"/>
                      <a:pt x="0" y="3136374"/>
                    </a:cubicBezTo>
                    <a:lnTo>
                      <a:pt x="0" y="127390"/>
                    </a:lnTo>
                    <a:cubicBezTo>
                      <a:pt x="0" y="57035"/>
                      <a:pt x="57035" y="0"/>
                      <a:pt x="12739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95250"/>
                <a:ext cx="3107371" cy="31685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25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3048563" y="658956"/>
              <a:ext cx="2005979" cy="2447610"/>
            </a:xfrm>
            <a:custGeom>
              <a:avLst/>
              <a:gdLst/>
              <a:ahLst/>
              <a:cxnLst/>
              <a:rect r="r" b="b" t="t" l="l"/>
              <a:pathLst>
                <a:path h="2447610" w="2005979">
                  <a:moveTo>
                    <a:pt x="0" y="0"/>
                  </a:moveTo>
                  <a:lnTo>
                    <a:pt x="2005979" y="0"/>
                  </a:lnTo>
                  <a:lnTo>
                    <a:pt x="2005979" y="2447609"/>
                  </a:lnTo>
                  <a:lnTo>
                    <a:pt x="0" y="2447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237679" y="3881058"/>
              <a:ext cx="7627746" cy="2910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5"/>
                </a:lnSpc>
              </a:pPr>
              <a:r>
                <a:rPr lang="en-US" b="true" sz="1804" spc="28">
                  <a:solidFill>
                    <a:srgbClr val="A03E3C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Desarrollar un sistema digital compuesto por una aplicación móvil que permita optimizar, centralizar y automatizar los procesos de toma de pedidos, preparación y facturación en Carnes Darras, con el fin de mejorar la eficiencia operativa, reducir errores y aumentar la trazabilidad de la información.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1028700"/>
            <a:ext cx="1485979" cy="1489703"/>
          </a:xfrm>
          <a:custGeom>
            <a:avLst/>
            <a:gdLst/>
            <a:ahLst/>
            <a:cxnLst/>
            <a:rect r="r" b="b" t="t" l="l"/>
            <a:pathLst>
              <a:path h="1489703" w="1485979">
                <a:moveTo>
                  <a:pt x="0" y="0"/>
                </a:moveTo>
                <a:lnTo>
                  <a:pt x="1485979" y="0"/>
                </a:lnTo>
                <a:lnTo>
                  <a:pt x="1485979" y="1489703"/>
                </a:lnTo>
                <a:lnTo>
                  <a:pt x="0" y="14897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73247">
            <a:off x="1343991" y="1250008"/>
            <a:ext cx="855397" cy="855397"/>
          </a:xfrm>
          <a:custGeom>
            <a:avLst/>
            <a:gdLst/>
            <a:ahLst/>
            <a:cxnLst/>
            <a:rect r="r" b="b" t="t" l="l"/>
            <a:pathLst>
              <a:path h="855397" w="855397">
                <a:moveTo>
                  <a:pt x="0" y="0"/>
                </a:moveTo>
                <a:lnTo>
                  <a:pt x="855397" y="0"/>
                </a:lnTo>
                <a:lnTo>
                  <a:pt x="855397" y="855398"/>
                </a:lnTo>
                <a:lnTo>
                  <a:pt x="0" y="855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-303781" y="4276085"/>
            <a:ext cx="10124307" cy="86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b="true" sz="6400" spc="-96">
                <a:solidFill>
                  <a:srgbClr val="FFFFFF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Objetivo General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8299" y="9279206"/>
            <a:ext cx="4401001" cy="45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56"/>
              </a:lnSpc>
            </a:pPr>
            <a:r>
              <a:rPr lang="en-US" b="true" sz="2400">
                <a:solidFill>
                  <a:srgbClr val="A03E3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03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48710" y="9258300"/>
            <a:ext cx="19785420" cy="597310"/>
            <a:chOff x="0" y="0"/>
            <a:chExt cx="5210975" cy="157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10975" cy="157316"/>
            </a:xfrm>
            <a:custGeom>
              <a:avLst/>
              <a:gdLst/>
              <a:ahLst/>
              <a:cxnLst/>
              <a:rect r="r" b="b" t="t" l="l"/>
              <a:pathLst>
                <a:path h="157316" w="5210975">
                  <a:moveTo>
                    <a:pt x="19956" y="0"/>
                  </a:moveTo>
                  <a:lnTo>
                    <a:pt x="5191019" y="0"/>
                  </a:lnTo>
                  <a:cubicBezTo>
                    <a:pt x="5202040" y="0"/>
                    <a:pt x="5210975" y="8935"/>
                    <a:pt x="5210975" y="19956"/>
                  </a:cubicBezTo>
                  <a:lnTo>
                    <a:pt x="5210975" y="137360"/>
                  </a:lnTo>
                  <a:cubicBezTo>
                    <a:pt x="5210975" y="142653"/>
                    <a:pt x="5208872" y="147729"/>
                    <a:pt x="5205130" y="151471"/>
                  </a:cubicBezTo>
                  <a:cubicBezTo>
                    <a:pt x="5201388" y="155214"/>
                    <a:pt x="5196312" y="157316"/>
                    <a:pt x="5191019" y="157316"/>
                  </a:cubicBezTo>
                  <a:lnTo>
                    <a:pt x="19956" y="157316"/>
                  </a:lnTo>
                  <a:cubicBezTo>
                    <a:pt x="8935" y="157316"/>
                    <a:pt x="0" y="148382"/>
                    <a:pt x="0" y="137360"/>
                  </a:cubicBezTo>
                  <a:lnTo>
                    <a:pt x="0" y="19956"/>
                  </a:lnTo>
                  <a:cubicBezTo>
                    <a:pt x="0" y="8935"/>
                    <a:pt x="8935" y="0"/>
                    <a:pt x="199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10975" cy="195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858299" y="9279206"/>
            <a:ext cx="4401001" cy="45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56"/>
              </a:lnSpc>
            </a:pPr>
            <a:r>
              <a:rPr lang="en-US" b="true" sz="2400">
                <a:solidFill>
                  <a:srgbClr val="A03E3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12224" y="928989"/>
            <a:ext cx="12863552" cy="86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b="true" sz="6400" spc="-96">
                <a:solidFill>
                  <a:srgbClr val="FFFFFF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Objetivos Específicos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53963" y="2234553"/>
            <a:ext cx="4325380" cy="3140858"/>
            <a:chOff x="0" y="0"/>
            <a:chExt cx="5767173" cy="418781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5767173" cy="4187811"/>
              <a:chOff x="0" y="0"/>
              <a:chExt cx="1775232" cy="128907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75232" cy="1289078"/>
              </a:xfrm>
              <a:custGeom>
                <a:avLst/>
                <a:gdLst/>
                <a:ahLst/>
                <a:cxnLst/>
                <a:rect r="r" b="b" t="t" l="l"/>
                <a:pathLst>
                  <a:path h="1289078" w="1775232">
                    <a:moveTo>
                      <a:pt x="178988" y="0"/>
                    </a:moveTo>
                    <a:lnTo>
                      <a:pt x="1596244" y="0"/>
                    </a:lnTo>
                    <a:cubicBezTo>
                      <a:pt x="1643714" y="0"/>
                      <a:pt x="1689240" y="18858"/>
                      <a:pt x="1722807" y="52424"/>
                    </a:cubicBezTo>
                    <a:cubicBezTo>
                      <a:pt x="1756374" y="85991"/>
                      <a:pt x="1775232" y="131518"/>
                      <a:pt x="1775232" y="178988"/>
                    </a:cubicBezTo>
                    <a:lnTo>
                      <a:pt x="1775232" y="1110090"/>
                    </a:lnTo>
                    <a:cubicBezTo>
                      <a:pt x="1775232" y="1157560"/>
                      <a:pt x="1756374" y="1203087"/>
                      <a:pt x="1722807" y="1236653"/>
                    </a:cubicBezTo>
                    <a:cubicBezTo>
                      <a:pt x="1689240" y="1270220"/>
                      <a:pt x="1643714" y="1289078"/>
                      <a:pt x="1596244" y="1289078"/>
                    </a:cubicBezTo>
                    <a:lnTo>
                      <a:pt x="178988" y="1289078"/>
                    </a:lnTo>
                    <a:cubicBezTo>
                      <a:pt x="131518" y="1289078"/>
                      <a:pt x="85991" y="1270220"/>
                      <a:pt x="52424" y="1236653"/>
                    </a:cubicBezTo>
                    <a:cubicBezTo>
                      <a:pt x="18858" y="1203087"/>
                      <a:pt x="0" y="1157560"/>
                      <a:pt x="0" y="1110090"/>
                    </a:cubicBezTo>
                    <a:lnTo>
                      <a:pt x="0" y="178988"/>
                    </a:lnTo>
                    <a:cubicBezTo>
                      <a:pt x="0" y="131518"/>
                      <a:pt x="18858" y="85991"/>
                      <a:pt x="52424" y="52424"/>
                    </a:cubicBezTo>
                    <a:cubicBezTo>
                      <a:pt x="85991" y="18858"/>
                      <a:pt x="131518" y="0"/>
                      <a:pt x="1789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95250"/>
                <a:ext cx="1775232" cy="11938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25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936110" y="309457"/>
              <a:ext cx="1784449" cy="1784449"/>
            </a:xfrm>
            <a:custGeom>
              <a:avLst/>
              <a:gdLst/>
              <a:ahLst/>
              <a:cxnLst/>
              <a:rect r="r" b="b" t="t" l="l"/>
              <a:pathLst>
                <a:path h="1784449" w="1784449">
                  <a:moveTo>
                    <a:pt x="0" y="0"/>
                  </a:moveTo>
                  <a:lnTo>
                    <a:pt x="1784449" y="0"/>
                  </a:lnTo>
                  <a:lnTo>
                    <a:pt x="1784449" y="1784448"/>
                  </a:lnTo>
                  <a:lnTo>
                    <a:pt x="0" y="1784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33319" y="2363874"/>
              <a:ext cx="5390031" cy="1013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03"/>
                </a:lnSpc>
              </a:pPr>
              <a:r>
                <a:rPr lang="en-US" b="true" sz="2216">
                  <a:solidFill>
                    <a:srgbClr val="A03E3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Di</a:t>
              </a:r>
              <a:r>
                <a:rPr lang="en-US" b="true" sz="2216">
                  <a:solidFill>
                    <a:srgbClr val="A03E3C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gitalizar la toma de pedidos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036333" y="2234553"/>
            <a:ext cx="4325380" cy="3140858"/>
            <a:chOff x="0" y="0"/>
            <a:chExt cx="5767173" cy="418781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767173" cy="4187811"/>
              <a:chOff x="0" y="0"/>
              <a:chExt cx="1775232" cy="128907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775232" cy="1289078"/>
              </a:xfrm>
              <a:custGeom>
                <a:avLst/>
                <a:gdLst/>
                <a:ahLst/>
                <a:cxnLst/>
                <a:rect r="r" b="b" t="t" l="l"/>
                <a:pathLst>
                  <a:path h="1289078" w="1775232">
                    <a:moveTo>
                      <a:pt x="178988" y="0"/>
                    </a:moveTo>
                    <a:lnTo>
                      <a:pt x="1596244" y="0"/>
                    </a:lnTo>
                    <a:cubicBezTo>
                      <a:pt x="1643714" y="0"/>
                      <a:pt x="1689240" y="18858"/>
                      <a:pt x="1722807" y="52424"/>
                    </a:cubicBezTo>
                    <a:cubicBezTo>
                      <a:pt x="1756374" y="85991"/>
                      <a:pt x="1775232" y="131518"/>
                      <a:pt x="1775232" y="178988"/>
                    </a:cubicBezTo>
                    <a:lnTo>
                      <a:pt x="1775232" y="1110090"/>
                    </a:lnTo>
                    <a:cubicBezTo>
                      <a:pt x="1775232" y="1157560"/>
                      <a:pt x="1756374" y="1203087"/>
                      <a:pt x="1722807" y="1236653"/>
                    </a:cubicBezTo>
                    <a:cubicBezTo>
                      <a:pt x="1689240" y="1270220"/>
                      <a:pt x="1643714" y="1289078"/>
                      <a:pt x="1596244" y="1289078"/>
                    </a:cubicBezTo>
                    <a:lnTo>
                      <a:pt x="178988" y="1289078"/>
                    </a:lnTo>
                    <a:cubicBezTo>
                      <a:pt x="131518" y="1289078"/>
                      <a:pt x="85991" y="1270220"/>
                      <a:pt x="52424" y="1236653"/>
                    </a:cubicBezTo>
                    <a:cubicBezTo>
                      <a:pt x="18858" y="1203087"/>
                      <a:pt x="0" y="1157560"/>
                      <a:pt x="0" y="1110090"/>
                    </a:cubicBezTo>
                    <a:lnTo>
                      <a:pt x="0" y="178988"/>
                    </a:lnTo>
                    <a:cubicBezTo>
                      <a:pt x="0" y="131518"/>
                      <a:pt x="18858" y="85991"/>
                      <a:pt x="52424" y="52424"/>
                    </a:cubicBezTo>
                    <a:cubicBezTo>
                      <a:pt x="85991" y="18858"/>
                      <a:pt x="131518" y="0"/>
                      <a:pt x="1789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95250"/>
                <a:ext cx="1775232" cy="11938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25"/>
                  </a:lnSpc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2046614" y="235039"/>
              <a:ext cx="1673945" cy="1628292"/>
            </a:xfrm>
            <a:custGeom>
              <a:avLst/>
              <a:gdLst/>
              <a:ahLst/>
              <a:cxnLst/>
              <a:rect r="r" b="b" t="t" l="l"/>
              <a:pathLst>
                <a:path h="1628292" w="1673945">
                  <a:moveTo>
                    <a:pt x="0" y="0"/>
                  </a:moveTo>
                  <a:lnTo>
                    <a:pt x="1673945" y="0"/>
                  </a:lnTo>
                  <a:lnTo>
                    <a:pt x="1673945" y="1628292"/>
                  </a:lnTo>
                  <a:lnTo>
                    <a:pt x="0" y="1628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263710" y="2320531"/>
              <a:ext cx="5129249" cy="1028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71"/>
                </a:lnSpc>
              </a:pPr>
              <a:r>
                <a:rPr lang="en-US" b="true" sz="2265">
                  <a:solidFill>
                    <a:srgbClr val="862D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</a:t>
              </a:r>
              <a:r>
                <a:rPr lang="en-US" b="true" sz="2265">
                  <a:solidFill>
                    <a:srgbClr val="862D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entralizar la información operativa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411501" y="2234553"/>
            <a:ext cx="4325380" cy="3140858"/>
            <a:chOff x="0" y="0"/>
            <a:chExt cx="5767173" cy="418781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5767173" cy="4187811"/>
              <a:chOff x="0" y="0"/>
              <a:chExt cx="1775232" cy="128907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775232" cy="1289078"/>
              </a:xfrm>
              <a:custGeom>
                <a:avLst/>
                <a:gdLst/>
                <a:ahLst/>
                <a:cxnLst/>
                <a:rect r="r" b="b" t="t" l="l"/>
                <a:pathLst>
                  <a:path h="1289078" w="1775232">
                    <a:moveTo>
                      <a:pt x="178988" y="0"/>
                    </a:moveTo>
                    <a:lnTo>
                      <a:pt x="1596244" y="0"/>
                    </a:lnTo>
                    <a:cubicBezTo>
                      <a:pt x="1643714" y="0"/>
                      <a:pt x="1689240" y="18858"/>
                      <a:pt x="1722807" y="52424"/>
                    </a:cubicBezTo>
                    <a:cubicBezTo>
                      <a:pt x="1756374" y="85991"/>
                      <a:pt x="1775232" y="131518"/>
                      <a:pt x="1775232" y="178988"/>
                    </a:cubicBezTo>
                    <a:lnTo>
                      <a:pt x="1775232" y="1110090"/>
                    </a:lnTo>
                    <a:cubicBezTo>
                      <a:pt x="1775232" y="1157560"/>
                      <a:pt x="1756374" y="1203087"/>
                      <a:pt x="1722807" y="1236653"/>
                    </a:cubicBezTo>
                    <a:cubicBezTo>
                      <a:pt x="1689240" y="1270220"/>
                      <a:pt x="1643714" y="1289078"/>
                      <a:pt x="1596244" y="1289078"/>
                    </a:cubicBezTo>
                    <a:lnTo>
                      <a:pt x="178988" y="1289078"/>
                    </a:lnTo>
                    <a:cubicBezTo>
                      <a:pt x="131518" y="1289078"/>
                      <a:pt x="85991" y="1270220"/>
                      <a:pt x="52424" y="1236653"/>
                    </a:cubicBezTo>
                    <a:cubicBezTo>
                      <a:pt x="18858" y="1203087"/>
                      <a:pt x="0" y="1157560"/>
                      <a:pt x="0" y="1110090"/>
                    </a:cubicBezTo>
                    <a:lnTo>
                      <a:pt x="0" y="178988"/>
                    </a:lnTo>
                    <a:cubicBezTo>
                      <a:pt x="0" y="131518"/>
                      <a:pt x="18858" y="85991"/>
                      <a:pt x="52424" y="52424"/>
                    </a:cubicBezTo>
                    <a:cubicBezTo>
                      <a:pt x="85991" y="18858"/>
                      <a:pt x="131518" y="0"/>
                      <a:pt x="1789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95250"/>
                <a:ext cx="1775232" cy="11938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25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1960503" y="237613"/>
              <a:ext cx="1846167" cy="1856293"/>
            </a:xfrm>
            <a:custGeom>
              <a:avLst/>
              <a:gdLst/>
              <a:ahLst/>
              <a:cxnLst/>
              <a:rect r="r" b="b" t="t" l="l"/>
              <a:pathLst>
                <a:path h="1856293" w="1846167">
                  <a:moveTo>
                    <a:pt x="0" y="0"/>
                  </a:moveTo>
                  <a:lnTo>
                    <a:pt x="1846167" y="0"/>
                  </a:lnTo>
                  <a:lnTo>
                    <a:pt x="1846167" y="1856292"/>
                  </a:lnTo>
                  <a:lnTo>
                    <a:pt x="0" y="1856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179991" y="2249223"/>
              <a:ext cx="5407192" cy="483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94"/>
                </a:lnSpc>
              </a:pPr>
              <a:r>
                <a:rPr lang="en-US" b="true" sz="2210">
                  <a:solidFill>
                    <a:srgbClr val="862D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Automatizar la facturación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98436" y="5708786"/>
            <a:ext cx="4636432" cy="3140858"/>
            <a:chOff x="0" y="0"/>
            <a:chExt cx="6181910" cy="4187811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207368" y="0"/>
              <a:ext cx="5767173" cy="4187811"/>
              <a:chOff x="0" y="0"/>
              <a:chExt cx="1775232" cy="128907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775232" cy="1289078"/>
              </a:xfrm>
              <a:custGeom>
                <a:avLst/>
                <a:gdLst/>
                <a:ahLst/>
                <a:cxnLst/>
                <a:rect r="r" b="b" t="t" l="l"/>
                <a:pathLst>
                  <a:path h="1289078" w="1775232">
                    <a:moveTo>
                      <a:pt x="178988" y="0"/>
                    </a:moveTo>
                    <a:lnTo>
                      <a:pt x="1596244" y="0"/>
                    </a:lnTo>
                    <a:cubicBezTo>
                      <a:pt x="1643714" y="0"/>
                      <a:pt x="1689240" y="18858"/>
                      <a:pt x="1722807" y="52424"/>
                    </a:cubicBezTo>
                    <a:cubicBezTo>
                      <a:pt x="1756374" y="85991"/>
                      <a:pt x="1775232" y="131518"/>
                      <a:pt x="1775232" y="178988"/>
                    </a:cubicBezTo>
                    <a:lnTo>
                      <a:pt x="1775232" y="1110090"/>
                    </a:lnTo>
                    <a:cubicBezTo>
                      <a:pt x="1775232" y="1157560"/>
                      <a:pt x="1756374" y="1203087"/>
                      <a:pt x="1722807" y="1236653"/>
                    </a:cubicBezTo>
                    <a:cubicBezTo>
                      <a:pt x="1689240" y="1270220"/>
                      <a:pt x="1643714" y="1289078"/>
                      <a:pt x="1596244" y="1289078"/>
                    </a:cubicBezTo>
                    <a:lnTo>
                      <a:pt x="178988" y="1289078"/>
                    </a:lnTo>
                    <a:cubicBezTo>
                      <a:pt x="131518" y="1289078"/>
                      <a:pt x="85991" y="1270220"/>
                      <a:pt x="52424" y="1236653"/>
                    </a:cubicBezTo>
                    <a:cubicBezTo>
                      <a:pt x="18858" y="1203087"/>
                      <a:pt x="0" y="1157560"/>
                      <a:pt x="0" y="1110090"/>
                    </a:cubicBezTo>
                    <a:lnTo>
                      <a:pt x="0" y="178988"/>
                    </a:lnTo>
                    <a:cubicBezTo>
                      <a:pt x="0" y="131518"/>
                      <a:pt x="18858" y="85991"/>
                      <a:pt x="52424" y="52424"/>
                    </a:cubicBezTo>
                    <a:cubicBezTo>
                      <a:pt x="85991" y="18858"/>
                      <a:pt x="131518" y="0"/>
                      <a:pt x="1789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95250"/>
                <a:ext cx="1775232" cy="11938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25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2434716" y="609545"/>
              <a:ext cx="1312477" cy="1289909"/>
            </a:xfrm>
            <a:custGeom>
              <a:avLst/>
              <a:gdLst/>
              <a:ahLst/>
              <a:cxnLst/>
              <a:rect r="r" b="b" t="t" l="l"/>
              <a:pathLst>
                <a:path h="1289909" w="1312477">
                  <a:moveTo>
                    <a:pt x="0" y="0"/>
                  </a:moveTo>
                  <a:lnTo>
                    <a:pt x="1312477" y="0"/>
                  </a:lnTo>
                  <a:lnTo>
                    <a:pt x="1312477" y="1289909"/>
                  </a:lnTo>
                  <a:lnTo>
                    <a:pt x="0" y="1289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0" y="2337964"/>
              <a:ext cx="6181910" cy="100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94"/>
                </a:lnSpc>
              </a:pPr>
              <a:r>
                <a:rPr lang="en-US" sz="2210" b="true">
                  <a:solidFill>
                    <a:srgbClr val="862D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Mej</a:t>
              </a:r>
              <a:r>
                <a:rPr lang="en-US" b="true" sz="2210">
                  <a:solidFill>
                    <a:srgbClr val="862D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orar la trazabilidad del proceso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19002" y="5746427"/>
            <a:ext cx="4325380" cy="3140858"/>
            <a:chOff x="0" y="0"/>
            <a:chExt cx="5767173" cy="4187811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5767173" cy="4187811"/>
              <a:chOff x="0" y="0"/>
              <a:chExt cx="1775232" cy="1289078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775232" cy="1289078"/>
              </a:xfrm>
              <a:custGeom>
                <a:avLst/>
                <a:gdLst/>
                <a:ahLst/>
                <a:cxnLst/>
                <a:rect r="r" b="b" t="t" l="l"/>
                <a:pathLst>
                  <a:path h="1289078" w="1775232">
                    <a:moveTo>
                      <a:pt x="178988" y="0"/>
                    </a:moveTo>
                    <a:lnTo>
                      <a:pt x="1596244" y="0"/>
                    </a:lnTo>
                    <a:cubicBezTo>
                      <a:pt x="1643714" y="0"/>
                      <a:pt x="1689240" y="18858"/>
                      <a:pt x="1722807" y="52424"/>
                    </a:cubicBezTo>
                    <a:cubicBezTo>
                      <a:pt x="1756374" y="85991"/>
                      <a:pt x="1775232" y="131518"/>
                      <a:pt x="1775232" y="178988"/>
                    </a:cubicBezTo>
                    <a:lnTo>
                      <a:pt x="1775232" y="1110090"/>
                    </a:lnTo>
                    <a:cubicBezTo>
                      <a:pt x="1775232" y="1157560"/>
                      <a:pt x="1756374" y="1203087"/>
                      <a:pt x="1722807" y="1236653"/>
                    </a:cubicBezTo>
                    <a:cubicBezTo>
                      <a:pt x="1689240" y="1270220"/>
                      <a:pt x="1643714" y="1289078"/>
                      <a:pt x="1596244" y="1289078"/>
                    </a:cubicBezTo>
                    <a:lnTo>
                      <a:pt x="178988" y="1289078"/>
                    </a:lnTo>
                    <a:cubicBezTo>
                      <a:pt x="131518" y="1289078"/>
                      <a:pt x="85991" y="1270220"/>
                      <a:pt x="52424" y="1236653"/>
                    </a:cubicBezTo>
                    <a:cubicBezTo>
                      <a:pt x="18858" y="1203087"/>
                      <a:pt x="0" y="1157560"/>
                      <a:pt x="0" y="1110090"/>
                    </a:cubicBezTo>
                    <a:lnTo>
                      <a:pt x="0" y="178988"/>
                    </a:lnTo>
                    <a:cubicBezTo>
                      <a:pt x="0" y="131518"/>
                      <a:pt x="18858" y="85991"/>
                      <a:pt x="52424" y="52424"/>
                    </a:cubicBezTo>
                    <a:cubicBezTo>
                      <a:pt x="85991" y="18858"/>
                      <a:pt x="131518" y="0"/>
                      <a:pt x="1789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95250"/>
                <a:ext cx="1775232" cy="11938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25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2120091" y="400904"/>
              <a:ext cx="1526991" cy="1526991"/>
            </a:xfrm>
            <a:custGeom>
              <a:avLst/>
              <a:gdLst/>
              <a:ahLst/>
              <a:cxnLst/>
              <a:rect r="r" b="b" t="t" l="l"/>
              <a:pathLst>
                <a:path h="1526991" w="1526991">
                  <a:moveTo>
                    <a:pt x="0" y="0"/>
                  </a:moveTo>
                  <a:lnTo>
                    <a:pt x="1526991" y="0"/>
                  </a:lnTo>
                  <a:lnTo>
                    <a:pt x="1526991" y="1526991"/>
                  </a:lnTo>
                  <a:lnTo>
                    <a:pt x="0" y="1526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110225" y="2243674"/>
              <a:ext cx="5546722" cy="100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94"/>
                </a:lnSpc>
              </a:pPr>
              <a:r>
                <a:rPr lang="en-US" sz="2210" b="true">
                  <a:solidFill>
                    <a:srgbClr val="862D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Reduci</a:t>
              </a:r>
              <a:r>
                <a:rPr lang="en-US" b="true" sz="2210">
                  <a:solidFill>
                    <a:srgbClr val="862D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 los tiempos operativos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306815" y="5782991"/>
            <a:ext cx="4534751" cy="3140858"/>
            <a:chOff x="0" y="0"/>
            <a:chExt cx="6046335" cy="4187811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6046335" cy="4187811"/>
              <a:chOff x="0" y="0"/>
              <a:chExt cx="1861162" cy="1289078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861162" cy="1289078"/>
              </a:xfrm>
              <a:custGeom>
                <a:avLst/>
                <a:gdLst/>
                <a:ahLst/>
                <a:cxnLst/>
                <a:rect r="r" b="b" t="t" l="l"/>
                <a:pathLst>
                  <a:path h="1289078" w="1861162">
                    <a:moveTo>
                      <a:pt x="170724" y="0"/>
                    </a:moveTo>
                    <a:lnTo>
                      <a:pt x="1690438" y="0"/>
                    </a:lnTo>
                    <a:cubicBezTo>
                      <a:pt x="1784727" y="0"/>
                      <a:pt x="1861162" y="76436"/>
                      <a:pt x="1861162" y="170724"/>
                    </a:cubicBezTo>
                    <a:lnTo>
                      <a:pt x="1861162" y="1118354"/>
                    </a:lnTo>
                    <a:cubicBezTo>
                      <a:pt x="1861162" y="1212642"/>
                      <a:pt x="1784727" y="1289078"/>
                      <a:pt x="1690438" y="1289078"/>
                    </a:cubicBezTo>
                    <a:lnTo>
                      <a:pt x="170724" y="1289078"/>
                    </a:lnTo>
                    <a:cubicBezTo>
                      <a:pt x="76436" y="1289078"/>
                      <a:pt x="0" y="1212642"/>
                      <a:pt x="0" y="1118354"/>
                    </a:cubicBezTo>
                    <a:lnTo>
                      <a:pt x="0" y="170724"/>
                    </a:lnTo>
                    <a:cubicBezTo>
                      <a:pt x="0" y="76436"/>
                      <a:pt x="76436" y="0"/>
                      <a:pt x="17072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95250"/>
                <a:ext cx="1861162" cy="11938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25"/>
                  </a:lnSpc>
                </a:pPr>
              </a:p>
            </p:txBody>
          </p:sp>
        </p:grpSp>
        <p:sp>
          <p:nvSpPr>
            <p:cNvPr name="Freeform 41" id="41"/>
            <p:cNvSpPr/>
            <p:nvPr/>
          </p:nvSpPr>
          <p:spPr>
            <a:xfrm flipH="false" flipV="false" rot="0">
              <a:off x="2384979" y="352152"/>
              <a:ext cx="1276377" cy="1759417"/>
            </a:xfrm>
            <a:custGeom>
              <a:avLst/>
              <a:gdLst/>
              <a:ahLst/>
              <a:cxnLst/>
              <a:rect r="r" b="b" t="t" l="l"/>
              <a:pathLst>
                <a:path h="1759417" w="1276377">
                  <a:moveTo>
                    <a:pt x="0" y="0"/>
                  </a:moveTo>
                  <a:lnTo>
                    <a:pt x="1276377" y="0"/>
                  </a:lnTo>
                  <a:lnTo>
                    <a:pt x="1276377" y="1759417"/>
                  </a:lnTo>
                  <a:lnTo>
                    <a:pt x="0" y="1759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 rot="0">
              <a:off x="288491" y="2194922"/>
              <a:ext cx="5469352" cy="1525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94"/>
                </a:lnSpc>
              </a:pPr>
              <a:r>
                <a:rPr lang="en-US" sz="2210" b="true">
                  <a:solidFill>
                    <a:srgbClr val="862D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Genera</a:t>
              </a:r>
              <a:r>
                <a:rPr lang="en-US" b="true" sz="2210">
                  <a:solidFill>
                    <a:srgbClr val="862D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 reportes administrativos automatizados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48710" y="9258300"/>
            <a:ext cx="19785420" cy="597310"/>
            <a:chOff x="0" y="0"/>
            <a:chExt cx="5210975" cy="157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10975" cy="157316"/>
            </a:xfrm>
            <a:custGeom>
              <a:avLst/>
              <a:gdLst/>
              <a:ahLst/>
              <a:cxnLst/>
              <a:rect r="r" b="b" t="t" l="l"/>
              <a:pathLst>
                <a:path h="157316" w="5210975">
                  <a:moveTo>
                    <a:pt x="19956" y="0"/>
                  </a:moveTo>
                  <a:lnTo>
                    <a:pt x="5191019" y="0"/>
                  </a:lnTo>
                  <a:cubicBezTo>
                    <a:pt x="5202040" y="0"/>
                    <a:pt x="5210975" y="8935"/>
                    <a:pt x="5210975" y="19956"/>
                  </a:cubicBezTo>
                  <a:lnTo>
                    <a:pt x="5210975" y="137360"/>
                  </a:lnTo>
                  <a:cubicBezTo>
                    <a:pt x="5210975" y="142653"/>
                    <a:pt x="5208872" y="147729"/>
                    <a:pt x="5205130" y="151471"/>
                  </a:cubicBezTo>
                  <a:cubicBezTo>
                    <a:pt x="5201388" y="155214"/>
                    <a:pt x="5196312" y="157316"/>
                    <a:pt x="5191019" y="157316"/>
                  </a:cubicBezTo>
                  <a:lnTo>
                    <a:pt x="19956" y="157316"/>
                  </a:lnTo>
                  <a:cubicBezTo>
                    <a:pt x="8935" y="157316"/>
                    <a:pt x="0" y="148382"/>
                    <a:pt x="0" y="137360"/>
                  </a:cubicBezTo>
                  <a:lnTo>
                    <a:pt x="0" y="19956"/>
                  </a:lnTo>
                  <a:cubicBezTo>
                    <a:pt x="0" y="8935"/>
                    <a:pt x="8935" y="0"/>
                    <a:pt x="19956" y="0"/>
                  </a:cubicBezTo>
                  <a:close/>
                </a:path>
              </a:pathLst>
            </a:custGeom>
            <a:solidFill>
              <a:srgbClr val="A03E3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10975" cy="195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80053" y="2379699"/>
            <a:ext cx="3443393" cy="2609709"/>
            <a:chOff x="0" y="0"/>
            <a:chExt cx="906902" cy="6873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6902" cy="687331"/>
            </a:xfrm>
            <a:custGeom>
              <a:avLst/>
              <a:gdLst/>
              <a:ahLst/>
              <a:cxnLst/>
              <a:rect r="r" b="b" t="t" l="l"/>
              <a:pathLst>
                <a:path h="687331" w="906902">
                  <a:moveTo>
                    <a:pt x="114665" y="0"/>
                  </a:moveTo>
                  <a:lnTo>
                    <a:pt x="792236" y="0"/>
                  </a:lnTo>
                  <a:cubicBezTo>
                    <a:pt x="855564" y="0"/>
                    <a:pt x="906902" y="51337"/>
                    <a:pt x="906902" y="114665"/>
                  </a:cubicBezTo>
                  <a:lnTo>
                    <a:pt x="906902" y="572665"/>
                  </a:lnTo>
                  <a:cubicBezTo>
                    <a:pt x="906902" y="603077"/>
                    <a:pt x="894821" y="632242"/>
                    <a:pt x="873317" y="653746"/>
                  </a:cubicBezTo>
                  <a:cubicBezTo>
                    <a:pt x="851813" y="675250"/>
                    <a:pt x="822648" y="687331"/>
                    <a:pt x="792236" y="687331"/>
                  </a:cubicBezTo>
                  <a:lnTo>
                    <a:pt x="114665" y="687331"/>
                  </a:lnTo>
                  <a:cubicBezTo>
                    <a:pt x="84254" y="687331"/>
                    <a:pt x="55089" y="675250"/>
                    <a:pt x="33585" y="653746"/>
                  </a:cubicBezTo>
                  <a:cubicBezTo>
                    <a:pt x="12081" y="632242"/>
                    <a:pt x="0" y="603077"/>
                    <a:pt x="0" y="572665"/>
                  </a:cubicBezTo>
                  <a:lnTo>
                    <a:pt x="0" y="114665"/>
                  </a:lnTo>
                  <a:cubicBezTo>
                    <a:pt x="0" y="84254"/>
                    <a:pt x="12081" y="55089"/>
                    <a:pt x="33585" y="33585"/>
                  </a:cubicBezTo>
                  <a:cubicBezTo>
                    <a:pt x="55089" y="12081"/>
                    <a:pt x="84254" y="0"/>
                    <a:pt x="114665" y="0"/>
                  </a:cubicBezTo>
                  <a:close/>
                </a:path>
              </a:pathLst>
            </a:custGeom>
            <a:solidFill>
              <a:srgbClr val="A03E3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06902" cy="725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891288" y="2513850"/>
            <a:ext cx="1220924" cy="1067753"/>
          </a:xfrm>
          <a:custGeom>
            <a:avLst/>
            <a:gdLst/>
            <a:ahLst/>
            <a:cxnLst/>
            <a:rect r="r" b="b" t="t" l="l"/>
            <a:pathLst>
              <a:path h="1067753" w="1220924">
                <a:moveTo>
                  <a:pt x="0" y="0"/>
                </a:moveTo>
                <a:lnTo>
                  <a:pt x="1220924" y="0"/>
                </a:lnTo>
                <a:lnTo>
                  <a:pt x="1220924" y="1067753"/>
                </a:lnTo>
                <a:lnTo>
                  <a:pt x="0" y="10677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422304" y="2379699"/>
            <a:ext cx="3443393" cy="2609709"/>
            <a:chOff x="0" y="0"/>
            <a:chExt cx="906902" cy="6873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6902" cy="687331"/>
            </a:xfrm>
            <a:custGeom>
              <a:avLst/>
              <a:gdLst/>
              <a:ahLst/>
              <a:cxnLst/>
              <a:rect r="r" b="b" t="t" l="l"/>
              <a:pathLst>
                <a:path h="687331" w="906902">
                  <a:moveTo>
                    <a:pt x="114665" y="0"/>
                  </a:moveTo>
                  <a:lnTo>
                    <a:pt x="792236" y="0"/>
                  </a:lnTo>
                  <a:cubicBezTo>
                    <a:pt x="855564" y="0"/>
                    <a:pt x="906902" y="51337"/>
                    <a:pt x="906902" y="114665"/>
                  </a:cubicBezTo>
                  <a:lnTo>
                    <a:pt x="906902" y="572665"/>
                  </a:lnTo>
                  <a:cubicBezTo>
                    <a:pt x="906902" y="603077"/>
                    <a:pt x="894821" y="632242"/>
                    <a:pt x="873317" y="653746"/>
                  </a:cubicBezTo>
                  <a:cubicBezTo>
                    <a:pt x="851813" y="675250"/>
                    <a:pt x="822648" y="687331"/>
                    <a:pt x="792236" y="687331"/>
                  </a:cubicBezTo>
                  <a:lnTo>
                    <a:pt x="114665" y="687331"/>
                  </a:lnTo>
                  <a:cubicBezTo>
                    <a:pt x="84254" y="687331"/>
                    <a:pt x="55089" y="675250"/>
                    <a:pt x="33585" y="653746"/>
                  </a:cubicBezTo>
                  <a:cubicBezTo>
                    <a:pt x="12081" y="632242"/>
                    <a:pt x="0" y="603077"/>
                    <a:pt x="0" y="572665"/>
                  </a:cubicBezTo>
                  <a:lnTo>
                    <a:pt x="0" y="114665"/>
                  </a:lnTo>
                  <a:cubicBezTo>
                    <a:pt x="0" y="84254"/>
                    <a:pt x="12081" y="55089"/>
                    <a:pt x="33585" y="33585"/>
                  </a:cubicBezTo>
                  <a:cubicBezTo>
                    <a:pt x="55089" y="12081"/>
                    <a:pt x="84254" y="0"/>
                    <a:pt x="114665" y="0"/>
                  </a:cubicBezTo>
                  <a:close/>
                </a:path>
              </a:pathLst>
            </a:custGeom>
            <a:solidFill>
              <a:srgbClr val="A03E3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06902" cy="725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364734" y="2379699"/>
            <a:ext cx="1558531" cy="1558531"/>
          </a:xfrm>
          <a:custGeom>
            <a:avLst/>
            <a:gdLst/>
            <a:ahLst/>
            <a:cxnLst/>
            <a:rect r="r" b="b" t="t" l="l"/>
            <a:pathLst>
              <a:path h="1558531" w="1558531">
                <a:moveTo>
                  <a:pt x="0" y="0"/>
                </a:moveTo>
                <a:lnTo>
                  <a:pt x="1558532" y="0"/>
                </a:lnTo>
                <a:lnTo>
                  <a:pt x="1558532" y="1558532"/>
                </a:lnTo>
                <a:lnTo>
                  <a:pt x="0" y="1558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3332671" y="2379699"/>
            <a:ext cx="3443393" cy="2609709"/>
            <a:chOff x="0" y="0"/>
            <a:chExt cx="906902" cy="6873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6902" cy="687331"/>
            </a:xfrm>
            <a:custGeom>
              <a:avLst/>
              <a:gdLst/>
              <a:ahLst/>
              <a:cxnLst/>
              <a:rect r="r" b="b" t="t" l="l"/>
              <a:pathLst>
                <a:path h="687331" w="906902">
                  <a:moveTo>
                    <a:pt x="114665" y="0"/>
                  </a:moveTo>
                  <a:lnTo>
                    <a:pt x="792236" y="0"/>
                  </a:lnTo>
                  <a:cubicBezTo>
                    <a:pt x="855564" y="0"/>
                    <a:pt x="906902" y="51337"/>
                    <a:pt x="906902" y="114665"/>
                  </a:cubicBezTo>
                  <a:lnTo>
                    <a:pt x="906902" y="572665"/>
                  </a:lnTo>
                  <a:cubicBezTo>
                    <a:pt x="906902" y="603077"/>
                    <a:pt x="894821" y="632242"/>
                    <a:pt x="873317" y="653746"/>
                  </a:cubicBezTo>
                  <a:cubicBezTo>
                    <a:pt x="851813" y="675250"/>
                    <a:pt x="822648" y="687331"/>
                    <a:pt x="792236" y="687331"/>
                  </a:cubicBezTo>
                  <a:lnTo>
                    <a:pt x="114665" y="687331"/>
                  </a:lnTo>
                  <a:cubicBezTo>
                    <a:pt x="84254" y="687331"/>
                    <a:pt x="55089" y="675250"/>
                    <a:pt x="33585" y="653746"/>
                  </a:cubicBezTo>
                  <a:cubicBezTo>
                    <a:pt x="12081" y="632242"/>
                    <a:pt x="0" y="603077"/>
                    <a:pt x="0" y="572665"/>
                  </a:cubicBezTo>
                  <a:lnTo>
                    <a:pt x="0" y="114665"/>
                  </a:lnTo>
                  <a:cubicBezTo>
                    <a:pt x="0" y="84254"/>
                    <a:pt x="12081" y="55089"/>
                    <a:pt x="33585" y="33585"/>
                  </a:cubicBezTo>
                  <a:cubicBezTo>
                    <a:pt x="55089" y="12081"/>
                    <a:pt x="84254" y="0"/>
                    <a:pt x="114665" y="0"/>
                  </a:cubicBezTo>
                  <a:close/>
                </a:path>
              </a:pathLst>
            </a:custGeom>
            <a:solidFill>
              <a:srgbClr val="A03E3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06902" cy="725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427505" y="2513850"/>
            <a:ext cx="1292939" cy="1260027"/>
          </a:xfrm>
          <a:custGeom>
            <a:avLst/>
            <a:gdLst/>
            <a:ahLst/>
            <a:cxnLst/>
            <a:rect r="r" b="b" t="t" l="l"/>
            <a:pathLst>
              <a:path h="1260027" w="1292939">
                <a:moveTo>
                  <a:pt x="0" y="0"/>
                </a:moveTo>
                <a:lnTo>
                  <a:pt x="1292938" y="0"/>
                </a:lnTo>
                <a:lnTo>
                  <a:pt x="1292938" y="1260027"/>
                </a:lnTo>
                <a:lnTo>
                  <a:pt x="0" y="12600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112212" y="5322784"/>
            <a:ext cx="10315293" cy="3105925"/>
            <a:chOff x="0" y="0"/>
            <a:chExt cx="2716785" cy="8180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16785" cy="818021"/>
            </a:xfrm>
            <a:custGeom>
              <a:avLst/>
              <a:gdLst/>
              <a:ahLst/>
              <a:cxnLst/>
              <a:rect r="r" b="b" t="t" l="l"/>
              <a:pathLst>
                <a:path h="818021" w="2716785">
                  <a:moveTo>
                    <a:pt x="38277" y="0"/>
                  </a:moveTo>
                  <a:lnTo>
                    <a:pt x="2678508" y="0"/>
                  </a:lnTo>
                  <a:cubicBezTo>
                    <a:pt x="2699648" y="0"/>
                    <a:pt x="2716785" y="17137"/>
                    <a:pt x="2716785" y="38277"/>
                  </a:cubicBezTo>
                  <a:lnTo>
                    <a:pt x="2716785" y="779745"/>
                  </a:lnTo>
                  <a:cubicBezTo>
                    <a:pt x="2716785" y="800884"/>
                    <a:pt x="2699648" y="818021"/>
                    <a:pt x="2678508" y="818021"/>
                  </a:cubicBezTo>
                  <a:lnTo>
                    <a:pt x="38277" y="818021"/>
                  </a:lnTo>
                  <a:cubicBezTo>
                    <a:pt x="28125" y="818021"/>
                    <a:pt x="18389" y="813989"/>
                    <a:pt x="11211" y="806810"/>
                  </a:cubicBezTo>
                  <a:cubicBezTo>
                    <a:pt x="4033" y="799632"/>
                    <a:pt x="0" y="789896"/>
                    <a:pt x="0" y="779745"/>
                  </a:cubicBezTo>
                  <a:lnTo>
                    <a:pt x="0" y="38277"/>
                  </a:lnTo>
                  <a:cubicBezTo>
                    <a:pt x="0" y="17137"/>
                    <a:pt x="17137" y="0"/>
                    <a:pt x="38277" y="0"/>
                  </a:cubicBezTo>
                  <a:close/>
                </a:path>
              </a:pathLst>
            </a:custGeom>
            <a:solidFill>
              <a:srgbClr val="7D222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716785" cy="856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3647548" y="320897"/>
            <a:ext cx="1721114" cy="1725427"/>
          </a:xfrm>
          <a:custGeom>
            <a:avLst/>
            <a:gdLst/>
            <a:ahLst/>
            <a:cxnLst/>
            <a:rect r="r" b="b" t="t" l="l"/>
            <a:pathLst>
              <a:path h="1725427" w="1721114">
                <a:moveTo>
                  <a:pt x="0" y="0"/>
                </a:moveTo>
                <a:lnTo>
                  <a:pt x="1721114" y="0"/>
                </a:lnTo>
                <a:lnTo>
                  <a:pt x="1721114" y="1725427"/>
                </a:lnTo>
                <a:lnTo>
                  <a:pt x="0" y="17254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-546124">
            <a:off x="13994396" y="527678"/>
            <a:ext cx="1027419" cy="1027419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4459193" y="969716"/>
            <a:ext cx="9369615" cy="86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6400" spc="-96" b="true">
                <a:solidFill>
                  <a:srgbClr val="20202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Metodología SCRUM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58299" y="9279206"/>
            <a:ext cx="4401001" cy="45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56"/>
              </a:lnSpc>
            </a:pPr>
            <a:r>
              <a:rPr lang="en-US" b="true" sz="2400">
                <a:solidFill>
                  <a:srgbClr val="EFE8D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08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45253" y="3627404"/>
            <a:ext cx="2912993" cy="1007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1"/>
              </a:lnSpc>
            </a:pPr>
            <a:r>
              <a:rPr lang="en-US" b="true" sz="287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Cercanía con el cliente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87503" y="3716727"/>
            <a:ext cx="2912993" cy="1007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1"/>
              </a:lnSpc>
            </a:pPr>
            <a:r>
              <a:rPr lang="en-US" sz="287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Trabajo iterativo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02303" y="3716727"/>
            <a:ext cx="2912993" cy="1007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1"/>
              </a:lnSpc>
            </a:pPr>
            <a:r>
              <a:rPr lang="en-US" sz="287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Feedback Constante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21562" y="5475184"/>
            <a:ext cx="2912993" cy="488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1"/>
              </a:lnSpc>
            </a:pPr>
            <a:r>
              <a:rPr lang="en-US" b="true" sz="2879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Roles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08569" y="6133017"/>
            <a:ext cx="2912993" cy="495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1"/>
              </a:lnSpc>
            </a:pPr>
            <a:r>
              <a:rPr lang="en-US" sz="287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Marcelo Darras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908569" y="6837646"/>
            <a:ext cx="2912993" cy="70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49068" indent="-224534" lvl="1">
              <a:lnSpc>
                <a:spcPts val="2911"/>
              </a:lnSpc>
              <a:buFont typeface="Arial"/>
              <a:buChar char="•"/>
            </a:pPr>
            <a:r>
              <a:rPr lang="en-US" b="true" sz="207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Jefe de proyecto</a:t>
            </a:r>
          </a:p>
          <a:p>
            <a:pPr algn="ctr" marL="449068" indent="-224534" lvl="1">
              <a:lnSpc>
                <a:spcPts val="2911"/>
              </a:lnSpc>
              <a:buFont typeface="Arial"/>
              <a:buChar char="•"/>
            </a:pPr>
            <a:r>
              <a:rPr lang="en-US" b="true" sz="207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Jefe Backend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34555" y="6133017"/>
            <a:ext cx="2912993" cy="495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1"/>
              </a:lnSpc>
            </a:pPr>
            <a:r>
              <a:rPr lang="en-US" sz="287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Jesús Delgado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34555" y="6837646"/>
            <a:ext cx="2912993" cy="107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49068" indent="-224534" lvl="1">
              <a:lnSpc>
                <a:spcPts val="2911"/>
              </a:lnSpc>
              <a:buFont typeface="Arial"/>
              <a:buChar char="•"/>
            </a:pPr>
            <a:r>
              <a:rPr lang="en-US" b="true" sz="207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Jefe de Documentación</a:t>
            </a:r>
          </a:p>
          <a:p>
            <a:pPr algn="ctr" marL="449068" indent="-224534" lvl="1">
              <a:lnSpc>
                <a:spcPts val="2911"/>
              </a:lnSpc>
              <a:buFont typeface="Arial"/>
              <a:buChar char="•"/>
            </a:pPr>
            <a:r>
              <a:rPr lang="en-US" b="true" sz="207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Jefe Frontend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8481700" y="4668899"/>
          <a:ext cx="1324599" cy="949203"/>
        </p:xfrm>
        <a:graphic>
          <a:graphicData uri="http://schemas.openxmlformats.org/presentationml/2006/ole">
            <p:oleObj imgW="1574800" imgH="1206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3" id="3"/>
          <p:cNvGraphicFramePr/>
          <p:nvPr/>
        </p:nvGraphicFramePr>
        <p:xfrm>
          <a:off x="0" y="1283097"/>
          <a:ext cx="18288000" cy="9003903"/>
        </p:xfrm>
        <a:graphic>
          <a:graphicData uri="http://schemas.openxmlformats.org/presentationml/2006/ole">
            <p:oleObj imgW="21945600" imgH="12649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2858299" y="494980"/>
            <a:ext cx="4401001" cy="45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56"/>
              </a:lnSpc>
            </a:pPr>
            <a:r>
              <a:rPr lang="en-US" b="true" sz="2400">
                <a:solidFill>
                  <a:srgbClr val="3A3A3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59193" y="161285"/>
            <a:ext cx="9369615" cy="86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b="true" sz="6400" spc="-96">
                <a:solidFill>
                  <a:srgbClr val="20202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Cronograma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48710" y="9258300"/>
            <a:ext cx="19785420" cy="597310"/>
            <a:chOff x="0" y="0"/>
            <a:chExt cx="5210975" cy="157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10975" cy="157316"/>
            </a:xfrm>
            <a:custGeom>
              <a:avLst/>
              <a:gdLst/>
              <a:ahLst/>
              <a:cxnLst/>
              <a:rect r="r" b="b" t="t" l="l"/>
              <a:pathLst>
                <a:path h="157316" w="5210975">
                  <a:moveTo>
                    <a:pt x="19956" y="0"/>
                  </a:moveTo>
                  <a:lnTo>
                    <a:pt x="5191019" y="0"/>
                  </a:lnTo>
                  <a:cubicBezTo>
                    <a:pt x="5202040" y="0"/>
                    <a:pt x="5210975" y="8935"/>
                    <a:pt x="5210975" y="19956"/>
                  </a:cubicBezTo>
                  <a:lnTo>
                    <a:pt x="5210975" y="137360"/>
                  </a:lnTo>
                  <a:cubicBezTo>
                    <a:pt x="5210975" y="142653"/>
                    <a:pt x="5208872" y="147729"/>
                    <a:pt x="5205130" y="151471"/>
                  </a:cubicBezTo>
                  <a:cubicBezTo>
                    <a:pt x="5201388" y="155214"/>
                    <a:pt x="5196312" y="157316"/>
                    <a:pt x="5191019" y="157316"/>
                  </a:cubicBezTo>
                  <a:lnTo>
                    <a:pt x="19956" y="157316"/>
                  </a:lnTo>
                  <a:cubicBezTo>
                    <a:pt x="8935" y="157316"/>
                    <a:pt x="0" y="148382"/>
                    <a:pt x="0" y="137360"/>
                  </a:cubicBezTo>
                  <a:lnTo>
                    <a:pt x="0" y="19956"/>
                  </a:lnTo>
                  <a:cubicBezTo>
                    <a:pt x="0" y="8935"/>
                    <a:pt x="8935" y="0"/>
                    <a:pt x="19956" y="0"/>
                  </a:cubicBezTo>
                  <a:close/>
                </a:path>
              </a:pathLst>
            </a:custGeom>
            <a:solidFill>
              <a:srgbClr val="A03E3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10975" cy="195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20043" y="3889050"/>
            <a:ext cx="3424054" cy="2508900"/>
            <a:chOff x="0" y="0"/>
            <a:chExt cx="2448885" cy="17943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8885" cy="1794366"/>
            </a:xfrm>
            <a:custGeom>
              <a:avLst/>
              <a:gdLst/>
              <a:ahLst/>
              <a:cxnLst/>
              <a:rect r="r" b="b" t="t" l="l"/>
              <a:pathLst>
                <a:path h="1794366" w="2448885">
                  <a:moveTo>
                    <a:pt x="162795" y="0"/>
                  </a:moveTo>
                  <a:lnTo>
                    <a:pt x="2286090" y="0"/>
                  </a:lnTo>
                  <a:cubicBezTo>
                    <a:pt x="2375999" y="0"/>
                    <a:pt x="2448885" y="72886"/>
                    <a:pt x="2448885" y="162795"/>
                  </a:cubicBezTo>
                  <a:lnTo>
                    <a:pt x="2448885" y="1631571"/>
                  </a:lnTo>
                  <a:cubicBezTo>
                    <a:pt x="2448885" y="1721480"/>
                    <a:pt x="2375999" y="1794366"/>
                    <a:pt x="2286090" y="1794366"/>
                  </a:cubicBezTo>
                  <a:lnTo>
                    <a:pt x="162795" y="1794366"/>
                  </a:lnTo>
                  <a:cubicBezTo>
                    <a:pt x="119619" y="1794366"/>
                    <a:pt x="78211" y="1777214"/>
                    <a:pt x="47681" y="1746684"/>
                  </a:cubicBezTo>
                  <a:cubicBezTo>
                    <a:pt x="17152" y="1716154"/>
                    <a:pt x="0" y="1674747"/>
                    <a:pt x="0" y="1631571"/>
                  </a:cubicBezTo>
                  <a:lnTo>
                    <a:pt x="0" y="162795"/>
                  </a:lnTo>
                  <a:cubicBezTo>
                    <a:pt x="0" y="72886"/>
                    <a:pt x="72886" y="0"/>
                    <a:pt x="162795" y="0"/>
                  </a:cubicBezTo>
                  <a:close/>
                </a:path>
              </a:pathLst>
            </a:custGeom>
            <a:solidFill>
              <a:srgbClr val="7D22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0"/>
              <a:ext cx="2448885" cy="1699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920140" y="3889050"/>
            <a:ext cx="3339160" cy="2508900"/>
            <a:chOff x="0" y="0"/>
            <a:chExt cx="2388169" cy="17943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8169" cy="1794366"/>
            </a:xfrm>
            <a:custGeom>
              <a:avLst/>
              <a:gdLst/>
              <a:ahLst/>
              <a:cxnLst/>
              <a:rect r="r" b="b" t="t" l="l"/>
              <a:pathLst>
                <a:path h="1794366" w="2388169">
                  <a:moveTo>
                    <a:pt x="166934" y="0"/>
                  </a:moveTo>
                  <a:lnTo>
                    <a:pt x="2221235" y="0"/>
                  </a:lnTo>
                  <a:cubicBezTo>
                    <a:pt x="2265508" y="0"/>
                    <a:pt x="2307969" y="17588"/>
                    <a:pt x="2339275" y="48894"/>
                  </a:cubicBezTo>
                  <a:cubicBezTo>
                    <a:pt x="2370581" y="80200"/>
                    <a:pt x="2388169" y="122660"/>
                    <a:pt x="2388169" y="166934"/>
                  </a:cubicBezTo>
                  <a:lnTo>
                    <a:pt x="2388169" y="1627432"/>
                  </a:lnTo>
                  <a:cubicBezTo>
                    <a:pt x="2388169" y="1719627"/>
                    <a:pt x="2313430" y="1794366"/>
                    <a:pt x="2221235" y="1794366"/>
                  </a:cubicBezTo>
                  <a:lnTo>
                    <a:pt x="166934" y="1794366"/>
                  </a:lnTo>
                  <a:cubicBezTo>
                    <a:pt x="122660" y="1794366"/>
                    <a:pt x="80200" y="1776778"/>
                    <a:pt x="48894" y="1745472"/>
                  </a:cubicBezTo>
                  <a:cubicBezTo>
                    <a:pt x="17588" y="1714166"/>
                    <a:pt x="0" y="1671706"/>
                    <a:pt x="0" y="1627432"/>
                  </a:cubicBezTo>
                  <a:lnTo>
                    <a:pt x="0" y="166934"/>
                  </a:lnTo>
                  <a:cubicBezTo>
                    <a:pt x="0" y="74739"/>
                    <a:pt x="74739" y="0"/>
                    <a:pt x="166934" y="0"/>
                  </a:cubicBezTo>
                  <a:close/>
                </a:path>
              </a:pathLst>
            </a:custGeom>
            <a:solidFill>
              <a:srgbClr val="A03E3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0"/>
              <a:ext cx="2388169" cy="1699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62445" y="1923599"/>
            <a:ext cx="8281555" cy="6470568"/>
            <a:chOff x="0" y="0"/>
            <a:chExt cx="11042073" cy="86274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753259" y="376980"/>
              <a:ext cx="9773062" cy="7603231"/>
            </a:xfrm>
            <a:custGeom>
              <a:avLst/>
              <a:gdLst/>
              <a:ahLst/>
              <a:cxnLst/>
              <a:rect r="r" b="b" t="t" l="l"/>
              <a:pathLst>
                <a:path h="7603231" w="9773062">
                  <a:moveTo>
                    <a:pt x="0" y="0"/>
                  </a:moveTo>
                  <a:lnTo>
                    <a:pt x="9773062" y="0"/>
                  </a:lnTo>
                  <a:lnTo>
                    <a:pt x="9773062" y="7603231"/>
                  </a:lnTo>
                  <a:lnTo>
                    <a:pt x="0" y="7603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3" id="13"/>
            <p:cNvGrpSpPr/>
            <p:nvPr/>
          </p:nvGrpSpPr>
          <p:grpSpPr>
            <a:xfrm rot="0">
              <a:off x="753259" y="376980"/>
              <a:ext cx="2894702" cy="1858581"/>
              <a:chOff x="0" y="0"/>
              <a:chExt cx="632960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296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32960">
                    <a:moveTo>
                      <a:pt x="82018" y="0"/>
                    </a:moveTo>
                    <a:lnTo>
                      <a:pt x="550941" y="0"/>
                    </a:lnTo>
                    <a:cubicBezTo>
                      <a:pt x="596239" y="0"/>
                      <a:pt x="632960" y="36721"/>
                      <a:pt x="632960" y="82018"/>
                    </a:cubicBezTo>
                    <a:lnTo>
                      <a:pt x="632960" y="324382"/>
                    </a:lnTo>
                    <a:cubicBezTo>
                      <a:pt x="632960" y="346134"/>
                      <a:pt x="624318" y="366996"/>
                      <a:pt x="608937" y="382377"/>
                    </a:cubicBezTo>
                    <a:cubicBezTo>
                      <a:pt x="593556" y="397759"/>
                      <a:pt x="572694" y="406400"/>
                      <a:pt x="550941" y="406400"/>
                    </a:cubicBezTo>
                    <a:lnTo>
                      <a:pt x="82018" y="406400"/>
                    </a:lnTo>
                    <a:cubicBezTo>
                      <a:pt x="60266" y="406400"/>
                      <a:pt x="39404" y="397759"/>
                      <a:pt x="24023" y="382377"/>
                    </a:cubicBezTo>
                    <a:cubicBezTo>
                      <a:pt x="8641" y="366996"/>
                      <a:pt x="0" y="346134"/>
                      <a:pt x="0" y="324382"/>
                    </a:cubicBezTo>
                    <a:lnTo>
                      <a:pt x="0" y="82018"/>
                    </a:lnTo>
                    <a:cubicBezTo>
                      <a:pt x="0" y="60266"/>
                      <a:pt x="8641" y="39404"/>
                      <a:pt x="24023" y="24023"/>
                    </a:cubicBezTo>
                    <a:cubicBezTo>
                      <a:pt x="39404" y="8641"/>
                      <a:pt x="60266" y="0"/>
                      <a:pt x="82018" y="0"/>
                    </a:cubicBezTo>
                    <a:close/>
                  </a:path>
                </a:pathLst>
              </a:custGeom>
              <a:solidFill>
                <a:srgbClr val="A03E3C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63296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b="true" sz="1899" spc="30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App Movil</a:t>
                </a:r>
              </a:p>
              <a:p>
                <a:pPr algn="ctr">
                  <a:lnSpc>
                    <a:spcPts val="2659"/>
                  </a:lnSpc>
                </a:pPr>
                <a:r>
                  <a:rPr lang="en-US" b="true" sz="1899" spc="30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(ionic/angular)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7631618" y="376980"/>
              <a:ext cx="2894702" cy="1858581"/>
              <a:chOff x="0" y="0"/>
              <a:chExt cx="632960" cy="406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296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32960">
                    <a:moveTo>
                      <a:pt x="82018" y="0"/>
                    </a:moveTo>
                    <a:lnTo>
                      <a:pt x="550941" y="0"/>
                    </a:lnTo>
                    <a:cubicBezTo>
                      <a:pt x="596239" y="0"/>
                      <a:pt x="632960" y="36721"/>
                      <a:pt x="632960" y="82018"/>
                    </a:cubicBezTo>
                    <a:lnTo>
                      <a:pt x="632960" y="324382"/>
                    </a:lnTo>
                    <a:cubicBezTo>
                      <a:pt x="632960" y="346134"/>
                      <a:pt x="624318" y="366996"/>
                      <a:pt x="608937" y="382377"/>
                    </a:cubicBezTo>
                    <a:cubicBezTo>
                      <a:pt x="593556" y="397759"/>
                      <a:pt x="572694" y="406400"/>
                      <a:pt x="550941" y="406400"/>
                    </a:cubicBezTo>
                    <a:lnTo>
                      <a:pt x="82018" y="406400"/>
                    </a:lnTo>
                    <a:cubicBezTo>
                      <a:pt x="60266" y="406400"/>
                      <a:pt x="39404" y="397759"/>
                      <a:pt x="24023" y="382377"/>
                    </a:cubicBezTo>
                    <a:cubicBezTo>
                      <a:pt x="8641" y="366996"/>
                      <a:pt x="0" y="346134"/>
                      <a:pt x="0" y="324382"/>
                    </a:cubicBezTo>
                    <a:lnTo>
                      <a:pt x="0" y="82018"/>
                    </a:lnTo>
                    <a:cubicBezTo>
                      <a:pt x="0" y="60266"/>
                      <a:pt x="8641" y="39404"/>
                      <a:pt x="24023" y="24023"/>
                    </a:cubicBezTo>
                    <a:cubicBezTo>
                      <a:pt x="39404" y="8641"/>
                      <a:pt x="60266" y="0"/>
                      <a:pt x="82018" y="0"/>
                    </a:cubicBezTo>
                    <a:close/>
                  </a:path>
                </a:pathLst>
              </a:custGeom>
              <a:solidFill>
                <a:srgbClr val="A03E3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3296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b="true" sz="1899" spc="30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Tarea Programada</a:t>
                </a:r>
              </a:p>
              <a:p>
                <a:pPr algn="ctr">
                  <a:lnSpc>
                    <a:spcPts val="2659"/>
                  </a:lnSpc>
                </a:pPr>
                <a:r>
                  <a:rPr lang="en-US" b="true" sz="1899" spc="30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check_low_stock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6372211" y="6550200"/>
              <a:ext cx="2894702" cy="1858581"/>
              <a:chOff x="0" y="0"/>
              <a:chExt cx="632960" cy="4064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296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32960">
                    <a:moveTo>
                      <a:pt x="82018" y="0"/>
                    </a:moveTo>
                    <a:lnTo>
                      <a:pt x="550941" y="0"/>
                    </a:lnTo>
                    <a:cubicBezTo>
                      <a:pt x="596239" y="0"/>
                      <a:pt x="632960" y="36721"/>
                      <a:pt x="632960" y="82018"/>
                    </a:cubicBezTo>
                    <a:lnTo>
                      <a:pt x="632960" y="324382"/>
                    </a:lnTo>
                    <a:cubicBezTo>
                      <a:pt x="632960" y="346134"/>
                      <a:pt x="624318" y="366996"/>
                      <a:pt x="608937" y="382377"/>
                    </a:cubicBezTo>
                    <a:cubicBezTo>
                      <a:pt x="593556" y="397759"/>
                      <a:pt x="572694" y="406400"/>
                      <a:pt x="550941" y="406400"/>
                    </a:cubicBezTo>
                    <a:lnTo>
                      <a:pt x="82018" y="406400"/>
                    </a:lnTo>
                    <a:cubicBezTo>
                      <a:pt x="60266" y="406400"/>
                      <a:pt x="39404" y="397759"/>
                      <a:pt x="24023" y="382377"/>
                    </a:cubicBezTo>
                    <a:cubicBezTo>
                      <a:pt x="8641" y="366996"/>
                      <a:pt x="0" y="346134"/>
                      <a:pt x="0" y="324382"/>
                    </a:cubicBezTo>
                    <a:lnTo>
                      <a:pt x="0" y="82018"/>
                    </a:lnTo>
                    <a:cubicBezTo>
                      <a:pt x="0" y="60266"/>
                      <a:pt x="8641" y="39404"/>
                      <a:pt x="24023" y="24023"/>
                    </a:cubicBezTo>
                    <a:cubicBezTo>
                      <a:pt x="39404" y="8641"/>
                      <a:pt x="60266" y="0"/>
                      <a:pt x="82018" y="0"/>
                    </a:cubicBezTo>
                    <a:close/>
                  </a:path>
                </a:pathLst>
              </a:custGeom>
              <a:solidFill>
                <a:srgbClr val="A03E3C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3296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  <a:r>
                  <a:rPr lang="en-US" b="true" sz="2199" spc="35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Base de datos</a:t>
                </a:r>
              </a:p>
              <a:p>
                <a:pPr algn="ctr">
                  <a:lnSpc>
                    <a:spcPts val="3079"/>
                  </a:lnSpc>
                </a:pPr>
                <a:r>
                  <a:rPr lang="en-US" b="true" sz="2199" spc="35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(MySQL)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753259" y="6371404"/>
              <a:ext cx="2894702" cy="1858581"/>
              <a:chOff x="0" y="0"/>
              <a:chExt cx="632960" cy="4064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296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32960">
                    <a:moveTo>
                      <a:pt x="82018" y="0"/>
                    </a:moveTo>
                    <a:lnTo>
                      <a:pt x="550941" y="0"/>
                    </a:lnTo>
                    <a:cubicBezTo>
                      <a:pt x="596239" y="0"/>
                      <a:pt x="632960" y="36721"/>
                      <a:pt x="632960" y="82018"/>
                    </a:cubicBezTo>
                    <a:lnTo>
                      <a:pt x="632960" y="324382"/>
                    </a:lnTo>
                    <a:cubicBezTo>
                      <a:pt x="632960" y="346134"/>
                      <a:pt x="624318" y="366996"/>
                      <a:pt x="608937" y="382377"/>
                    </a:cubicBezTo>
                    <a:cubicBezTo>
                      <a:pt x="593556" y="397759"/>
                      <a:pt x="572694" y="406400"/>
                      <a:pt x="550941" y="406400"/>
                    </a:cubicBezTo>
                    <a:lnTo>
                      <a:pt x="82018" y="406400"/>
                    </a:lnTo>
                    <a:cubicBezTo>
                      <a:pt x="60266" y="406400"/>
                      <a:pt x="39404" y="397759"/>
                      <a:pt x="24023" y="382377"/>
                    </a:cubicBezTo>
                    <a:cubicBezTo>
                      <a:pt x="8641" y="366996"/>
                      <a:pt x="0" y="346134"/>
                      <a:pt x="0" y="324382"/>
                    </a:cubicBezTo>
                    <a:lnTo>
                      <a:pt x="0" y="82018"/>
                    </a:lnTo>
                    <a:cubicBezTo>
                      <a:pt x="0" y="60266"/>
                      <a:pt x="8641" y="39404"/>
                      <a:pt x="24023" y="24023"/>
                    </a:cubicBezTo>
                    <a:cubicBezTo>
                      <a:pt x="39404" y="8641"/>
                      <a:pt x="60266" y="0"/>
                      <a:pt x="82018" y="0"/>
                    </a:cubicBezTo>
                    <a:close/>
                  </a:path>
                </a:pathLst>
              </a:custGeom>
              <a:solidFill>
                <a:srgbClr val="A03E3C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3296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  <a:r>
                  <a:rPr lang="en-US" b="true" sz="2199" spc="35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Correo SMTP</a:t>
                </a:r>
              </a:p>
              <a:p>
                <a:pPr algn="ctr">
                  <a:lnSpc>
                    <a:spcPts val="3079"/>
                  </a:lnSpc>
                </a:pPr>
                <a:r>
                  <a:rPr lang="en-US" b="true" sz="2199" spc="35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(MailerSend)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3405991" y="3540776"/>
              <a:ext cx="2966221" cy="1733424"/>
              <a:chOff x="0" y="0"/>
              <a:chExt cx="648598" cy="37903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48598" cy="379033"/>
              </a:xfrm>
              <a:custGeom>
                <a:avLst/>
                <a:gdLst/>
                <a:ahLst/>
                <a:cxnLst/>
                <a:rect r="r" b="b" t="t" l="l"/>
                <a:pathLst>
                  <a:path h="379033" w="648598">
                    <a:moveTo>
                      <a:pt x="80041" y="0"/>
                    </a:moveTo>
                    <a:lnTo>
                      <a:pt x="568557" y="0"/>
                    </a:lnTo>
                    <a:cubicBezTo>
                      <a:pt x="612762" y="0"/>
                      <a:pt x="648598" y="35836"/>
                      <a:pt x="648598" y="80041"/>
                    </a:cubicBezTo>
                    <a:lnTo>
                      <a:pt x="648598" y="298992"/>
                    </a:lnTo>
                    <a:cubicBezTo>
                      <a:pt x="648598" y="320220"/>
                      <a:pt x="640165" y="340579"/>
                      <a:pt x="625155" y="355590"/>
                    </a:cubicBezTo>
                    <a:cubicBezTo>
                      <a:pt x="610144" y="370600"/>
                      <a:pt x="589785" y="379033"/>
                      <a:pt x="568557" y="379033"/>
                    </a:cubicBezTo>
                    <a:lnTo>
                      <a:pt x="80041" y="379033"/>
                    </a:lnTo>
                    <a:cubicBezTo>
                      <a:pt x="58813" y="379033"/>
                      <a:pt x="38454" y="370600"/>
                      <a:pt x="23443" y="355590"/>
                    </a:cubicBezTo>
                    <a:cubicBezTo>
                      <a:pt x="8433" y="340579"/>
                      <a:pt x="0" y="320220"/>
                      <a:pt x="0" y="298992"/>
                    </a:cubicBezTo>
                    <a:lnTo>
                      <a:pt x="0" y="80041"/>
                    </a:lnTo>
                    <a:cubicBezTo>
                      <a:pt x="0" y="58813"/>
                      <a:pt x="8433" y="38454"/>
                      <a:pt x="23443" y="23443"/>
                    </a:cubicBezTo>
                    <a:cubicBezTo>
                      <a:pt x="38454" y="8433"/>
                      <a:pt x="58813" y="0"/>
                      <a:pt x="80041" y="0"/>
                    </a:cubicBezTo>
                    <a:close/>
                  </a:path>
                </a:pathLst>
              </a:custGeom>
              <a:solidFill>
                <a:srgbClr val="A03E3C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48598" cy="4171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  <a:r>
                  <a:rPr lang="en-US" b="true" sz="2199" spc="35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Backend API</a:t>
                </a:r>
              </a:p>
              <a:p>
                <a:pPr algn="ctr">
                  <a:lnSpc>
                    <a:spcPts val="2659"/>
                  </a:lnSpc>
                </a:pPr>
                <a:r>
                  <a:rPr lang="en-US" b="true" sz="1899" spc="30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(Django REST + JWT)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11042073" cy="8627423"/>
              <a:chOff x="0" y="0"/>
              <a:chExt cx="2181150" cy="1704182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181150" cy="1704182"/>
              </a:xfrm>
              <a:custGeom>
                <a:avLst/>
                <a:gdLst/>
                <a:ahLst/>
                <a:cxnLst/>
                <a:rect r="r" b="b" t="t" l="l"/>
                <a:pathLst>
                  <a:path h="1704182" w="2181150">
                    <a:moveTo>
                      <a:pt x="47677" y="0"/>
                    </a:moveTo>
                    <a:lnTo>
                      <a:pt x="2133473" y="0"/>
                    </a:lnTo>
                    <a:cubicBezTo>
                      <a:pt x="2146118" y="0"/>
                      <a:pt x="2158245" y="5023"/>
                      <a:pt x="2167186" y="13964"/>
                    </a:cubicBezTo>
                    <a:cubicBezTo>
                      <a:pt x="2176127" y="22905"/>
                      <a:pt x="2181150" y="35032"/>
                      <a:pt x="2181150" y="47677"/>
                    </a:cubicBezTo>
                    <a:lnTo>
                      <a:pt x="2181150" y="1656506"/>
                    </a:lnTo>
                    <a:cubicBezTo>
                      <a:pt x="2181150" y="1682837"/>
                      <a:pt x="2159805" y="1704182"/>
                      <a:pt x="2133473" y="1704182"/>
                    </a:cubicBezTo>
                    <a:lnTo>
                      <a:pt x="47677" y="1704182"/>
                    </a:lnTo>
                    <a:cubicBezTo>
                      <a:pt x="35032" y="1704182"/>
                      <a:pt x="22905" y="1699159"/>
                      <a:pt x="13964" y="1690218"/>
                    </a:cubicBezTo>
                    <a:cubicBezTo>
                      <a:pt x="5023" y="1681277"/>
                      <a:pt x="0" y="1669150"/>
                      <a:pt x="0" y="1656506"/>
                    </a:cubicBezTo>
                    <a:lnTo>
                      <a:pt x="0" y="47677"/>
                    </a:lnTo>
                    <a:cubicBezTo>
                      <a:pt x="0" y="35032"/>
                      <a:pt x="5023" y="22905"/>
                      <a:pt x="13964" y="13964"/>
                    </a:cubicBezTo>
                    <a:cubicBezTo>
                      <a:pt x="22905" y="5023"/>
                      <a:pt x="35032" y="0"/>
                      <a:pt x="4767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2181150" cy="1742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31" id="31"/>
          <p:cNvSpPr/>
          <p:nvPr/>
        </p:nvSpPr>
        <p:spPr>
          <a:xfrm flipH="false" flipV="false" rot="0">
            <a:off x="10852391" y="4821211"/>
            <a:ext cx="560581" cy="560581"/>
          </a:xfrm>
          <a:custGeom>
            <a:avLst/>
            <a:gdLst/>
            <a:ahLst/>
            <a:cxnLst/>
            <a:rect r="r" b="b" t="t" l="l"/>
            <a:pathLst>
              <a:path h="560581" w="560581">
                <a:moveTo>
                  <a:pt x="0" y="0"/>
                </a:moveTo>
                <a:lnTo>
                  <a:pt x="560581" y="0"/>
                </a:lnTo>
                <a:lnTo>
                  <a:pt x="560581" y="560581"/>
                </a:lnTo>
                <a:lnTo>
                  <a:pt x="0" y="560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1733619" y="4835178"/>
            <a:ext cx="546614" cy="546614"/>
          </a:xfrm>
          <a:custGeom>
            <a:avLst/>
            <a:gdLst/>
            <a:ahLst/>
            <a:cxnLst/>
            <a:rect r="r" b="b" t="t" l="l"/>
            <a:pathLst>
              <a:path h="546614" w="546614">
                <a:moveTo>
                  <a:pt x="0" y="0"/>
                </a:moveTo>
                <a:lnTo>
                  <a:pt x="546614" y="0"/>
                </a:lnTo>
                <a:lnTo>
                  <a:pt x="546614" y="546614"/>
                </a:lnTo>
                <a:lnTo>
                  <a:pt x="0" y="546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343660" y="5512327"/>
            <a:ext cx="414275" cy="414275"/>
          </a:xfrm>
          <a:custGeom>
            <a:avLst/>
            <a:gdLst/>
            <a:ahLst/>
            <a:cxnLst/>
            <a:rect r="r" b="b" t="t" l="l"/>
            <a:pathLst>
              <a:path h="414275" w="414275">
                <a:moveTo>
                  <a:pt x="0" y="0"/>
                </a:moveTo>
                <a:lnTo>
                  <a:pt x="414275" y="0"/>
                </a:lnTo>
                <a:lnTo>
                  <a:pt x="414275" y="414275"/>
                </a:lnTo>
                <a:lnTo>
                  <a:pt x="0" y="4142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251779" y="5423791"/>
            <a:ext cx="627090" cy="627090"/>
          </a:xfrm>
          <a:custGeom>
            <a:avLst/>
            <a:gdLst/>
            <a:ahLst/>
            <a:cxnLst/>
            <a:rect r="r" b="b" t="t" l="l"/>
            <a:pathLst>
              <a:path h="627090" w="627090">
                <a:moveTo>
                  <a:pt x="0" y="0"/>
                </a:moveTo>
                <a:lnTo>
                  <a:pt x="627090" y="0"/>
                </a:lnTo>
                <a:lnTo>
                  <a:pt x="627090" y="627089"/>
                </a:lnTo>
                <a:lnTo>
                  <a:pt x="0" y="6270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2374169" y="5512327"/>
            <a:ext cx="461960" cy="461960"/>
          </a:xfrm>
          <a:custGeom>
            <a:avLst/>
            <a:gdLst/>
            <a:ahLst/>
            <a:cxnLst/>
            <a:rect r="r" b="b" t="t" l="l"/>
            <a:pathLst>
              <a:path h="461960" w="461960">
                <a:moveTo>
                  <a:pt x="0" y="0"/>
                </a:moveTo>
                <a:lnTo>
                  <a:pt x="461960" y="0"/>
                </a:lnTo>
                <a:lnTo>
                  <a:pt x="461960" y="461959"/>
                </a:lnTo>
                <a:lnTo>
                  <a:pt x="0" y="4619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296819" y="4748896"/>
            <a:ext cx="585802" cy="585802"/>
          </a:xfrm>
          <a:custGeom>
            <a:avLst/>
            <a:gdLst/>
            <a:ahLst/>
            <a:cxnLst/>
            <a:rect r="r" b="b" t="t" l="l"/>
            <a:pathLst>
              <a:path h="585802" w="585802">
                <a:moveTo>
                  <a:pt x="0" y="0"/>
                </a:moveTo>
                <a:lnTo>
                  <a:pt x="585802" y="0"/>
                </a:lnTo>
                <a:lnTo>
                  <a:pt x="585802" y="585801"/>
                </a:lnTo>
                <a:lnTo>
                  <a:pt x="0" y="5858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5729433" y="5470386"/>
            <a:ext cx="1139337" cy="712086"/>
          </a:xfrm>
          <a:custGeom>
            <a:avLst/>
            <a:gdLst/>
            <a:ahLst/>
            <a:cxnLst/>
            <a:rect r="r" b="b" t="t" l="l"/>
            <a:pathLst>
              <a:path h="712086" w="1139337">
                <a:moveTo>
                  <a:pt x="0" y="0"/>
                </a:moveTo>
                <a:lnTo>
                  <a:pt x="1139338" y="0"/>
                </a:lnTo>
                <a:lnTo>
                  <a:pt x="1139338" y="712086"/>
                </a:lnTo>
                <a:lnTo>
                  <a:pt x="0" y="7120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4324508" y="5423791"/>
            <a:ext cx="1205434" cy="805276"/>
          </a:xfrm>
          <a:custGeom>
            <a:avLst/>
            <a:gdLst/>
            <a:ahLst/>
            <a:cxnLst/>
            <a:rect r="r" b="b" t="t" l="l"/>
            <a:pathLst>
              <a:path h="805276" w="1205434">
                <a:moveTo>
                  <a:pt x="0" y="0"/>
                </a:moveTo>
                <a:lnTo>
                  <a:pt x="1205433" y="0"/>
                </a:lnTo>
                <a:lnTo>
                  <a:pt x="1205433" y="805276"/>
                </a:lnTo>
                <a:lnTo>
                  <a:pt x="0" y="8052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6299102" y="542605"/>
            <a:ext cx="1567784" cy="1571713"/>
          </a:xfrm>
          <a:custGeom>
            <a:avLst/>
            <a:gdLst/>
            <a:ahLst/>
            <a:cxnLst/>
            <a:rect r="r" b="b" t="t" l="l"/>
            <a:pathLst>
              <a:path h="1571713" w="1567784">
                <a:moveTo>
                  <a:pt x="0" y="0"/>
                </a:moveTo>
                <a:lnTo>
                  <a:pt x="1567784" y="0"/>
                </a:lnTo>
                <a:lnTo>
                  <a:pt x="1567784" y="1571713"/>
                </a:lnTo>
                <a:lnTo>
                  <a:pt x="0" y="15717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-513963">
            <a:off x="16505463" y="821150"/>
            <a:ext cx="1155061" cy="812743"/>
          </a:xfrm>
          <a:custGeom>
            <a:avLst/>
            <a:gdLst/>
            <a:ahLst/>
            <a:cxnLst/>
            <a:rect r="r" b="b" t="t" l="l"/>
            <a:pathLst>
              <a:path h="812743" w="1155061">
                <a:moveTo>
                  <a:pt x="0" y="0"/>
                </a:moveTo>
                <a:lnTo>
                  <a:pt x="1155061" y="0"/>
                </a:lnTo>
                <a:lnTo>
                  <a:pt x="1155061" y="812742"/>
                </a:lnTo>
                <a:lnTo>
                  <a:pt x="0" y="8127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2858299" y="9279206"/>
            <a:ext cx="4401001" cy="45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56"/>
              </a:lnSpc>
            </a:pPr>
            <a:r>
              <a:rPr lang="en-US" b="true" sz="2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988898" y="647380"/>
            <a:ext cx="14310204" cy="86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b="true" sz="6400" spc="-96">
                <a:solidFill>
                  <a:srgbClr val="20202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Arquitectura y stack tecnológico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178176" y="4344821"/>
            <a:ext cx="2707788" cy="434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51"/>
              </a:lnSpc>
              <a:spcBef>
                <a:spcPct val="0"/>
              </a:spcBef>
            </a:pPr>
            <a:r>
              <a:rPr lang="en-US" b="true" sz="3251" spc="-48">
                <a:solidFill>
                  <a:srgbClr val="FFFFFF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Frontend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324508" y="4344821"/>
            <a:ext cx="2530959" cy="434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51"/>
              </a:lnSpc>
              <a:spcBef>
                <a:spcPct val="0"/>
              </a:spcBef>
            </a:pPr>
            <a:r>
              <a:rPr lang="en-US" b="true" sz="3251" spc="-48">
                <a:solidFill>
                  <a:srgbClr val="FFFFFF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Backend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48710" y="9258300"/>
            <a:ext cx="19785420" cy="597310"/>
            <a:chOff x="0" y="0"/>
            <a:chExt cx="5210975" cy="157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10975" cy="157316"/>
            </a:xfrm>
            <a:custGeom>
              <a:avLst/>
              <a:gdLst/>
              <a:ahLst/>
              <a:cxnLst/>
              <a:rect r="r" b="b" t="t" l="l"/>
              <a:pathLst>
                <a:path h="157316" w="5210975">
                  <a:moveTo>
                    <a:pt x="19956" y="0"/>
                  </a:moveTo>
                  <a:lnTo>
                    <a:pt x="5191019" y="0"/>
                  </a:lnTo>
                  <a:cubicBezTo>
                    <a:pt x="5202040" y="0"/>
                    <a:pt x="5210975" y="8935"/>
                    <a:pt x="5210975" y="19956"/>
                  </a:cubicBezTo>
                  <a:lnTo>
                    <a:pt x="5210975" y="137360"/>
                  </a:lnTo>
                  <a:cubicBezTo>
                    <a:pt x="5210975" y="142653"/>
                    <a:pt x="5208872" y="147729"/>
                    <a:pt x="5205130" y="151471"/>
                  </a:cubicBezTo>
                  <a:cubicBezTo>
                    <a:pt x="5201388" y="155214"/>
                    <a:pt x="5196312" y="157316"/>
                    <a:pt x="5191019" y="157316"/>
                  </a:cubicBezTo>
                  <a:lnTo>
                    <a:pt x="19956" y="157316"/>
                  </a:lnTo>
                  <a:cubicBezTo>
                    <a:pt x="8935" y="157316"/>
                    <a:pt x="0" y="148382"/>
                    <a:pt x="0" y="137360"/>
                  </a:cubicBezTo>
                  <a:lnTo>
                    <a:pt x="0" y="19956"/>
                  </a:lnTo>
                  <a:cubicBezTo>
                    <a:pt x="0" y="8935"/>
                    <a:pt x="8935" y="0"/>
                    <a:pt x="19956" y="0"/>
                  </a:cubicBezTo>
                  <a:close/>
                </a:path>
              </a:pathLst>
            </a:custGeom>
            <a:solidFill>
              <a:srgbClr val="A03E3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10975" cy="195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88898" y="3765608"/>
            <a:ext cx="3441472" cy="2755784"/>
            <a:chOff x="0" y="0"/>
            <a:chExt cx="1401193" cy="1122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01193" cy="1122015"/>
            </a:xfrm>
            <a:custGeom>
              <a:avLst/>
              <a:gdLst/>
              <a:ahLst/>
              <a:cxnLst/>
              <a:rect r="r" b="b" t="t" l="l"/>
              <a:pathLst>
                <a:path h="1122015" w="1401193">
                  <a:moveTo>
                    <a:pt x="161971" y="0"/>
                  </a:moveTo>
                  <a:lnTo>
                    <a:pt x="1239222" y="0"/>
                  </a:lnTo>
                  <a:cubicBezTo>
                    <a:pt x="1328676" y="0"/>
                    <a:pt x="1401193" y="72517"/>
                    <a:pt x="1401193" y="161971"/>
                  </a:cubicBezTo>
                  <a:lnTo>
                    <a:pt x="1401193" y="960045"/>
                  </a:lnTo>
                  <a:cubicBezTo>
                    <a:pt x="1401193" y="1003002"/>
                    <a:pt x="1384128" y="1044200"/>
                    <a:pt x="1353752" y="1074575"/>
                  </a:cubicBezTo>
                  <a:cubicBezTo>
                    <a:pt x="1323377" y="1104951"/>
                    <a:pt x="1282179" y="1122015"/>
                    <a:pt x="1239222" y="1122015"/>
                  </a:cubicBezTo>
                  <a:lnTo>
                    <a:pt x="161971" y="1122015"/>
                  </a:lnTo>
                  <a:cubicBezTo>
                    <a:pt x="72517" y="1122015"/>
                    <a:pt x="0" y="1049499"/>
                    <a:pt x="0" y="960045"/>
                  </a:cubicBezTo>
                  <a:lnTo>
                    <a:pt x="0" y="161971"/>
                  </a:lnTo>
                  <a:cubicBezTo>
                    <a:pt x="0" y="72517"/>
                    <a:pt x="72517" y="0"/>
                    <a:pt x="161971" y="0"/>
                  </a:cubicBezTo>
                  <a:close/>
                </a:path>
              </a:pathLst>
            </a:custGeom>
            <a:solidFill>
              <a:srgbClr val="EFE8D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0"/>
              <a:ext cx="1401193" cy="1026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734222" y="1973635"/>
            <a:ext cx="12099278" cy="6820968"/>
          </a:xfrm>
          <a:custGeom>
            <a:avLst/>
            <a:gdLst/>
            <a:ahLst/>
            <a:cxnLst/>
            <a:rect r="r" b="b" t="t" l="l"/>
            <a:pathLst>
              <a:path h="6820968" w="12099278">
                <a:moveTo>
                  <a:pt x="0" y="0"/>
                </a:moveTo>
                <a:lnTo>
                  <a:pt x="12099278" y="0"/>
                </a:lnTo>
                <a:lnTo>
                  <a:pt x="12099278" y="6820968"/>
                </a:lnTo>
                <a:lnTo>
                  <a:pt x="0" y="6820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44707" y="5384119"/>
            <a:ext cx="929854" cy="929854"/>
          </a:xfrm>
          <a:custGeom>
            <a:avLst/>
            <a:gdLst/>
            <a:ahLst/>
            <a:cxnLst/>
            <a:rect r="r" b="b" t="t" l="l"/>
            <a:pathLst>
              <a:path h="929854" w="929854">
                <a:moveTo>
                  <a:pt x="0" y="0"/>
                </a:moveTo>
                <a:lnTo>
                  <a:pt x="929854" y="0"/>
                </a:lnTo>
                <a:lnTo>
                  <a:pt x="929854" y="929853"/>
                </a:lnTo>
                <a:lnTo>
                  <a:pt x="0" y="929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58109" y="542605"/>
            <a:ext cx="1530789" cy="1534626"/>
          </a:xfrm>
          <a:custGeom>
            <a:avLst/>
            <a:gdLst/>
            <a:ahLst/>
            <a:cxnLst/>
            <a:rect r="r" b="b" t="t" l="l"/>
            <a:pathLst>
              <a:path h="1534626" w="1530789">
                <a:moveTo>
                  <a:pt x="0" y="0"/>
                </a:moveTo>
                <a:lnTo>
                  <a:pt x="1530789" y="0"/>
                </a:lnTo>
                <a:lnTo>
                  <a:pt x="1530789" y="1534626"/>
                </a:lnTo>
                <a:lnTo>
                  <a:pt x="0" y="1534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66428">
            <a:off x="698501" y="918135"/>
            <a:ext cx="1050005" cy="783566"/>
          </a:xfrm>
          <a:custGeom>
            <a:avLst/>
            <a:gdLst/>
            <a:ahLst/>
            <a:cxnLst/>
            <a:rect r="r" b="b" t="t" l="l"/>
            <a:pathLst>
              <a:path h="783566" w="1050005">
                <a:moveTo>
                  <a:pt x="0" y="0"/>
                </a:moveTo>
                <a:lnTo>
                  <a:pt x="1050005" y="0"/>
                </a:lnTo>
                <a:lnTo>
                  <a:pt x="1050005" y="783566"/>
                </a:lnTo>
                <a:lnTo>
                  <a:pt x="0" y="7835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858299" y="9279206"/>
            <a:ext cx="4401001" cy="45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56"/>
              </a:lnSpc>
            </a:pPr>
            <a:r>
              <a:rPr lang="en-US" b="true" sz="2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88898" y="647380"/>
            <a:ext cx="14310204" cy="86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b="true" sz="6400" spc="-96">
                <a:solidFill>
                  <a:srgbClr val="20202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Arquitectura y stack tecnológico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5761" y="4215464"/>
            <a:ext cx="2353236" cy="11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94"/>
              </a:lnSpc>
              <a:spcBef>
                <a:spcPct val="0"/>
              </a:spcBef>
            </a:pPr>
            <a:r>
              <a:rPr lang="en-US" b="true" sz="4494" spc="-67">
                <a:solidFill>
                  <a:srgbClr val="20202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Base de Datos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858299" y="9279206"/>
            <a:ext cx="4401001" cy="45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56"/>
              </a:lnSpc>
            </a:pPr>
            <a:r>
              <a:rPr lang="en-US" b="true" sz="2400">
                <a:solidFill>
                  <a:srgbClr val="EFE8D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462312" y="-1237188"/>
            <a:ext cx="18894942" cy="14237917"/>
            <a:chOff x="0" y="0"/>
            <a:chExt cx="4976446" cy="37499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76446" cy="3749904"/>
            </a:xfrm>
            <a:custGeom>
              <a:avLst/>
              <a:gdLst/>
              <a:ahLst/>
              <a:cxnLst/>
              <a:rect r="r" b="b" t="t" l="l"/>
              <a:pathLst>
                <a:path h="3749904" w="4976446">
                  <a:moveTo>
                    <a:pt x="20896" y="0"/>
                  </a:moveTo>
                  <a:lnTo>
                    <a:pt x="4955549" y="0"/>
                  </a:lnTo>
                  <a:cubicBezTo>
                    <a:pt x="4961091" y="0"/>
                    <a:pt x="4966407" y="2202"/>
                    <a:pt x="4970325" y="6120"/>
                  </a:cubicBezTo>
                  <a:cubicBezTo>
                    <a:pt x="4974244" y="10039"/>
                    <a:pt x="4976446" y="15354"/>
                    <a:pt x="4976446" y="20896"/>
                  </a:cubicBezTo>
                  <a:lnTo>
                    <a:pt x="4976446" y="3729008"/>
                  </a:lnTo>
                  <a:cubicBezTo>
                    <a:pt x="4976446" y="3734550"/>
                    <a:pt x="4974244" y="3739865"/>
                    <a:pt x="4970325" y="3743783"/>
                  </a:cubicBezTo>
                  <a:cubicBezTo>
                    <a:pt x="4966407" y="3747703"/>
                    <a:pt x="4961091" y="3749904"/>
                    <a:pt x="4955549" y="3749904"/>
                  </a:cubicBezTo>
                  <a:lnTo>
                    <a:pt x="20896" y="3749904"/>
                  </a:lnTo>
                  <a:cubicBezTo>
                    <a:pt x="15354" y="3749904"/>
                    <a:pt x="10039" y="3747703"/>
                    <a:pt x="6120" y="3743783"/>
                  </a:cubicBezTo>
                  <a:cubicBezTo>
                    <a:pt x="2202" y="3739865"/>
                    <a:pt x="0" y="3734550"/>
                    <a:pt x="0" y="3729008"/>
                  </a:cubicBezTo>
                  <a:lnTo>
                    <a:pt x="0" y="20896"/>
                  </a:lnTo>
                  <a:cubicBezTo>
                    <a:pt x="0" y="15354"/>
                    <a:pt x="2202" y="10039"/>
                    <a:pt x="6120" y="6120"/>
                  </a:cubicBezTo>
                  <a:cubicBezTo>
                    <a:pt x="10039" y="2202"/>
                    <a:pt x="15354" y="0"/>
                    <a:pt x="20896" y="0"/>
                  </a:cubicBezTo>
                  <a:close/>
                </a:path>
              </a:pathLst>
            </a:custGeom>
            <a:solidFill>
              <a:srgbClr val="A03E3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976446" cy="3788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31381" y="3767076"/>
            <a:ext cx="15025238" cy="2860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b="true" sz="10999" spc="-164">
                <a:solidFill>
                  <a:srgbClr val="FFFFFF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Demostración de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10699" y="9431606"/>
            <a:ext cx="4401001" cy="45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56"/>
              </a:lnSpc>
            </a:pPr>
            <a:r>
              <a:rPr lang="en-US" b="true" sz="2400">
                <a:solidFill>
                  <a:srgbClr val="F8F7F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48710" y="9258300"/>
            <a:ext cx="19785420" cy="597310"/>
            <a:chOff x="0" y="0"/>
            <a:chExt cx="5210975" cy="157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10975" cy="157316"/>
            </a:xfrm>
            <a:custGeom>
              <a:avLst/>
              <a:gdLst/>
              <a:ahLst/>
              <a:cxnLst/>
              <a:rect r="r" b="b" t="t" l="l"/>
              <a:pathLst>
                <a:path h="157316" w="5210975">
                  <a:moveTo>
                    <a:pt x="19956" y="0"/>
                  </a:moveTo>
                  <a:lnTo>
                    <a:pt x="5191019" y="0"/>
                  </a:lnTo>
                  <a:cubicBezTo>
                    <a:pt x="5202040" y="0"/>
                    <a:pt x="5210975" y="8935"/>
                    <a:pt x="5210975" y="19956"/>
                  </a:cubicBezTo>
                  <a:lnTo>
                    <a:pt x="5210975" y="137360"/>
                  </a:lnTo>
                  <a:cubicBezTo>
                    <a:pt x="5210975" y="142653"/>
                    <a:pt x="5208872" y="147729"/>
                    <a:pt x="5205130" y="151471"/>
                  </a:cubicBezTo>
                  <a:cubicBezTo>
                    <a:pt x="5201388" y="155214"/>
                    <a:pt x="5196312" y="157316"/>
                    <a:pt x="5191019" y="157316"/>
                  </a:cubicBezTo>
                  <a:lnTo>
                    <a:pt x="19956" y="157316"/>
                  </a:lnTo>
                  <a:cubicBezTo>
                    <a:pt x="8935" y="157316"/>
                    <a:pt x="0" y="148382"/>
                    <a:pt x="0" y="137360"/>
                  </a:cubicBezTo>
                  <a:lnTo>
                    <a:pt x="0" y="19956"/>
                  </a:lnTo>
                  <a:cubicBezTo>
                    <a:pt x="0" y="8935"/>
                    <a:pt x="8935" y="0"/>
                    <a:pt x="19956" y="0"/>
                  </a:cubicBezTo>
                  <a:close/>
                </a:path>
              </a:pathLst>
            </a:custGeom>
            <a:solidFill>
              <a:srgbClr val="A03E3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10975" cy="195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727292" y="2723844"/>
            <a:ext cx="10833417" cy="86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b="true" sz="6400" spc="-96">
                <a:solidFill>
                  <a:srgbClr val="202020"/>
                </a:solidFill>
                <a:latin typeface="Cy Grotesk Key Semi-Bold"/>
                <a:ea typeface="Cy Grotesk Key Semi-Bold"/>
                <a:cs typeface="Cy Grotesk Key Semi-Bold"/>
                <a:sym typeface="Cy Grotesk Key Semi-Bold"/>
              </a:rPr>
              <a:t>Conclusión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78244" y="3715865"/>
            <a:ext cx="12731511" cy="324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200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El proyecto PedidosCD permitió modernizar procesos críticos de Carnes Darras mediante una aplicación móvil que centraliza pedidos, preparación, facturación y reportes diarios. Con esta solución, la empresa mejora la eficiencia operativa, reduce tiempos administrativos y obtiene mayor trazabilidad en todas sus operaciones.</a:t>
            </a:r>
          </a:p>
          <a:p>
            <a:pPr algn="ctr">
              <a:lnSpc>
                <a:spcPts val="2880"/>
              </a:lnSpc>
            </a:pPr>
          </a:p>
          <a:p>
            <a:pPr algn="ctr">
              <a:lnSpc>
                <a:spcPts val="2880"/>
              </a:lnSpc>
            </a:pPr>
            <a:r>
              <a:rPr lang="en-US" sz="200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2000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 proyecto no solo beneficiará a la empresa, sino que también fortaleció nuestras competencias profesionales en desarrollo de software, gestión de proyectos y aseguramiento de calidad, consolidando habilidades esenciales para nuestro futuro laboral.</a:t>
            </a:r>
          </a:p>
          <a:p>
            <a:pPr algn="ctr">
              <a:lnSpc>
                <a:spcPts val="28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858299" y="9279206"/>
            <a:ext cx="4401001" cy="45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56"/>
              </a:lnSpc>
            </a:pPr>
            <a:r>
              <a:rPr lang="en-US" b="true" sz="24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13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0800000">
            <a:off x="14551151" y="612485"/>
            <a:ext cx="5241897" cy="1982390"/>
          </a:xfrm>
          <a:custGeom>
            <a:avLst/>
            <a:gdLst/>
            <a:ahLst/>
            <a:cxnLst/>
            <a:rect r="r" b="b" t="t" l="l"/>
            <a:pathLst>
              <a:path h="1982390" w="5241897">
                <a:moveTo>
                  <a:pt x="0" y="0"/>
                </a:moveTo>
                <a:lnTo>
                  <a:pt x="5241897" y="0"/>
                </a:lnTo>
                <a:lnTo>
                  <a:pt x="5241897" y="1982390"/>
                </a:lnTo>
                <a:lnTo>
                  <a:pt x="0" y="19823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-1077725" y="6960079"/>
            <a:ext cx="5569110" cy="1863120"/>
          </a:xfrm>
          <a:custGeom>
            <a:avLst/>
            <a:gdLst/>
            <a:ahLst/>
            <a:cxnLst/>
            <a:rect r="r" b="b" t="t" l="l"/>
            <a:pathLst>
              <a:path h="1863120" w="5569110">
                <a:moveTo>
                  <a:pt x="0" y="0"/>
                </a:moveTo>
                <a:lnTo>
                  <a:pt x="5569110" y="0"/>
                </a:lnTo>
                <a:lnTo>
                  <a:pt x="5569110" y="1863120"/>
                </a:lnTo>
                <a:lnTo>
                  <a:pt x="0" y="1863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65107" y="2979806"/>
            <a:ext cx="10357787" cy="325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2"/>
              </a:lnSpc>
            </a:pPr>
            <a:r>
              <a:rPr lang="en-US" b="true" sz="12492" spc="-187">
                <a:solidFill>
                  <a:srgbClr val="A03E3C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¡Muchas gracias!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748710" y="9258300"/>
            <a:ext cx="19785420" cy="597310"/>
            <a:chOff x="0" y="0"/>
            <a:chExt cx="5210975" cy="1573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10975" cy="157316"/>
            </a:xfrm>
            <a:custGeom>
              <a:avLst/>
              <a:gdLst/>
              <a:ahLst/>
              <a:cxnLst/>
              <a:rect r="r" b="b" t="t" l="l"/>
              <a:pathLst>
                <a:path h="157316" w="5210975">
                  <a:moveTo>
                    <a:pt x="19956" y="0"/>
                  </a:moveTo>
                  <a:lnTo>
                    <a:pt x="5191019" y="0"/>
                  </a:lnTo>
                  <a:cubicBezTo>
                    <a:pt x="5202040" y="0"/>
                    <a:pt x="5210975" y="8935"/>
                    <a:pt x="5210975" y="19956"/>
                  </a:cubicBezTo>
                  <a:lnTo>
                    <a:pt x="5210975" y="137360"/>
                  </a:lnTo>
                  <a:cubicBezTo>
                    <a:pt x="5210975" y="142653"/>
                    <a:pt x="5208872" y="147729"/>
                    <a:pt x="5205130" y="151471"/>
                  </a:cubicBezTo>
                  <a:cubicBezTo>
                    <a:pt x="5201388" y="155214"/>
                    <a:pt x="5196312" y="157316"/>
                    <a:pt x="5191019" y="157316"/>
                  </a:cubicBezTo>
                  <a:lnTo>
                    <a:pt x="19956" y="157316"/>
                  </a:lnTo>
                  <a:cubicBezTo>
                    <a:pt x="8935" y="157316"/>
                    <a:pt x="0" y="148382"/>
                    <a:pt x="0" y="137360"/>
                  </a:cubicBezTo>
                  <a:lnTo>
                    <a:pt x="0" y="19956"/>
                  </a:lnTo>
                  <a:cubicBezTo>
                    <a:pt x="0" y="8935"/>
                    <a:pt x="8935" y="0"/>
                    <a:pt x="19956" y="0"/>
                  </a:cubicBezTo>
                  <a:close/>
                </a:path>
              </a:pathLst>
            </a:custGeom>
            <a:solidFill>
              <a:srgbClr val="A03E3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10975" cy="195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303801" y="2241660"/>
            <a:ext cx="1019092" cy="1019092"/>
          </a:xfrm>
          <a:custGeom>
            <a:avLst/>
            <a:gdLst/>
            <a:ahLst/>
            <a:cxnLst/>
            <a:rect r="r" b="b" t="t" l="l"/>
            <a:pathLst>
              <a:path h="1019092" w="1019092">
                <a:moveTo>
                  <a:pt x="0" y="0"/>
                </a:moveTo>
                <a:lnTo>
                  <a:pt x="1019092" y="0"/>
                </a:lnTo>
                <a:lnTo>
                  <a:pt x="1019092" y="1019093"/>
                </a:lnTo>
                <a:lnTo>
                  <a:pt x="0" y="1019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3601238" y="6859722"/>
            <a:ext cx="3164398" cy="477536"/>
          </a:xfrm>
          <a:custGeom>
            <a:avLst/>
            <a:gdLst/>
            <a:ahLst/>
            <a:cxnLst/>
            <a:rect r="r" b="b" t="t" l="l"/>
            <a:pathLst>
              <a:path h="477536" w="3164398">
                <a:moveTo>
                  <a:pt x="0" y="0"/>
                </a:moveTo>
                <a:lnTo>
                  <a:pt x="3164399" y="0"/>
                </a:lnTo>
                <a:lnTo>
                  <a:pt x="3164399" y="477537"/>
                </a:lnTo>
                <a:lnTo>
                  <a:pt x="0" y="477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95473" y="1028700"/>
            <a:ext cx="1307593" cy="1310871"/>
          </a:xfrm>
          <a:custGeom>
            <a:avLst/>
            <a:gdLst/>
            <a:ahLst/>
            <a:cxnLst/>
            <a:rect r="r" b="b" t="t" l="l"/>
            <a:pathLst>
              <a:path h="1310871" w="1307593">
                <a:moveTo>
                  <a:pt x="0" y="0"/>
                </a:moveTo>
                <a:lnTo>
                  <a:pt x="1307594" y="0"/>
                </a:lnTo>
                <a:lnTo>
                  <a:pt x="1307594" y="1310871"/>
                </a:lnTo>
                <a:lnTo>
                  <a:pt x="0" y="13108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51707" y="6681824"/>
            <a:ext cx="1307593" cy="1310871"/>
          </a:xfrm>
          <a:custGeom>
            <a:avLst/>
            <a:gdLst/>
            <a:ahLst/>
            <a:cxnLst/>
            <a:rect r="r" b="b" t="t" l="l"/>
            <a:pathLst>
              <a:path h="1310871" w="1307593">
                <a:moveTo>
                  <a:pt x="0" y="0"/>
                </a:moveTo>
                <a:lnTo>
                  <a:pt x="1307593" y="0"/>
                </a:lnTo>
                <a:lnTo>
                  <a:pt x="1307593" y="1310870"/>
                </a:lnTo>
                <a:lnTo>
                  <a:pt x="0" y="13108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951707" y="1028700"/>
            <a:ext cx="1307593" cy="1310871"/>
          </a:xfrm>
          <a:custGeom>
            <a:avLst/>
            <a:gdLst/>
            <a:ahLst/>
            <a:cxnLst/>
            <a:rect r="r" b="b" t="t" l="l"/>
            <a:pathLst>
              <a:path h="1310871" w="1307593">
                <a:moveTo>
                  <a:pt x="0" y="0"/>
                </a:moveTo>
                <a:lnTo>
                  <a:pt x="1307593" y="0"/>
                </a:lnTo>
                <a:lnTo>
                  <a:pt x="1307593" y="1310871"/>
                </a:lnTo>
                <a:lnTo>
                  <a:pt x="0" y="13108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95473" y="6443055"/>
            <a:ext cx="1307593" cy="1310871"/>
          </a:xfrm>
          <a:custGeom>
            <a:avLst/>
            <a:gdLst/>
            <a:ahLst/>
            <a:cxnLst/>
            <a:rect r="r" b="b" t="t" l="l"/>
            <a:pathLst>
              <a:path h="1310871" w="1307593">
                <a:moveTo>
                  <a:pt x="0" y="0"/>
                </a:moveTo>
                <a:lnTo>
                  <a:pt x="1307594" y="0"/>
                </a:lnTo>
                <a:lnTo>
                  <a:pt x="1307594" y="1310871"/>
                </a:lnTo>
                <a:lnTo>
                  <a:pt x="0" y="13108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DAG45uPy6xo</dc:identifier>
  <dcterms:modified xsi:type="dcterms:W3CDTF">2011-08-01T06:04:30Z</dcterms:modified>
  <cp:revision>1</cp:revision>
  <dc:title>PPT PedidosCD</dc:title>
</cp:coreProperties>
</file>