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gif" Extension="gif"/>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Cy Grotesk Key Ultra-Bold" charset="1" panose="00000900000000000000"/>
      <p:regular r:id="rId23"/>
    </p:embeddedFont>
    <p:embeddedFont>
      <p:font typeface="Cy Grotesk Key Bold" charset="1" panose="00000800000000000000"/>
      <p:regular r:id="rId24"/>
    </p:embeddedFont>
    <p:embeddedFont>
      <p:font typeface="Inter Bold" charset="1" panose="020B0802030000000004"/>
      <p:regular r:id="rId25"/>
    </p:embeddedFont>
    <p:embeddedFont>
      <p:font typeface="Inter" charset="1" panose="020B0502030000000004"/>
      <p:regular r:id="rId26"/>
    </p:embeddedFont>
    <p:embeddedFont>
      <p:font typeface="Cy Grotesk Key Semi-Bold" charset="1" panose="00000700000000000000"/>
      <p:regular r:id="rId27"/>
    </p:embeddedFont>
    <p:embeddedFont>
      <p:font typeface="Cy Grotesk Key" charset="1" panose="00000500000000000000"/>
      <p:regular r:id="rId28"/>
    </p:embeddedFont>
    <p:embeddedFont>
      <p:font typeface="Helvetica World Bold" charset="1" panose="020B0800040000020004"/>
      <p:regular r:id="rId29"/>
    </p:embeddedFont>
    <p:embeddedFont>
      <p:font typeface="Inter Semi-Bold" charset="1" panose="02000503000000020004"/>
      <p:regular r:id="rId30"/>
    </p:embeddedFont>
    <p:embeddedFont>
      <p:font typeface="Open Sans Bold" charset="1" panose="020B0806030504020204"/>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 Id="rId4" Target="../media/image9.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png" Type="http://schemas.openxmlformats.org/officeDocument/2006/relationships/image"/><Relationship Id="rId4" Target="../media/image1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png" Type="http://schemas.openxmlformats.org/officeDocument/2006/relationships/image"/><Relationship Id="rId4" Target="../media/image1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svg" Type="http://schemas.openxmlformats.org/officeDocument/2006/relationships/image"/><Relationship Id="rId4" Target="../media/image5.png" Type="http://schemas.openxmlformats.org/officeDocument/2006/relationships/image"/><Relationship Id="rId5" Target="../media/image22.png" Type="http://schemas.openxmlformats.org/officeDocument/2006/relationships/image"/><Relationship Id="rId6" Target="../media/image23.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2.png" Type="http://schemas.openxmlformats.org/officeDocument/2006/relationships/image"/><Relationship Id="rId11" Target="../media/image33.svg" Type="http://schemas.openxmlformats.org/officeDocument/2006/relationships/image"/><Relationship Id="rId12" Target="../media/image34.png" Type="http://schemas.openxmlformats.org/officeDocument/2006/relationships/image"/><Relationship Id="rId13" Target="../media/image35.svg" Type="http://schemas.openxmlformats.org/officeDocument/2006/relationships/image"/><Relationship Id="rId2" Target="../media/image24.png" Type="http://schemas.openxmlformats.org/officeDocument/2006/relationships/image"/><Relationship Id="rId3" Target="../media/image25.svg" Type="http://schemas.openxmlformats.org/officeDocument/2006/relationships/image"/><Relationship Id="rId4" Target="../media/image26.png" Type="http://schemas.openxmlformats.org/officeDocument/2006/relationships/image"/><Relationship Id="rId5" Target="../media/image27.svg" Type="http://schemas.openxmlformats.org/officeDocument/2006/relationships/image"/><Relationship Id="rId6" Target="../media/image28.png" Type="http://schemas.openxmlformats.org/officeDocument/2006/relationships/image"/><Relationship Id="rId7" Target="../media/image29.svg" Type="http://schemas.openxmlformats.org/officeDocument/2006/relationships/image"/><Relationship Id="rId8" Target="../media/image30.png" Type="http://schemas.openxmlformats.org/officeDocument/2006/relationships/image"/><Relationship Id="rId9" Target="../media/image31.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6.png" Type="http://schemas.openxmlformats.org/officeDocument/2006/relationships/image"/><Relationship Id="rId3" Target="../media/image37.svg" Type="http://schemas.openxmlformats.org/officeDocument/2006/relationships/image"/><Relationship Id="rId4" Target="../media/image38.png" Type="http://schemas.openxmlformats.org/officeDocument/2006/relationships/image"/><Relationship Id="rId5" Target="../media/image39.png" Type="http://schemas.openxmlformats.org/officeDocument/2006/relationships/image"/><Relationship Id="rId6" Target="../media/image40.svg" Type="http://schemas.openxmlformats.org/officeDocument/2006/relationships/image"/><Relationship Id="rId7" Target="../media/image6.png" Type="http://schemas.openxmlformats.org/officeDocument/2006/relationships/image"/><Relationship Id="rId8" Target="../media/image41.gif"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2.png" Type="http://schemas.openxmlformats.org/officeDocument/2006/relationships/image"/><Relationship Id="rId3" Target="../embeddings/oleObject1.bin" Type="http://schemas.openxmlformats.org/officeDocument/2006/relationships/oleObject"/><Relationship Id="rId4" Target="../media/image43.png" Type="http://schemas.openxmlformats.org/officeDocument/2006/relationships/image"/><Relationship Id="rId5" Target="../embeddings/oleObject2.bin" Type="http://schemas.openxmlformats.org/officeDocument/2006/relationships/oleObjec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png" Type="http://schemas.openxmlformats.org/officeDocument/2006/relationships/image"/><Relationship Id="rId11" Target="../media/image52.png" Type="http://schemas.openxmlformats.org/officeDocument/2006/relationships/image"/><Relationship Id="rId12" Target="../media/image53.svg" Type="http://schemas.openxmlformats.org/officeDocument/2006/relationships/image"/><Relationship Id="rId13" Target="../media/image54.png" Type="http://schemas.openxmlformats.org/officeDocument/2006/relationships/image"/><Relationship Id="rId2" Target="../media/image44.png" Type="http://schemas.openxmlformats.org/officeDocument/2006/relationships/image"/><Relationship Id="rId3" Target="../media/image45.png" Type="http://schemas.openxmlformats.org/officeDocument/2006/relationships/image"/><Relationship Id="rId4" Target="../media/image46.png" Type="http://schemas.openxmlformats.org/officeDocument/2006/relationships/image"/><Relationship Id="rId5" Target="../media/image47.png" Type="http://schemas.openxmlformats.org/officeDocument/2006/relationships/image"/><Relationship Id="rId6" Target="../media/image48.png" Type="http://schemas.openxmlformats.org/officeDocument/2006/relationships/image"/><Relationship Id="rId7" Target="../media/image49.png" Type="http://schemas.openxmlformats.org/officeDocument/2006/relationships/image"/><Relationship Id="rId8" Target="../media/image50.png" Type="http://schemas.openxmlformats.org/officeDocument/2006/relationships/image"/><Relationship Id="rId9" Target="../media/image51.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5.png" Type="http://schemas.openxmlformats.org/officeDocument/2006/relationships/image"/><Relationship Id="rId3" Target="../media/image56.png" Type="http://schemas.openxmlformats.org/officeDocument/2006/relationships/image"/><Relationship Id="rId4" Target="../media/image6.png" Type="http://schemas.openxmlformats.org/officeDocument/2006/relationships/image"/><Relationship Id="rId5" Target="../media/image57.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8.png" Type="http://schemas.openxmlformats.org/officeDocument/2006/relationships/image"/><Relationship Id="rId3" Target="../media/image59.svg" Type="http://schemas.openxmlformats.org/officeDocument/2006/relationships/image"/><Relationship Id="rId4" Target="../media/image60.png" Type="http://schemas.openxmlformats.org/officeDocument/2006/relationships/image"/><Relationship Id="rId5" Target="../media/image61.svg" Type="http://schemas.openxmlformats.org/officeDocument/2006/relationships/image"/><Relationship Id="rId6" Target="../media/image5.png" Type="http://schemas.openxmlformats.org/officeDocument/2006/relationships/image"/><Relationship Id="rId7" Target="../media/image10.png" Type="http://schemas.openxmlformats.org/officeDocument/2006/relationships/image"/><Relationship Id="rId8" Target="../media/image8.png" Type="http://schemas.openxmlformats.org/officeDocument/2006/relationships/image"/><Relationship Id="rId9" Target="../media/image6.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092940" y="2636897"/>
            <a:ext cx="12102119" cy="2860497"/>
          </a:xfrm>
          <a:prstGeom prst="rect">
            <a:avLst/>
          </a:prstGeom>
        </p:spPr>
        <p:txBody>
          <a:bodyPr anchor="t" rtlCol="false" tIns="0" lIns="0" bIns="0" rIns="0">
            <a:spAutoFit/>
          </a:bodyPr>
          <a:lstStyle/>
          <a:p>
            <a:pPr algn="ctr">
              <a:lnSpc>
                <a:spcPts val="10992"/>
              </a:lnSpc>
            </a:pPr>
            <a:r>
              <a:rPr lang="en-US" b="true" sz="10992" spc="-164">
                <a:solidFill>
                  <a:srgbClr val="A42811"/>
                </a:solidFill>
                <a:latin typeface="Cy Grotesk Key Ultra-Bold"/>
                <a:ea typeface="Cy Grotesk Key Ultra-Bold"/>
                <a:cs typeface="Cy Grotesk Key Ultra-Bold"/>
                <a:sym typeface="Cy Grotesk Key Ultra-Bold"/>
              </a:rPr>
              <a:t>APT Project</a:t>
            </a:r>
            <a:r>
              <a:rPr lang="en-US" b="true" sz="10992" spc="-164">
                <a:solidFill>
                  <a:srgbClr val="A42811"/>
                </a:solidFill>
                <a:latin typeface="Cy Grotesk Key Ultra-Bold"/>
                <a:ea typeface="Cy Grotesk Key Ultra-Bold"/>
                <a:cs typeface="Cy Grotesk Key Ultra-Bold"/>
                <a:sym typeface="Cy Grotesk Key Ultra-Bold"/>
              </a:rPr>
              <a:t>: PEDIDOS CD</a:t>
            </a:r>
          </a:p>
        </p:txBody>
      </p:sp>
      <p:grpSp>
        <p:nvGrpSpPr>
          <p:cNvPr name="Group 3" id="3"/>
          <p:cNvGrpSpPr/>
          <p:nvPr/>
        </p:nvGrpSpPr>
        <p:grpSpPr>
          <a:xfrm rot="0">
            <a:off x="-748710" y="9067797"/>
            <a:ext cx="19785420" cy="597310"/>
            <a:chOff x="0" y="0"/>
            <a:chExt cx="5210975" cy="157316"/>
          </a:xfrm>
        </p:grpSpPr>
        <p:sp>
          <p:nvSpPr>
            <p:cNvPr name="Freeform 4" id="4"/>
            <p:cNvSpPr/>
            <p:nvPr/>
          </p:nvSpPr>
          <p:spPr>
            <a:xfrm flipH="false" flipV="false" rot="0">
              <a:off x="0" y="0"/>
              <a:ext cx="5210975" cy="157316"/>
            </a:xfrm>
            <a:custGeom>
              <a:avLst/>
              <a:gdLst/>
              <a:ahLst/>
              <a:cxnLst/>
              <a:rect r="r" b="b" t="t" l="l"/>
              <a:pathLst>
                <a:path h="157316" w="5210975">
                  <a:moveTo>
                    <a:pt x="19956" y="0"/>
                  </a:moveTo>
                  <a:lnTo>
                    <a:pt x="5191019" y="0"/>
                  </a:lnTo>
                  <a:cubicBezTo>
                    <a:pt x="5202040" y="0"/>
                    <a:pt x="5210975" y="8935"/>
                    <a:pt x="5210975" y="19956"/>
                  </a:cubicBezTo>
                  <a:lnTo>
                    <a:pt x="5210975" y="137360"/>
                  </a:lnTo>
                  <a:cubicBezTo>
                    <a:pt x="5210975" y="142653"/>
                    <a:pt x="5208872" y="147729"/>
                    <a:pt x="5205130" y="151471"/>
                  </a:cubicBezTo>
                  <a:cubicBezTo>
                    <a:pt x="5201388" y="155214"/>
                    <a:pt x="5196312" y="157316"/>
                    <a:pt x="5191019" y="157316"/>
                  </a:cubicBezTo>
                  <a:lnTo>
                    <a:pt x="19956" y="157316"/>
                  </a:lnTo>
                  <a:cubicBezTo>
                    <a:pt x="8935" y="157316"/>
                    <a:pt x="0" y="148382"/>
                    <a:pt x="0" y="137360"/>
                  </a:cubicBezTo>
                  <a:lnTo>
                    <a:pt x="0" y="19956"/>
                  </a:lnTo>
                  <a:cubicBezTo>
                    <a:pt x="0" y="8935"/>
                    <a:pt x="8935" y="0"/>
                    <a:pt x="19956" y="0"/>
                  </a:cubicBezTo>
                  <a:close/>
                </a:path>
              </a:pathLst>
            </a:custGeom>
            <a:solidFill>
              <a:srgbClr val="A42811"/>
            </a:solidFill>
          </p:spPr>
        </p:sp>
        <p:sp>
          <p:nvSpPr>
            <p:cNvPr name="TextBox 5" id="5"/>
            <p:cNvSpPr txBox="true"/>
            <p:nvPr/>
          </p:nvSpPr>
          <p:spPr>
            <a:xfrm>
              <a:off x="0" y="-38100"/>
              <a:ext cx="5210975" cy="195416"/>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748710" y="9258300"/>
            <a:ext cx="19785420" cy="597310"/>
            <a:chOff x="0" y="0"/>
            <a:chExt cx="5210975" cy="157316"/>
          </a:xfrm>
        </p:grpSpPr>
        <p:sp>
          <p:nvSpPr>
            <p:cNvPr name="Freeform 7" id="7"/>
            <p:cNvSpPr/>
            <p:nvPr/>
          </p:nvSpPr>
          <p:spPr>
            <a:xfrm flipH="false" flipV="false" rot="0">
              <a:off x="0" y="0"/>
              <a:ext cx="5210975" cy="157316"/>
            </a:xfrm>
            <a:custGeom>
              <a:avLst/>
              <a:gdLst/>
              <a:ahLst/>
              <a:cxnLst/>
              <a:rect r="r" b="b" t="t" l="l"/>
              <a:pathLst>
                <a:path h="157316" w="5210975">
                  <a:moveTo>
                    <a:pt x="19956" y="0"/>
                  </a:moveTo>
                  <a:lnTo>
                    <a:pt x="5191019" y="0"/>
                  </a:lnTo>
                  <a:cubicBezTo>
                    <a:pt x="5202040" y="0"/>
                    <a:pt x="5210975" y="8935"/>
                    <a:pt x="5210975" y="19956"/>
                  </a:cubicBezTo>
                  <a:lnTo>
                    <a:pt x="5210975" y="137360"/>
                  </a:lnTo>
                  <a:cubicBezTo>
                    <a:pt x="5210975" y="142653"/>
                    <a:pt x="5208872" y="147729"/>
                    <a:pt x="5205130" y="151471"/>
                  </a:cubicBezTo>
                  <a:cubicBezTo>
                    <a:pt x="5201388" y="155214"/>
                    <a:pt x="5196312" y="157316"/>
                    <a:pt x="5191019" y="157316"/>
                  </a:cubicBezTo>
                  <a:lnTo>
                    <a:pt x="19956" y="157316"/>
                  </a:lnTo>
                  <a:cubicBezTo>
                    <a:pt x="8935" y="157316"/>
                    <a:pt x="0" y="148382"/>
                    <a:pt x="0" y="137360"/>
                  </a:cubicBezTo>
                  <a:lnTo>
                    <a:pt x="0" y="19956"/>
                  </a:lnTo>
                  <a:cubicBezTo>
                    <a:pt x="0" y="8935"/>
                    <a:pt x="8935" y="0"/>
                    <a:pt x="19956" y="0"/>
                  </a:cubicBezTo>
                  <a:close/>
                </a:path>
              </a:pathLst>
            </a:custGeom>
            <a:solidFill>
              <a:srgbClr val="862D2B"/>
            </a:solidFill>
          </p:spPr>
        </p:sp>
        <p:sp>
          <p:nvSpPr>
            <p:cNvPr name="TextBox 8" id="8"/>
            <p:cNvSpPr txBox="true"/>
            <p:nvPr/>
          </p:nvSpPr>
          <p:spPr>
            <a:xfrm>
              <a:off x="0" y="-38100"/>
              <a:ext cx="5210975" cy="195416"/>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10800000">
            <a:off x="14551151" y="612485"/>
            <a:ext cx="5241897" cy="1982390"/>
          </a:xfrm>
          <a:custGeom>
            <a:avLst/>
            <a:gdLst/>
            <a:ahLst/>
            <a:cxnLst/>
            <a:rect r="r" b="b" t="t" l="l"/>
            <a:pathLst>
              <a:path h="1982390" w="5241897">
                <a:moveTo>
                  <a:pt x="0" y="0"/>
                </a:moveTo>
                <a:lnTo>
                  <a:pt x="5241897" y="0"/>
                </a:lnTo>
                <a:lnTo>
                  <a:pt x="5241897" y="1982390"/>
                </a:lnTo>
                <a:lnTo>
                  <a:pt x="0" y="19823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0" id="10"/>
          <p:cNvSpPr/>
          <p:nvPr/>
        </p:nvSpPr>
        <p:spPr>
          <a:xfrm flipH="false" flipV="false" rot="0">
            <a:off x="-1077725" y="6329890"/>
            <a:ext cx="5569110" cy="1863120"/>
          </a:xfrm>
          <a:custGeom>
            <a:avLst/>
            <a:gdLst/>
            <a:ahLst/>
            <a:cxnLst/>
            <a:rect r="r" b="b" t="t" l="l"/>
            <a:pathLst>
              <a:path h="1863120" w="5569110">
                <a:moveTo>
                  <a:pt x="0" y="0"/>
                </a:moveTo>
                <a:lnTo>
                  <a:pt x="5569110" y="0"/>
                </a:lnTo>
                <a:lnTo>
                  <a:pt x="5569110" y="1863120"/>
                </a:lnTo>
                <a:lnTo>
                  <a:pt x="0" y="186312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11" id="11"/>
          <p:cNvSpPr/>
          <p:nvPr/>
        </p:nvSpPr>
        <p:spPr>
          <a:xfrm flipH="false" flipV="false" rot="0">
            <a:off x="1385892" y="1028700"/>
            <a:ext cx="1307593" cy="1310871"/>
          </a:xfrm>
          <a:custGeom>
            <a:avLst/>
            <a:gdLst/>
            <a:ahLst/>
            <a:cxnLst/>
            <a:rect r="r" b="b" t="t" l="l"/>
            <a:pathLst>
              <a:path h="1310871" w="1307593">
                <a:moveTo>
                  <a:pt x="0" y="0"/>
                </a:moveTo>
                <a:lnTo>
                  <a:pt x="1307593" y="0"/>
                </a:lnTo>
                <a:lnTo>
                  <a:pt x="1307593" y="1310871"/>
                </a:lnTo>
                <a:lnTo>
                  <a:pt x="0" y="1310871"/>
                </a:lnTo>
                <a:lnTo>
                  <a:pt x="0" y="0"/>
                </a:lnTo>
                <a:close/>
              </a:path>
            </a:pathLst>
          </a:custGeom>
          <a:blipFill>
            <a:blip r:embed="rId6"/>
            <a:stretch>
              <a:fillRect l="0" t="0" r="0" b="0"/>
            </a:stretch>
          </a:blipFill>
        </p:spPr>
      </p:sp>
      <p:sp>
        <p:nvSpPr>
          <p:cNvPr name="Freeform 12" id="12"/>
          <p:cNvSpPr/>
          <p:nvPr/>
        </p:nvSpPr>
        <p:spPr>
          <a:xfrm flipH="false" flipV="false" rot="0">
            <a:off x="15770046" y="5182307"/>
            <a:ext cx="1307593" cy="1310871"/>
          </a:xfrm>
          <a:custGeom>
            <a:avLst/>
            <a:gdLst/>
            <a:ahLst/>
            <a:cxnLst/>
            <a:rect r="r" b="b" t="t" l="l"/>
            <a:pathLst>
              <a:path h="1310871" w="1307593">
                <a:moveTo>
                  <a:pt x="0" y="0"/>
                </a:moveTo>
                <a:lnTo>
                  <a:pt x="1307594" y="0"/>
                </a:lnTo>
                <a:lnTo>
                  <a:pt x="1307594" y="1310870"/>
                </a:lnTo>
                <a:lnTo>
                  <a:pt x="0" y="1310870"/>
                </a:lnTo>
                <a:lnTo>
                  <a:pt x="0" y="0"/>
                </a:lnTo>
                <a:close/>
              </a:path>
            </a:pathLst>
          </a:custGeom>
          <a:blipFill>
            <a:blip r:embed="rId7"/>
            <a:stretch>
              <a:fillRect l="0" t="0" r="0" b="0"/>
            </a:stretch>
          </a:blipFill>
        </p:spPr>
      </p:sp>
      <p:sp>
        <p:nvSpPr>
          <p:cNvPr name="TextBox 13" id="13"/>
          <p:cNvSpPr txBox="true"/>
          <p:nvPr/>
        </p:nvSpPr>
        <p:spPr>
          <a:xfrm rot="0">
            <a:off x="6564650" y="7471763"/>
            <a:ext cx="4454440" cy="309245"/>
          </a:xfrm>
          <a:prstGeom prst="rect">
            <a:avLst/>
          </a:prstGeom>
        </p:spPr>
        <p:txBody>
          <a:bodyPr anchor="t" rtlCol="false" tIns="0" lIns="0" bIns="0" rIns="0">
            <a:spAutoFit/>
          </a:bodyPr>
          <a:lstStyle/>
          <a:p>
            <a:pPr algn="ctr" marL="0" indent="0" lvl="0">
              <a:lnSpc>
                <a:spcPts val="2469"/>
              </a:lnSpc>
              <a:spcBef>
                <a:spcPct val="0"/>
              </a:spcBef>
            </a:pPr>
            <a:r>
              <a:rPr lang="en-US" b="true" sz="1899">
                <a:solidFill>
                  <a:srgbClr val="2B2B2B"/>
                </a:solidFill>
                <a:latin typeface="Cy Grotesk Key Bold"/>
                <a:ea typeface="Cy Grotesk Key Bold"/>
                <a:cs typeface="Cy Grotesk Key Bold"/>
                <a:sym typeface="Cy Grotesk Key Bold"/>
              </a:rPr>
              <a:t>PROJECT NAME:</a:t>
            </a:r>
          </a:p>
        </p:txBody>
      </p:sp>
      <p:sp>
        <p:nvSpPr>
          <p:cNvPr name="TextBox 14" id="14"/>
          <p:cNvSpPr txBox="true"/>
          <p:nvPr/>
        </p:nvSpPr>
        <p:spPr>
          <a:xfrm rot="0">
            <a:off x="6564650" y="7814130"/>
            <a:ext cx="4454440" cy="299720"/>
          </a:xfrm>
          <a:prstGeom prst="rect">
            <a:avLst/>
          </a:prstGeom>
        </p:spPr>
        <p:txBody>
          <a:bodyPr anchor="t" rtlCol="false" tIns="0" lIns="0" bIns="0" rIns="0">
            <a:spAutoFit/>
          </a:bodyPr>
          <a:lstStyle/>
          <a:p>
            <a:pPr algn="ctr" marL="0" indent="0" lvl="0">
              <a:lnSpc>
                <a:spcPts val="2469"/>
              </a:lnSpc>
              <a:spcBef>
                <a:spcPct val="0"/>
              </a:spcBef>
            </a:pPr>
            <a:r>
              <a:rPr lang="en-US" b="true" sz="1899">
                <a:solidFill>
                  <a:srgbClr val="2B2B2B"/>
                </a:solidFill>
                <a:latin typeface="Inter Bold"/>
                <a:ea typeface="Inter Bold"/>
                <a:cs typeface="Inter Bold"/>
                <a:sym typeface="Inter Bold"/>
              </a:rPr>
              <a:t>PedidosCD</a:t>
            </a:r>
          </a:p>
        </p:txBody>
      </p:sp>
      <p:sp>
        <p:nvSpPr>
          <p:cNvPr name="TextBox 15" id="15"/>
          <p:cNvSpPr txBox="true"/>
          <p:nvPr/>
        </p:nvSpPr>
        <p:spPr>
          <a:xfrm rot="0">
            <a:off x="9975473" y="7471763"/>
            <a:ext cx="4454440" cy="309245"/>
          </a:xfrm>
          <a:prstGeom prst="rect">
            <a:avLst/>
          </a:prstGeom>
        </p:spPr>
        <p:txBody>
          <a:bodyPr anchor="t" rtlCol="false" tIns="0" lIns="0" bIns="0" rIns="0">
            <a:spAutoFit/>
          </a:bodyPr>
          <a:lstStyle/>
          <a:p>
            <a:pPr algn="ctr" marL="0" indent="0" lvl="0">
              <a:lnSpc>
                <a:spcPts val="2469"/>
              </a:lnSpc>
              <a:spcBef>
                <a:spcPct val="0"/>
              </a:spcBef>
            </a:pPr>
            <a:r>
              <a:rPr lang="en-US" b="true" sz="1899">
                <a:solidFill>
                  <a:srgbClr val="2B2B2B"/>
                </a:solidFill>
                <a:latin typeface="Cy Grotesk Key Bold"/>
                <a:ea typeface="Cy Grotesk Key Bold"/>
                <a:cs typeface="Cy Grotesk Key Bold"/>
                <a:sym typeface="Cy Grotesk Key Bold"/>
              </a:rPr>
              <a:t>NAMES:</a:t>
            </a:r>
          </a:p>
        </p:txBody>
      </p:sp>
      <p:sp>
        <p:nvSpPr>
          <p:cNvPr name="TextBox 16" id="16"/>
          <p:cNvSpPr txBox="true"/>
          <p:nvPr/>
        </p:nvSpPr>
        <p:spPr>
          <a:xfrm rot="0">
            <a:off x="9975473" y="7814130"/>
            <a:ext cx="4454440" cy="604520"/>
          </a:xfrm>
          <a:prstGeom prst="rect">
            <a:avLst/>
          </a:prstGeom>
        </p:spPr>
        <p:txBody>
          <a:bodyPr anchor="t" rtlCol="false" tIns="0" lIns="0" bIns="0" rIns="0">
            <a:spAutoFit/>
          </a:bodyPr>
          <a:lstStyle/>
          <a:p>
            <a:pPr algn="ctr">
              <a:lnSpc>
                <a:spcPts val="2469"/>
              </a:lnSpc>
            </a:pPr>
            <a:r>
              <a:rPr lang="en-US" sz="1899">
                <a:solidFill>
                  <a:srgbClr val="2B2B2B"/>
                </a:solidFill>
                <a:latin typeface="Inter"/>
                <a:ea typeface="Inter"/>
                <a:cs typeface="Inter"/>
                <a:sym typeface="Inter"/>
              </a:rPr>
              <a:t>Marcelo Darras</a:t>
            </a:r>
          </a:p>
          <a:p>
            <a:pPr algn="ctr" marL="0" indent="0" lvl="0">
              <a:lnSpc>
                <a:spcPts val="2469"/>
              </a:lnSpc>
              <a:spcBef>
                <a:spcPct val="0"/>
              </a:spcBef>
            </a:pPr>
            <a:r>
              <a:rPr lang="en-US" sz="1899">
                <a:solidFill>
                  <a:srgbClr val="2B2B2B"/>
                </a:solidFill>
                <a:latin typeface="Inter"/>
                <a:ea typeface="Inter"/>
                <a:cs typeface="Inter"/>
                <a:sym typeface="Inter"/>
              </a:rPr>
              <a:t>Jesús Delgado</a:t>
            </a:r>
          </a:p>
        </p:txBody>
      </p:sp>
      <p:sp>
        <p:nvSpPr>
          <p:cNvPr name="TextBox 17" id="17"/>
          <p:cNvSpPr txBox="true"/>
          <p:nvPr/>
        </p:nvSpPr>
        <p:spPr>
          <a:xfrm rot="0">
            <a:off x="12920284" y="7445677"/>
            <a:ext cx="4454440" cy="309245"/>
          </a:xfrm>
          <a:prstGeom prst="rect">
            <a:avLst/>
          </a:prstGeom>
        </p:spPr>
        <p:txBody>
          <a:bodyPr anchor="t" rtlCol="false" tIns="0" lIns="0" bIns="0" rIns="0">
            <a:spAutoFit/>
          </a:bodyPr>
          <a:lstStyle/>
          <a:p>
            <a:pPr algn="ctr" marL="0" indent="0" lvl="0">
              <a:lnSpc>
                <a:spcPts val="2469"/>
              </a:lnSpc>
              <a:spcBef>
                <a:spcPct val="0"/>
              </a:spcBef>
            </a:pPr>
            <a:r>
              <a:rPr lang="en-US" b="true" sz="1899">
                <a:solidFill>
                  <a:srgbClr val="2B2B2B"/>
                </a:solidFill>
                <a:latin typeface="Cy Grotesk Key Bold"/>
                <a:ea typeface="Cy Grotesk Key Bold"/>
                <a:cs typeface="Cy Grotesk Key Bold"/>
                <a:sym typeface="Cy Grotesk Key Bold"/>
              </a:rPr>
              <a:t>TEACHER:</a:t>
            </a:r>
          </a:p>
        </p:txBody>
      </p:sp>
      <p:sp>
        <p:nvSpPr>
          <p:cNvPr name="TextBox 18" id="18"/>
          <p:cNvSpPr txBox="true"/>
          <p:nvPr/>
        </p:nvSpPr>
        <p:spPr>
          <a:xfrm rot="0">
            <a:off x="12920284" y="7788044"/>
            <a:ext cx="4454440" cy="299720"/>
          </a:xfrm>
          <a:prstGeom prst="rect">
            <a:avLst/>
          </a:prstGeom>
        </p:spPr>
        <p:txBody>
          <a:bodyPr anchor="t" rtlCol="false" tIns="0" lIns="0" bIns="0" rIns="0">
            <a:spAutoFit/>
          </a:bodyPr>
          <a:lstStyle/>
          <a:p>
            <a:pPr algn="ctr" marL="0" indent="0" lvl="0">
              <a:lnSpc>
                <a:spcPts val="2469"/>
              </a:lnSpc>
              <a:spcBef>
                <a:spcPct val="0"/>
              </a:spcBef>
            </a:pPr>
            <a:r>
              <a:rPr lang="en-US" sz="1899">
                <a:solidFill>
                  <a:srgbClr val="2B2B2B"/>
                </a:solidFill>
                <a:latin typeface="Inter"/>
                <a:ea typeface="Inter"/>
                <a:cs typeface="Inter"/>
                <a:sym typeface="Inter"/>
              </a:rPr>
              <a:t>Jorge Castro</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748710" y="-1148058"/>
            <a:ext cx="8037268" cy="14237917"/>
            <a:chOff x="0" y="0"/>
            <a:chExt cx="2116811" cy="3749904"/>
          </a:xfrm>
        </p:grpSpPr>
        <p:sp>
          <p:nvSpPr>
            <p:cNvPr name="Freeform 3" id="3"/>
            <p:cNvSpPr/>
            <p:nvPr/>
          </p:nvSpPr>
          <p:spPr>
            <a:xfrm flipH="false" flipV="false" rot="0">
              <a:off x="0" y="0"/>
              <a:ext cx="2116811" cy="3749904"/>
            </a:xfrm>
            <a:custGeom>
              <a:avLst/>
              <a:gdLst/>
              <a:ahLst/>
              <a:cxnLst/>
              <a:rect r="r" b="b" t="t" l="l"/>
              <a:pathLst>
                <a:path h="3749904" w="2116811">
                  <a:moveTo>
                    <a:pt x="49126" y="0"/>
                  </a:moveTo>
                  <a:lnTo>
                    <a:pt x="2067686" y="0"/>
                  </a:lnTo>
                  <a:cubicBezTo>
                    <a:pt x="2080715" y="0"/>
                    <a:pt x="2093210" y="5176"/>
                    <a:pt x="2102423" y="14389"/>
                  </a:cubicBezTo>
                  <a:cubicBezTo>
                    <a:pt x="2111636" y="23602"/>
                    <a:pt x="2116811" y="36097"/>
                    <a:pt x="2116811" y="49126"/>
                  </a:cubicBezTo>
                  <a:lnTo>
                    <a:pt x="2116811" y="3700778"/>
                  </a:lnTo>
                  <a:cubicBezTo>
                    <a:pt x="2116811" y="3713807"/>
                    <a:pt x="2111636" y="3726302"/>
                    <a:pt x="2102423" y="3735515"/>
                  </a:cubicBezTo>
                  <a:cubicBezTo>
                    <a:pt x="2093210" y="3744728"/>
                    <a:pt x="2080715" y="3749904"/>
                    <a:pt x="2067686" y="3749904"/>
                  </a:cubicBezTo>
                  <a:lnTo>
                    <a:pt x="49126" y="3749904"/>
                  </a:lnTo>
                  <a:cubicBezTo>
                    <a:pt x="36097" y="3749904"/>
                    <a:pt x="23602" y="3744728"/>
                    <a:pt x="14389" y="3735515"/>
                  </a:cubicBezTo>
                  <a:cubicBezTo>
                    <a:pt x="5176" y="3726302"/>
                    <a:pt x="0" y="3713807"/>
                    <a:pt x="0" y="3700778"/>
                  </a:cubicBezTo>
                  <a:lnTo>
                    <a:pt x="0" y="49126"/>
                  </a:lnTo>
                  <a:cubicBezTo>
                    <a:pt x="0" y="36097"/>
                    <a:pt x="5176" y="23602"/>
                    <a:pt x="14389" y="14389"/>
                  </a:cubicBezTo>
                  <a:cubicBezTo>
                    <a:pt x="23602" y="5176"/>
                    <a:pt x="36097" y="0"/>
                    <a:pt x="49126" y="0"/>
                  </a:cubicBezTo>
                  <a:close/>
                </a:path>
              </a:pathLst>
            </a:custGeom>
            <a:solidFill>
              <a:srgbClr val="862D2B"/>
            </a:solidFill>
          </p:spPr>
        </p:sp>
        <p:sp>
          <p:nvSpPr>
            <p:cNvPr name="TextBox 4" id="4"/>
            <p:cNvSpPr txBox="true"/>
            <p:nvPr/>
          </p:nvSpPr>
          <p:spPr>
            <a:xfrm>
              <a:off x="0" y="-38100"/>
              <a:ext cx="2116811" cy="3788004"/>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1028700" y="1159580"/>
            <a:ext cx="8449277" cy="1200144"/>
          </a:xfrm>
          <a:prstGeom prst="rect">
            <a:avLst/>
          </a:prstGeom>
        </p:spPr>
        <p:txBody>
          <a:bodyPr anchor="t" rtlCol="false" tIns="0" lIns="0" bIns="0" rIns="0">
            <a:spAutoFit/>
          </a:bodyPr>
          <a:lstStyle/>
          <a:p>
            <a:pPr algn="l">
              <a:lnSpc>
                <a:spcPts val="8999"/>
              </a:lnSpc>
            </a:pPr>
            <a:r>
              <a:rPr lang="en-US" sz="8999" spc="-134" b="true">
                <a:solidFill>
                  <a:srgbClr val="FFFFFF"/>
                </a:solidFill>
                <a:latin typeface="Cy Grotesk Key Semi-Bold"/>
                <a:ea typeface="Cy Grotesk Key Semi-Bold"/>
                <a:cs typeface="Cy Grotesk Key Semi-Bold"/>
                <a:sym typeface="Cy Grotesk Key Semi-Bold"/>
              </a:rPr>
              <a:t>i</a:t>
            </a:r>
            <a:r>
              <a:rPr lang="en-US" b="true" sz="8999" spc="-134">
                <a:solidFill>
                  <a:srgbClr val="FFFFFF"/>
                </a:solidFill>
                <a:latin typeface="Cy Grotesk Key Semi-Bold"/>
                <a:ea typeface="Cy Grotesk Key Semi-Bold"/>
                <a:cs typeface="Cy Grotesk Key Semi-Bold"/>
                <a:sym typeface="Cy Grotesk Key Semi-Bold"/>
              </a:rPr>
              <a:t>ndex</a:t>
            </a:r>
          </a:p>
        </p:txBody>
      </p:sp>
      <p:sp>
        <p:nvSpPr>
          <p:cNvPr name="TextBox 6" id="6"/>
          <p:cNvSpPr txBox="true"/>
          <p:nvPr/>
        </p:nvSpPr>
        <p:spPr>
          <a:xfrm rot="0">
            <a:off x="7957766" y="1000891"/>
            <a:ext cx="10330234" cy="8199494"/>
          </a:xfrm>
          <a:prstGeom prst="rect">
            <a:avLst/>
          </a:prstGeom>
        </p:spPr>
        <p:txBody>
          <a:bodyPr anchor="t" rtlCol="false" tIns="0" lIns="0" bIns="0" rIns="0">
            <a:spAutoFit/>
          </a:bodyPr>
          <a:lstStyle/>
          <a:p>
            <a:pPr algn="just">
              <a:lnSpc>
                <a:spcPts val="5472"/>
              </a:lnSpc>
            </a:pPr>
            <a:r>
              <a:rPr lang="en-US" b="true" sz="3800" spc="-57" strike="noStrike" u="none">
                <a:solidFill>
                  <a:srgbClr val="000000"/>
                </a:solidFill>
                <a:latin typeface="Cy Grotesk Key Semi-Bold"/>
                <a:ea typeface="Cy Grotesk Key Semi-Bold"/>
                <a:cs typeface="Cy Grotesk Key Semi-Bold"/>
                <a:sym typeface="Cy Grotesk Key Semi-Bold"/>
              </a:rPr>
              <a:t>01. </a:t>
            </a:r>
            <a:r>
              <a:rPr lang="en-US" sz="3800" spc="-57" strike="noStrike" u="none">
                <a:solidFill>
                  <a:srgbClr val="000000"/>
                </a:solidFill>
                <a:latin typeface="Cy Grotesk Key"/>
                <a:ea typeface="Cy Grotesk Key"/>
                <a:cs typeface="Cy Grotesk Key"/>
                <a:sym typeface="Cy Grotesk Key"/>
              </a:rPr>
              <a:t>Context</a:t>
            </a:r>
          </a:p>
          <a:p>
            <a:pPr algn="just">
              <a:lnSpc>
                <a:spcPts val="5472"/>
              </a:lnSpc>
            </a:pPr>
            <a:r>
              <a:rPr lang="en-US" b="true" sz="3800" spc="-57" strike="noStrike" u="none">
                <a:solidFill>
                  <a:srgbClr val="000000"/>
                </a:solidFill>
                <a:latin typeface="Cy Grotesk Key Semi-Bold"/>
                <a:ea typeface="Cy Grotesk Key Semi-Bold"/>
                <a:cs typeface="Cy Grotesk Key Semi-Bold"/>
                <a:sym typeface="Cy Grotesk Key Semi-Bold"/>
              </a:rPr>
              <a:t>02. </a:t>
            </a:r>
            <a:r>
              <a:rPr lang="en-US" sz="3800" spc="-57" strike="noStrike" u="none">
                <a:solidFill>
                  <a:srgbClr val="000000"/>
                </a:solidFill>
                <a:latin typeface="Cy Grotesk Key"/>
                <a:ea typeface="Cy Grotesk Key"/>
                <a:cs typeface="Cy Grotesk Key"/>
                <a:sym typeface="Cy Grotesk Key"/>
              </a:rPr>
              <a:t>Problem</a:t>
            </a:r>
          </a:p>
          <a:p>
            <a:pPr algn="just">
              <a:lnSpc>
                <a:spcPts val="5472"/>
              </a:lnSpc>
            </a:pPr>
            <a:r>
              <a:rPr lang="en-US" b="true" sz="3800" spc="-57" strike="noStrike" u="none">
                <a:solidFill>
                  <a:srgbClr val="000000"/>
                </a:solidFill>
                <a:latin typeface="Cy Grotesk Key Semi-Bold"/>
                <a:ea typeface="Cy Grotesk Key Semi-Bold"/>
                <a:cs typeface="Cy Grotesk Key Semi-Bold"/>
                <a:sym typeface="Cy Grotesk Key Semi-Bold"/>
              </a:rPr>
              <a:t>03. </a:t>
            </a:r>
            <a:r>
              <a:rPr lang="en-US" sz="3800" spc="-57" strike="noStrike" u="none">
                <a:solidFill>
                  <a:srgbClr val="000000"/>
                </a:solidFill>
                <a:latin typeface="Cy Grotesk Key"/>
                <a:ea typeface="Cy Grotesk Key"/>
                <a:cs typeface="Cy Grotesk Key"/>
                <a:sym typeface="Cy Grotesk Key"/>
              </a:rPr>
              <a:t>Solution</a:t>
            </a:r>
          </a:p>
          <a:p>
            <a:pPr algn="just">
              <a:lnSpc>
                <a:spcPts val="5472"/>
              </a:lnSpc>
            </a:pPr>
            <a:r>
              <a:rPr lang="en-US" b="true" sz="3800" spc="-57" strike="noStrike" u="none">
                <a:solidFill>
                  <a:srgbClr val="000000"/>
                </a:solidFill>
                <a:latin typeface="Cy Grotesk Key Bold"/>
                <a:ea typeface="Cy Grotesk Key Bold"/>
                <a:cs typeface="Cy Grotesk Key Bold"/>
                <a:sym typeface="Cy Grotesk Key Bold"/>
              </a:rPr>
              <a:t>04.</a:t>
            </a:r>
            <a:r>
              <a:rPr lang="en-US" sz="3800" spc="-57" strike="noStrike" u="none">
                <a:solidFill>
                  <a:srgbClr val="000000"/>
                </a:solidFill>
                <a:latin typeface="Cy Grotesk Key"/>
                <a:ea typeface="Cy Grotesk Key"/>
                <a:cs typeface="Cy Grotesk Key"/>
                <a:sym typeface="Cy Grotesk Key"/>
              </a:rPr>
              <a:t> Target Audience</a:t>
            </a:r>
          </a:p>
          <a:p>
            <a:pPr algn="just">
              <a:lnSpc>
                <a:spcPts val="5472"/>
              </a:lnSpc>
            </a:pPr>
            <a:r>
              <a:rPr lang="en-US" b="true" sz="3800" spc="-57" strike="noStrike" u="none">
                <a:solidFill>
                  <a:srgbClr val="000000"/>
                </a:solidFill>
                <a:latin typeface="Cy Grotesk Key Semi-Bold"/>
                <a:ea typeface="Cy Grotesk Key Semi-Bold"/>
                <a:cs typeface="Cy Grotesk Key Semi-Bold"/>
                <a:sym typeface="Cy Grotesk Key Semi-Bold"/>
              </a:rPr>
              <a:t>05. y 06. </a:t>
            </a:r>
            <a:r>
              <a:rPr lang="en-US" sz="3800" spc="-57" strike="noStrike" u="none">
                <a:solidFill>
                  <a:srgbClr val="000000"/>
                </a:solidFill>
                <a:latin typeface="Cy Grotesk Key"/>
                <a:ea typeface="Cy Grotesk Key"/>
                <a:cs typeface="Cy Grotesk Key"/>
                <a:sym typeface="Cy Grotesk Key"/>
              </a:rPr>
              <a:t>Order Status</a:t>
            </a:r>
          </a:p>
          <a:p>
            <a:pPr algn="just">
              <a:lnSpc>
                <a:spcPts val="5472"/>
              </a:lnSpc>
            </a:pPr>
            <a:r>
              <a:rPr lang="en-US" b="true" sz="3800" spc="-57" strike="noStrike" u="none">
                <a:solidFill>
                  <a:srgbClr val="000000"/>
                </a:solidFill>
                <a:latin typeface="Cy Grotesk Key Semi-Bold"/>
                <a:ea typeface="Cy Grotesk Key Semi-Bold"/>
                <a:cs typeface="Cy Grotesk Key Semi-Bold"/>
                <a:sym typeface="Cy Grotesk Key Semi-Bold"/>
              </a:rPr>
              <a:t>07. </a:t>
            </a:r>
            <a:r>
              <a:rPr lang="en-US" sz="3800" spc="-57" strike="noStrike" u="none">
                <a:solidFill>
                  <a:srgbClr val="000000"/>
                </a:solidFill>
                <a:latin typeface="Cy Grotesk Key"/>
                <a:ea typeface="Cy Grotesk Key"/>
                <a:cs typeface="Cy Grotesk Key"/>
                <a:sym typeface="Cy Grotesk Key"/>
              </a:rPr>
              <a:t>General Objective</a:t>
            </a:r>
          </a:p>
          <a:p>
            <a:pPr algn="just">
              <a:lnSpc>
                <a:spcPts val="5472"/>
              </a:lnSpc>
            </a:pPr>
            <a:r>
              <a:rPr lang="en-US" b="true" sz="3800" spc="-57" strike="noStrike" u="none">
                <a:solidFill>
                  <a:srgbClr val="000000"/>
                </a:solidFill>
                <a:latin typeface="Cy Grotesk Key Bold"/>
                <a:ea typeface="Cy Grotesk Key Bold"/>
                <a:cs typeface="Cy Grotesk Key Bold"/>
                <a:sym typeface="Cy Grotesk Key Bold"/>
              </a:rPr>
              <a:t>08.</a:t>
            </a:r>
            <a:r>
              <a:rPr lang="en-US" sz="3800" spc="-57" strike="noStrike" u="none">
                <a:solidFill>
                  <a:srgbClr val="000000"/>
                </a:solidFill>
                <a:latin typeface="Cy Grotesk Key"/>
                <a:ea typeface="Cy Grotesk Key"/>
                <a:cs typeface="Cy Grotesk Key"/>
                <a:sym typeface="Cy Grotesk Key"/>
              </a:rPr>
              <a:t> Specific Objectives</a:t>
            </a:r>
          </a:p>
          <a:p>
            <a:pPr algn="just">
              <a:lnSpc>
                <a:spcPts val="5472"/>
              </a:lnSpc>
            </a:pPr>
            <a:r>
              <a:rPr lang="en-US" b="true" sz="3800" spc="-57" strike="noStrike" u="none">
                <a:solidFill>
                  <a:srgbClr val="000000"/>
                </a:solidFill>
                <a:latin typeface="Cy Grotesk Key Semi-Bold"/>
                <a:ea typeface="Cy Grotesk Key Semi-Bold"/>
                <a:cs typeface="Cy Grotesk Key Semi-Bold"/>
                <a:sym typeface="Cy Grotesk Key Semi-Bold"/>
              </a:rPr>
              <a:t>09. </a:t>
            </a:r>
            <a:r>
              <a:rPr lang="en-US" sz="3800" spc="-57" strike="noStrike" u="none">
                <a:solidFill>
                  <a:srgbClr val="000000"/>
                </a:solidFill>
                <a:latin typeface="Cy Grotesk Key"/>
                <a:ea typeface="Cy Grotesk Key"/>
                <a:cs typeface="Cy Grotesk Key"/>
                <a:sym typeface="Cy Grotesk Key"/>
              </a:rPr>
              <a:t>SCRUM Metodology</a:t>
            </a:r>
          </a:p>
          <a:p>
            <a:pPr algn="just">
              <a:lnSpc>
                <a:spcPts val="5472"/>
              </a:lnSpc>
            </a:pPr>
            <a:r>
              <a:rPr lang="en-US" b="true" sz="3800" spc="-57" strike="noStrike" u="none">
                <a:solidFill>
                  <a:srgbClr val="000000"/>
                </a:solidFill>
                <a:latin typeface="Cy Grotesk Key Semi-Bold"/>
                <a:ea typeface="Cy Grotesk Key Semi-Bold"/>
                <a:cs typeface="Cy Grotesk Key Semi-Bold"/>
                <a:sym typeface="Cy Grotesk Key Semi-Bold"/>
              </a:rPr>
              <a:t>10 </a:t>
            </a:r>
            <a:r>
              <a:rPr lang="en-US" sz="3800" spc="-57" strike="noStrike" u="none">
                <a:solidFill>
                  <a:srgbClr val="000000"/>
                </a:solidFill>
                <a:latin typeface="Cy Grotesk Key"/>
                <a:ea typeface="Cy Grotesk Key"/>
                <a:cs typeface="Cy Grotesk Key"/>
                <a:sym typeface="Cy Grotesk Key"/>
              </a:rPr>
              <a:t>Timeline</a:t>
            </a:r>
          </a:p>
          <a:p>
            <a:pPr algn="just">
              <a:lnSpc>
                <a:spcPts val="5472"/>
              </a:lnSpc>
            </a:pPr>
            <a:r>
              <a:rPr lang="en-US" b="true" sz="3800" spc="-57" strike="noStrike" u="none">
                <a:solidFill>
                  <a:srgbClr val="000000"/>
                </a:solidFill>
                <a:latin typeface="Cy Grotesk Key Semi-Bold"/>
                <a:ea typeface="Cy Grotesk Key Semi-Bold"/>
                <a:cs typeface="Cy Grotesk Key Semi-Bold"/>
                <a:sym typeface="Cy Grotesk Key Semi-Bold"/>
              </a:rPr>
              <a:t>11. y  12. </a:t>
            </a:r>
            <a:r>
              <a:rPr lang="en-US" sz="3800" spc="-57" strike="noStrike" u="none">
                <a:solidFill>
                  <a:srgbClr val="000000"/>
                </a:solidFill>
                <a:latin typeface="Cy Grotesk Key"/>
                <a:ea typeface="Cy Grotesk Key"/>
                <a:cs typeface="Cy Grotesk Key"/>
                <a:sym typeface="Cy Grotesk Key"/>
              </a:rPr>
              <a:t>Architecture and Tech Stack</a:t>
            </a:r>
          </a:p>
          <a:p>
            <a:pPr algn="just">
              <a:lnSpc>
                <a:spcPts val="5472"/>
              </a:lnSpc>
            </a:pPr>
            <a:r>
              <a:rPr lang="en-US" b="true" sz="3800" spc="-57" strike="noStrike" u="none">
                <a:solidFill>
                  <a:srgbClr val="000000"/>
                </a:solidFill>
                <a:latin typeface="Cy Grotesk Key Semi-Bold"/>
                <a:ea typeface="Cy Grotesk Key Semi-Bold"/>
                <a:cs typeface="Cy Grotesk Key Semi-Bold"/>
                <a:sym typeface="Cy Grotesk Key Semi-Bold"/>
              </a:rPr>
              <a:t>13. </a:t>
            </a:r>
            <a:r>
              <a:rPr lang="en-US" sz="3800" spc="-57" strike="noStrike" u="none">
                <a:solidFill>
                  <a:srgbClr val="000000"/>
                </a:solidFill>
                <a:latin typeface="Cy Grotesk Key"/>
                <a:ea typeface="Cy Grotesk Key"/>
                <a:cs typeface="Cy Grotesk Key"/>
                <a:sym typeface="Cy Grotesk Key"/>
              </a:rPr>
              <a:t>Project Demonstration</a:t>
            </a:r>
          </a:p>
          <a:p>
            <a:pPr algn="just">
              <a:lnSpc>
                <a:spcPts val="5472"/>
              </a:lnSpc>
            </a:pPr>
            <a:r>
              <a:rPr lang="en-US" b="true" sz="3800" spc="-57" strike="noStrike" u="none">
                <a:solidFill>
                  <a:srgbClr val="000000"/>
                </a:solidFill>
                <a:latin typeface="Cy Grotesk Key Semi-Bold"/>
                <a:ea typeface="Cy Grotesk Key Semi-Bold"/>
                <a:cs typeface="Cy Grotesk Key Semi-Bold"/>
                <a:sym typeface="Cy Grotesk Key Semi-Bold"/>
              </a:rPr>
              <a:t>14. </a:t>
            </a:r>
            <a:r>
              <a:rPr lang="en-US" sz="3800" spc="-57" strike="noStrike" u="none">
                <a:solidFill>
                  <a:srgbClr val="000000"/>
                </a:solidFill>
                <a:latin typeface="Cy Grotesk Key"/>
                <a:ea typeface="Cy Grotesk Key"/>
                <a:cs typeface="Cy Grotesk Key"/>
                <a:sym typeface="Cy Grotesk Key"/>
              </a:rPr>
              <a:t>Conclusion</a:t>
            </a:r>
          </a:p>
        </p:txBody>
      </p:sp>
      <p:grpSp>
        <p:nvGrpSpPr>
          <p:cNvPr name="Group 7" id="7"/>
          <p:cNvGrpSpPr/>
          <p:nvPr/>
        </p:nvGrpSpPr>
        <p:grpSpPr>
          <a:xfrm rot="-5400000">
            <a:off x="-2708992" y="3071217"/>
            <a:ext cx="19785420" cy="597310"/>
            <a:chOff x="0" y="0"/>
            <a:chExt cx="5210975" cy="157316"/>
          </a:xfrm>
        </p:grpSpPr>
        <p:sp>
          <p:nvSpPr>
            <p:cNvPr name="Freeform 8" id="8"/>
            <p:cNvSpPr/>
            <p:nvPr/>
          </p:nvSpPr>
          <p:spPr>
            <a:xfrm flipH="false" flipV="false" rot="0">
              <a:off x="0" y="0"/>
              <a:ext cx="5210975" cy="157316"/>
            </a:xfrm>
            <a:custGeom>
              <a:avLst/>
              <a:gdLst/>
              <a:ahLst/>
              <a:cxnLst/>
              <a:rect r="r" b="b" t="t" l="l"/>
              <a:pathLst>
                <a:path h="157316" w="5210975">
                  <a:moveTo>
                    <a:pt x="19956" y="0"/>
                  </a:moveTo>
                  <a:lnTo>
                    <a:pt x="5191019" y="0"/>
                  </a:lnTo>
                  <a:cubicBezTo>
                    <a:pt x="5202040" y="0"/>
                    <a:pt x="5210975" y="8935"/>
                    <a:pt x="5210975" y="19956"/>
                  </a:cubicBezTo>
                  <a:lnTo>
                    <a:pt x="5210975" y="137360"/>
                  </a:lnTo>
                  <a:cubicBezTo>
                    <a:pt x="5210975" y="142653"/>
                    <a:pt x="5208872" y="147729"/>
                    <a:pt x="5205130" y="151471"/>
                  </a:cubicBezTo>
                  <a:cubicBezTo>
                    <a:pt x="5201388" y="155214"/>
                    <a:pt x="5196312" y="157316"/>
                    <a:pt x="5191019" y="157316"/>
                  </a:cubicBezTo>
                  <a:lnTo>
                    <a:pt x="19956" y="157316"/>
                  </a:lnTo>
                  <a:cubicBezTo>
                    <a:pt x="8935" y="157316"/>
                    <a:pt x="0" y="148382"/>
                    <a:pt x="0" y="137360"/>
                  </a:cubicBezTo>
                  <a:lnTo>
                    <a:pt x="0" y="19956"/>
                  </a:lnTo>
                  <a:cubicBezTo>
                    <a:pt x="0" y="8935"/>
                    <a:pt x="8935" y="0"/>
                    <a:pt x="19956" y="0"/>
                  </a:cubicBezTo>
                  <a:close/>
                </a:path>
              </a:pathLst>
            </a:custGeom>
            <a:solidFill>
              <a:srgbClr val="A42811"/>
            </a:solidFill>
          </p:spPr>
        </p:sp>
        <p:sp>
          <p:nvSpPr>
            <p:cNvPr name="TextBox 9" id="9"/>
            <p:cNvSpPr txBox="true"/>
            <p:nvPr/>
          </p:nvSpPr>
          <p:spPr>
            <a:xfrm>
              <a:off x="0" y="-38100"/>
              <a:ext cx="5210975" cy="195416"/>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48710" y="9258300"/>
            <a:ext cx="19785420" cy="597310"/>
            <a:chOff x="0" y="0"/>
            <a:chExt cx="5210975" cy="157316"/>
          </a:xfrm>
        </p:grpSpPr>
        <p:sp>
          <p:nvSpPr>
            <p:cNvPr name="Freeform 3" id="3"/>
            <p:cNvSpPr/>
            <p:nvPr/>
          </p:nvSpPr>
          <p:spPr>
            <a:xfrm flipH="false" flipV="false" rot="0">
              <a:off x="0" y="0"/>
              <a:ext cx="5210975" cy="157316"/>
            </a:xfrm>
            <a:custGeom>
              <a:avLst/>
              <a:gdLst/>
              <a:ahLst/>
              <a:cxnLst/>
              <a:rect r="r" b="b" t="t" l="l"/>
              <a:pathLst>
                <a:path h="157316" w="5210975">
                  <a:moveTo>
                    <a:pt x="19956" y="0"/>
                  </a:moveTo>
                  <a:lnTo>
                    <a:pt x="5191019" y="0"/>
                  </a:lnTo>
                  <a:cubicBezTo>
                    <a:pt x="5202040" y="0"/>
                    <a:pt x="5210975" y="8935"/>
                    <a:pt x="5210975" y="19956"/>
                  </a:cubicBezTo>
                  <a:lnTo>
                    <a:pt x="5210975" y="137360"/>
                  </a:lnTo>
                  <a:cubicBezTo>
                    <a:pt x="5210975" y="142653"/>
                    <a:pt x="5208872" y="147729"/>
                    <a:pt x="5205130" y="151471"/>
                  </a:cubicBezTo>
                  <a:cubicBezTo>
                    <a:pt x="5201388" y="155214"/>
                    <a:pt x="5196312" y="157316"/>
                    <a:pt x="5191019" y="157316"/>
                  </a:cubicBezTo>
                  <a:lnTo>
                    <a:pt x="19956" y="157316"/>
                  </a:lnTo>
                  <a:cubicBezTo>
                    <a:pt x="8935" y="157316"/>
                    <a:pt x="0" y="148382"/>
                    <a:pt x="0" y="137360"/>
                  </a:cubicBezTo>
                  <a:lnTo>
                    <a:pt x="0" y="19956"/>
                  </a:lnTo>
                  <a:cubicBezTo>
                    <a:pt x="0" y="8935"/>
                    <a:pt x="8935" y="0"/>
                    <a:pt x="19956" y="0"/>
                  </a:cubicBezTo>
                  <a:close/>
                </a:path>
              </a:pathLst>
            </a:custGeom>
            <a:solidFill>
              <a:srgbClr val="A42811"/>
            </a:solidFill>
          </p:spPr>
        </p:sp>
        <p:sp>
          <p:nvSpPr>
            <p:cNvPr name="TextBox 4" id="4"/>
            <p:cNvSpPr txBox="true"/>
            <p:nvPr/>
          </p:nvSpPr>
          <p:spPr>
            <a:xfrm>
              <a:off x="0" y="-38100"/>
              <a:ext cx="5210975" cy="195416"/>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1487609" y="446404"/>
            <a:ext cx="5226618" cy="4079035"/>
          </a:xfrm>
          <a:custGeom>
            <a:avLst/>
            <a:gdLst/>
            <a:ahLst/>
            <a:cxnLst/>
            <a:rect r="r" b="b" t="t" l="l"/>
            <a:pathLst>
              <a:path h="4079035" w="5226618">
                <a:moveTo>
                  <a:pt x="0" y="0"/>
                </a:moveTo>
                <a:lnTo>
                  <a:pt x="5226618" y="0"/>
                </a:lnTo>
                <a:lnTo>
                  <a:pt x="5226618" y="4079035"/>
                </a:lnTo>
                <a:lnTo>
                  <a:pt x="0" y="4079035"/>
                </a:lnTo>
                <a:lnTo>
                  <a:pt x="0" y="0"/>
                </a:lnTo>
                <a:close/>
              </a:path>
            </a:pathLst>
          </a:custGeom>
          <a:blipFill>
            <a:blip r:embed="rId2"/>
            <a:stretch>
              <a:fillRect l="0" t="0" r="0" b="0"/>
            </a:stretch>
          </a:blipFill>
        </p:spPr>
      </p:sp>
      <p:sp>
        <p:nvSpPr>
          <p:cNvPr name="Freeform 6" id="6"/>
          <p:cNvSpPr/>
          <p:nvPr/>
        </p:nvSpPr>
        <p:spPr>
          <a:xfrm flipH="false" flipV="false" rot="0">
            <a:off x="1028700" y="1028700"/>
            <a:ext cx="1240189" cy="1243297"/>
          </a:xfrm>
          <a:custGeom>
            <a:avLst/>
            <a:gdLst/>
            <a:ahLst/>
            <a:cxnLst/>
            <a:rect r="r" b="b" t="t" l="l"/>
            <a:pathLst>
              <a:path h="1243297" w="1240189">
                <a:moveTo>
                  <a:pt x="0" y="0"/>
                </a:moveTo>
                <a:lnTo>
                  <a:pt x="1240189" y="0"/>
                </a:lnTo>
                <a:lnTo>
                  <a:pt x="1240189" y="1243297"/>
                </a:lnTo>
                <a:lnTo>
                  <a:pt x="0" y="1243297"/>
                </a:lnTo>
                <a:lnTo>
                  <a:pt x="0" y="0"/>
                </a:lnTo>
                <a:close/>
              </a:path>
            </a:pathLst>
          </a:custGeom>
          <a:blipFill>
            <a:blip r:embed="rId3"/>
            <a:stretch>
              <a:fillRect l="0" t="0" r="0" b="0"/>
            </a:stretch>
          </a:blipFill>
        </p:spPr>
      </p:sp>
      <p:sp>
        <p:nvSpPr>
          <p:cNvPr name="Freeform 7" id="7"/>
          <p:cNvSpPr/>
          <p:nvPr/>
        </p:nvSpPr>
        <p:spPr>
          <a:xfrm flipH="false" flipV="false" rot="0">
            <a:off x="10750556" y="4525439"/>
            <a:ext cx="6700725" cy="4104194"/>
          </a:xfrm>
          <a:custGeom>
            <a:avLst/>
            <a:gdLst/>
            <a:ahLst/>
            <a:cxnLst/>
            <a:rect r="r" b="b" t="t" l="l"/>
            <a:pathLst>
              <a:path h="4104194" w="6700725">
                <a:moveTo>
                  <a:pt x="0" y="0"/>
                </a:moveTo>
                <a:lnTo>
                  <a:pt x="6700725" y="0"/>
                </a:lnTo>
                <a:lnTo>
                  <a:pt x="6700725" y="4104194"/>
                </a:lnTo>
                <a:lnTo>
                  <a:pt x="0" y="4104194"/>
                </a:lnTo>
                <a:lnTo>
                  <a:pt x="0" y="0"/>
                </a:lnTo>
                <a:close/>
              </a:path>
            </a:pathLst>
          </a:custGeom>
          <a:blipFill>
            <a:blip r:embed="rId4"/>
            <a:stretch>
              <a:fillRect l="0" t="0" r="0" b="0"/>
            </a:stretch>
          </a:blipFill>
        </p:spPr>
      </p:sp>
      <p:sp>
        <p:nvSpPr>
          <p:cNvPr name="TextBox 8" id="8"/>
          <p:cNvSpPr txBox="true"/>
          <p:nvPr/>
        </p:nvSpPr>
        <p:spPr>
          <a:xfrm rot="0">
            <a:off x="1504950" y="2687721"/>
            <a:ext cx="8449277" cy="867415"/>
          </a:xfrm>
          <a:prstGeom prst="rect">
            <a:avLst/>
          </a:prstGeom>
        </p:spPr>
        <p:txBody>
          <a:bodyPr anchor="t" rtlCol="false" tIns="0" lIns="0" bIns="0" rIns="0">
            <a:spAutoFit/>
          </a:bodyPr>
          <a:lstStyle/>
          <a:p>
            <a:pPr algn="l">
              <a:lnSpc>
                <a:spcPts val="6400"/>
              </a:lnSpc>
            </a:pPr>
            <a:r>
              <a:rPr lang="en-US" sz="6400" spc="-96" b="true">
                <a:solidFill>
                  <a:srgbClr val="202020"/>
                </a:solidFill>
                <a:latin typeface="Cy Grotesk Key Semi-Bold"/>
                <a:ea typeface="Cy Grotesk Key Semi-Bold"/>
                <a:cs typeface="Cy Grotesk Key Semi-Bold"/>
                <a:sym typeface="Cy Grotesk Key Semi-Bold"/>
              </a:rPr>
              <a:t>Context</a:t>
            </a:r>
          </a:p>
        </p:txBody>
      </p:sp>
      <p:sp>
        <p:nvSpPr>
          <p:cNvPr name="TextBox 9" id="9"/>
          <p:cNvSpPr txBox="true"/>
          <p:nvPr/>
        </p:nvSpPr>
        <p:spPr>
          <a:xfrm rot="0">
            <a:off x="1504950" y="3672852"/>
            <a:ext cx="7949130" cy="1796414"/>
          </a:xfrm>
          <a:prstGeom prst="rect">
            <a:avLst/>
          </a:prstGeom>
        </p:spPr>
        <p:txBody>
          <a:bodyPr anchor="t" rtlCol="false" tIns="0" lIns="0" bIns="0" rIns="0">
            <a:spAutoFit/>
          </a:bodyPr>
          <a:lstStyle/>
          <a:p>
            <a:pPr algn="l">
              <a:lnSpc>
                <a:spcPts val="2880"/>
              </a:lnSpc>
            </a:pPr>
            <a:r>
              <a:rPr lang="en-US" sz="2000">
                <a:solidFill>
                  <a:srgbClr val="202020"/>
                </a:solidFill>
                <a:latin typeface="Inter"/>
                <a:ea typeface="Inter"/>
                <a:cs typeface="Inter"/>
                <a:sym typeface="Inter"/>
              </a:rPr>
              <a:t>Carnes Darras is a Chilean company dedicated to meat distribution, importing mainly from Brazil and complementing its offer with national products such as chicken fillet and pork pulp. Its main customer base consists of small and medium-sized restaurants that require constant restocking and agile service.</a:t>
            </a:r>
          </a:p>
        </p:txBody>
      </p:sp>
      <p:sp>
        <p:nvSpPr>
          <p:cNvPr name="TextBox 10" id="10"/>
          <p:cNvSpPr txBox="true"/>
          <p:nvPr/>
        </p:nvSpPr>
        <p:spPr>
          <a:xfrm rot="0">
            <a:off x="12858299" y="9279206"/>
            <a:ext cx="4401001" cy="450723"/>
          </a:xfrm>
          <a:prstGeom prst="rect">
            <a:avLst/>
          </a:prstGeom>
        </p:spPr>
        <p:txBody>
          <a:bodyPr anchor="t" rtlCol="false" tIns="0" lIns="0" bIns="0" rIns="0">
            <a:spAutoFit/>
          </a:bodyPr>
          <a:lstStyle/>
          <a:p>
            <a:pPr algn="r">
              <a:lnSpc>
                <a:spcPts val="3456"/>
              </a:lnSpc>
            </a:pPr>
            <a:r>
              <a:rPr lang="en-US" b="true" sz="2400">
                <a:solidFill>
                  <a:srgbClr val="EFE8DD"/>
                </a:solidFill>
                <a:latin typeface="Helvetica World Bold"/>
                <a:ea typeface="Helvetica World Bold"/>
                <a:cs typeface="Helvetica World Bold"/>
                <a:sym typeface="Helvetica World Bold"/>
              </a:rPr>
              <a:t>01</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2858299" y="9279206"/>
            <a:ext cx="4401001" cy="450723"/>
          </a:xfrm>
          <a:prstGeom prst="rect">
            <a:avLst/>
          </a:prstGeom>
        </p:spPr>
        <p:txBody>
          <a:bodyPr anchor="t" rtlCol="false" tIns="0" lIns="0" bIns="0" rIns="0">
            <a:spAutoFit/>
          </a:bodyPr>
          <a:lstStyle/>
          <a:p>
            <a:pPr algn="r">
              <a:lnSpc>
                <a:spcPts val="3456"/>
              </a:lnSpc>
            </a:pPr>
            <a:r>
              <a:rPr lang="en-US" b="true" sz="2400">
                <a:solidFill>
                  <a:srgbClr val="EFE8DD"/>
                </a:solidFill>
                <a:latin typeface="Helvetica World Bold"/>
                <a:ea typeface="Helvetica World Bold"/>
                <a:cs typeface="Helvetica World Bold"/>
                <a:sym typeface="Helvetica World Bold"/>
              </a:rPr>
              <a:t>02</a:t>
            </a:r>
          </a:p>
        </p:txBody>
      </p:sp>
      <p:grpSp>
        <p:nvGrpSpPr>
          <p:cNvPr name="Group 3" id="3"/>
          <p:cNvGrpSpPr/>
          <p:nvPr/>
        </p:nvGrpSpPr>
        <p:grpSpPr>
          <a:xfrm rot="0">
            <a:off x="-492000" y="-1162967"/>
            <a:ext cx="18894942" cy="14237917"/>
            <a:chOff x="0" y="0"/>
            <a:chExt cx="4976446" cy="3749904"/>
          </a:xfrm>
        </p:grpSpPr>
        <p:sp>
          <p:nvSpPr>
            <p:cNvPr name="Freeform 4" id="4"/>
            <p:cNvSpPr/>
            <p:nvPr/>
          </p:nvSpPr>
          <p:spPr>
            <a:xfrm flipH="false" flipV="false" rot="0">
              <a:off x="0" y="0"/>
              <a:ext cx="4976446" cy="3749904"/>
            </a:xfrm>
            <a:custGeom>
              <a:avLst/>
              <a:gdLst/>
              <a:ahLst/>
              <a:cxnLst/>
              <a:rect r="r" b="b" t="t" l="l"/>
              <a:pathLst>
                <a:path h="3749904" w="4976446">
                  <a:moveTo>
                    <a:pt x="20896" y="0"/>
                  </a:moveTo>
                  <a:lnTo>
                    <a:pt x="4955549" y="0"/>
                  </a:lnTo>
                  <a:cubicBezTo>
                    <a:pt x="4961091" y="0"/>
                    <a:pt x="4966407" y="2202"/>
                    <a:pt x="4970325" y="6120"/>
                  </a:cubicBezTo>
                  <a:cubicBezTo>
                    <a:pt x="4974244" y="10039"/>
                    <a:pt x="4976446" y="15354"/>
                    <a:pt x="4976446" y="20896"/>
                  </a:cubicBezTo>
                  <a:lnTo>
                    <a:pt x="4976446" y="3729008"/>
                  </a:lnTo>
                  <a:cubicBezTo>
                    <a:pt x="4976446" y="3734550"/>
                    <a:pt x="4974244" y="3739865"/>
                    <a:pt x="4970325" y="3743783"/>
                  </a:cubicBezTo>
                  <a:cubicBezTo>
                    <a:pt x="4966407" y="3747703"/>
                    <a:pt x="4961091" y="3749904"/>
                    <a:pt x="4955549" y="3749904"/>
                  </a:cubicBezTo>
                  <a:lnTo>
                    <a:pt x="20896" y="3749904"/>
                  </a:lnTo>
                  <a:cubicBezTo>
                    <a:pt x="15354" y="3749904"/>
                    <a:pt x="10039" y="3747703"/>
                    <a:pt x="6120" y="3743783"/>
                  </a:cubicBezTo>
                  <a:cubicBezTo>
                    <a:pt x="2202" y="3739865"/>
                    <a:pt x="0" y="3734550"/>
                    <a:pt x="0" y="3729008"/>
                  </a:cubicBezTo>
                  <a:lnTo>
                    <a:pt x="0" y="20896"/>
                  </a:lnTo>
                  <a:cubicBezTo>
                    <a:pt x="0" y="15354"/>
                    <a:pt x="2202" y="10039"/>
                    <a:pt x="6120" y="6120"/>
                  </a:cubicBezTo>
                  <a:cubicBezTo>
                    <a:pt x="10039" y="2202"/>
                    <a:pt x="15354" y="0"/>
                    <a:pt x="20896" y="0"/>
                  </a:cubicBezTo>
                  <a:close/>
                </a:path>
              </a:pathLst>
            </a:custGeom>
            <a:solidFill>
              <a:srgbClr val="A03E3C"/>
            </a:solidFill>
          </p:spPr>
        </p:sp>
        <p:sp>
          <p:nvSpPr>
            <p:cNvPr name="TextBox 5" id="5"/>
            <p:cNvSpPr txBox="true"/>
            <p:nvPr/>
          </p:nvSpPr>
          <p:spPr>
            <a:xfrm>
              <a:off x="0" y="-38100"/>
              <a:ext cx="4976446" cy="3788004"/>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1675863" y="2511749"/>
            <a:ext cx="14936274" cy="3489198"/>
          </a:xfrm>
          <a:prstGeom prst="rect">
            <a:avLst/>
          </a:prstGeom>
        </p:spPr>
        <p:txBody>
          <a:bodyPr anchor="t" rtlCol="false" tIns="0" lIns="0" bIns="0" rIns="0">
            <a:spAutoFit/>
          </a:bodyPr>
          <a:lstStyle/>
          <a:p>
            <a:pPr algn="just">
              <a:lnSpc>
                <a:spcPts val="3456"/>
              </a:lnSpc>
            </a:pPr>
            <a:r>
              <a:rPr lang="en-US" sz="2400">
                <a:solidFill>
                  <a:srgbClr val="FFFFFF"/>
                </a:solidFill>
                <a:latin typeface="Inter"/>
                <a:ea typeface="Inter"/>
                <a:cs typeface="Inter"/>
                <a:sym typeface="Inter"/>
              </a:rPr>
              <a:t>Ca</a:t>
            </a:r>
            <a:r>
              <a:rPr lang="en-US" sz="2400">
                <a:solidFill>
                  <a:srgbClr val="FFFFFF"/>
                </a:solidFill>
                <a:latin typeface="Inter"/>
                <a:ea typeface="Inter"/>
                <a:cs typeface="Inter"/>
                <a:sym typeface="Inter"/>
              </a:rPr>
              <a:t>rnes Darras currently operates with manual and outdated administrative processes carried out physically using paper, without backup on servers, cloud services, or any technological method.</a:t>
            </a:r>
          </a:p>
          <a:p>
            <a:pPr algn="just">
              <a:lnSpc>
                <a:spcPts val="3456"/>
              </a:lnSpc>
            </a:pPr>
          </a:p>
          <a:p>
            <a:pPr algn="just">
              <a:lnSpc>
                <a:spcPts val="3456"/>
              </a:lnSpc>
            </a:pPr>
            <a:r>
              <a:rPr lang="en-US" sz="2400">
                <a:solidFill>
                  <a:srgbClr val="FFFFFF"/>
                </a:solidFill>
                <a:latin typeface="Inter"/>
                <a:ea typeface="Inter"/>
                <a:cs typeface="Inter"/>
                <a:sym typeface="Inter"/>
              </a:rPr>
              <a:t>The only processes performed on a computer are the creation of invoices through the external invoicing platform “NUBOX” and the daily sales report stored in a shared company folder.</a:t>
            </a:r>
          </a:p>
          <a:p>
            <a:pPr algn="just">
              <a:lnSpc>
                <a:spcPts val="3456"/>
              </a:lnSpc>
            </a:pPr>
          </a:p>
          <a:p>
            <a:pPr algn="just">
              <a:lnSpc>
                <a:spcPts val="3456"/>
              </a:lnSpc>
            </a:pPr>
            <a:r>
              <a:rPr lang="en-US" sz="2400">
                <a:solidFill>
                  <a:srgbClr val="FFFFFF"/>
                </a:solidFill>
                <a:latin typeface="Inter"/>
                <a:ea typeface="Inter"/>
                <a:cs typeface="Inter"/>
                <a:sym typeface="Inter"/>
              </a:rPr>
              <a:t> For this project, we focus on the orders and invoicing area, as it is the most time-consuming daily process.</a:t>
            </a:r>
          </a:p>
        </p:txBody>
      </p:sp>
      <p:sp>
        <p:nvSpPr>
          <p:cNvPr name="TextBox 7" id="7"/>
          <p:cNvSpPr txBox="true"/>
          <p:nvPr/>
        </p:nvSpPr>
        <p:spPr>
          <a:xfrm rot="0">
            <a:off x="4730833" y="1190625"/>
            <a:ext cx="8449277" cy="1200144"/>
          </a:xfrm>
          <a:prstGeom prst="rect">
            <a:avLst/>
          </a:prstGeom>
        </p:spPr>
        <p:txBody>
          <a:bodyPr anchor="t" rtlCol="false" tIns="0" lIns="0" bIns="0" rIns="0">
            <a:spAutoFit/>
          </a:bodyPr>
          <a:lstStyle/>
          <a:p>
            <a:pPr algn="ctr">
              <a:lnSpc>
                <a:spcPts val="8999"/>
              </a:lnSpc>
            </a:pPr>
            <a:r>
              <a:rPr lang="en-US" b="true" sz="8999" spc="-134">
                <a:solidFill>
                  <a:srgbClr val="FFFFFF"/>
                </a:solidFill>
                <a:latin typeface="Cy Grotesk Key Semi-Bold"/>
                <a:ea typeface="Cy Grotesk Key Semi-Bold"/>
                <a:cs typeface="Cy Grotesk Key Semi-Bold"/>
                <a:sym typeface="Cy Grotesk Key Semi-Bold"/>
              </a:rPr>
              <a:t>Problem</a:t>
            </a:r>
          </a:p>
        </p:txBody>
      </p:sp>
      <p:sp>
        <p:nvSpPr>
          <p:cNvPr name="TextBox 8" id="8"/>
          <p:cNvSpPr txBox="true"/>
          <p:nvPr/>
        </p:nvSpPr>
        <p:spPr>
          <a:xfrm rot="0">
            <a:off x="13010699" y="9431606"/>
            <a:ext cx="4401001" cy="450723"/>
          </a:xfrm>
          <a:prstGeom prst="rect">
            <a:avLst/>
          </a:prstGeom>
        </p:spPr>
        <p:txBody>
          <a:bodyPr anchor="t" rtlCol="false" tIns="0" lIns="0" bIns="0" rIns="0">
            <a:spAutoFit/>
          </a:bodyPr>
          <a:lstStyle/>
          <a:p>
            <a:pPr algn="r">
              <a:lnSpc>
                <a:spcPts val="3456"/>
              </a:lnSpc>
            </a:pPr>
            <a:r>
              <a:rPr lang="en-US" b="true" sz="2400">
                <a:solidFill>
                  <a:srgbClr val="F8F7F6"/>
                </a:solidFill>
                <a:latin typeface="Helvetica World Bold"/>
                <a:ea typeface="Helvetica World Bold"/>
                <a:cs typeface="Helvetica World Bold"/>
                <a:sym typeface="Helvetica World Bold"/>
              </a:rPr>
              <a:t>02</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48710" y="9258300"/>
            <a:ext cx="19785420" cy="597310"/>
            <a:chOff x="0" y="0"/>
            <a:chExt cx="5210975" cy="157316"/>
          </a:xfrm>
        </p:grpSpPr>
        <p:sp>
          <p:nvSpPr>
            <p:cNvPr name="Freeform 3" id="3"/>
            <p:cNvSpPr/>
            <p:nvPr/>
          </p:nvSpPr>
          <p:spPr>
            <a:xfrm flipH="false" flipV="false" rot="0">
              <a:off x="0" y="0"/>
              <a:ext cx="5210975" cy="157316"/>
            </a:xfrm>
            <a:custGeom>
              <a:avLst/>
              <a:gdLst/>
              <a:ahLst/>
              <a:cxnLst/>
              <a:rect r="r" b="b" t="t" l="l"/>
              <a:pathLst>
                <a:path h="157316" w="5210975">
                  <a:moveTo>
                    <a:pt x="19956" y="0"/>
                  </a:moveTo>
                  <a:lnTo>
                    <a:pt x="5191019" y="0"/>
                  </a:lnTo>
                  <a:cubicBezTo>
                    <a:pt x="5202040" y="0"/>
                    <a:pt x="5210975" y="8935"/>
                    <a:pt x="5210975" y="19956"/>
                  </a:cubicBezTo>
                  <a:lnTo>
                    <a:pt x="5210975" y="137360"/>
                  </a:lnTo>
                  <a:cubicBezTo>
                    <a:pt x="5210975" y="142653"/>
                    <a:pt x="5208872" y="147729"/>
                    <a:pt x="5205130" y="151471"/>
                  </a:cubicBezTo>
                  <a:cubicBezTo>
                    <a:pt x="5201388" y="155214"/>
                    <a:pt x="5196312" y="157316"/>
                    <a:pt x="5191019" y="157316"/>
                  </a:cubicBezTo>
                  <a:lnTo>
                    <a:pt x="19956" y="157316"/>
                  </a:lnTo>
                  <a:cubicBezTo>
                    <a:pt x="8935" y="157316"/>
                    <a:pt x="0" y="148382"/>
                    <a:pt x="0" y="137360"/>
                  </a:cubicBezTo>
                  <a:lnTo>
                    <a:pt x="0" y="19956"/>
                  </a:lnTo>
                  <a:cubicBezTo>
                    <a:pt x="0" y="8935"/>
                    <a:pt x="8935" y="0"/>
                    <a:pt x="19956" y="0"/>
                  </a:cubicBezTo>
                  <a:close/>
                </a:path>
              </a:pathLst>
            </a:custGeom>
            <a:solidFill>
              <a:srgbClr val="A03E3C"/>
            </a:solidFill>
          </p:spPr>
        </p:sp>
        <p:sp>
          <p:nvSpPr>
            <p:cNvPr name="TextBox 4" id="4"/>
            <p:cNvSpPr txBox="true"/>
            <p:nvPr/>
          </p:nvSpPr>
          <p:spPr>
            <a:xfrm>
              <a:off x="0" y="-38100"/>
              <a:ext cx="5210975" cy="195416"/>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3282233" y="3583475"/>
            <a:ext cx="5671267" cy="1904447"/>
            <a:chOff x="0" y="0"/>
            <a:chExt cx="2611680" cy="877019"/>
          </a:xfrm>
        </p:grpSpPr>
        <p:sp>
          <p:nvSpPr>
            <p:cNvPr name="Freeform 6" id="6"/>
            <p:cNvSpPr/>
            <p:nvPr/>
          </p:nvSpPr>
          <p:spPr>
            <a:xfrm flipH="false" flipV="false" rot="0">
              <a:off x="0" y="0"/>
              <a:ext cx="2611680" cy="877019"/>
            </a:xfrm>
            <a:custGeom>
              <a:avLst/>
              <a:gdLst/>
              <a:ahLst/>
              <a:cxnLst/>
              <a:rect r="r" b="b" t="t" l="l"/>
              <a:pathLst>
                <a:path h="877019" w="2611680">
                  <a:moveTo>
                    <a:pt x="98288" y="0"/>
                  </a:moveTo>
                  <a:lnTo>
                    <a:pt x="2513392" y="0"/>
                  </a:lnTo>
                  <a:cubicBezTo>
                    <a:pt x="2567675" y="0"/>
                    <a:pt x="2611680" y="44005"/>
                    <a:pt x="2611680" y="98288"/>
                  </a:cubicBezTo>
                  <a:lnTo>
                    <a:pt x="2611680" y="778731"/>
                  </a:lnTo>
                  <a:cubicBezTo>
                    <a:pt x="2611680" y="804798"/>
                    <a:pt x="2601325" y="829798"/>
                    <a:pt x="2582892" y="848231"/>
                  </a:cubicBezTo>
                  <a:cubicBezTo>
                    <a:pt x="2564460" y="866663"/>
                    <a:pt x="2539460" y="877019"/>
                    <a:pt x="2513392" y="877019"/>
                  </a:cubicBezTo>
                  <a:lnTo>
                    <a:pt x="98288" y="877019"/>
                  </a:lnTo>
                  <a:cubicBezTo>
                    <a:pt x="72221" y="877019"/>
                    <a:pt x="47221" y="866663"/>
                    <a:pt x="28788" y="848231"/>
                  </a:cubicBezTo>
                  <a:cubicBezTo>
                    <a:pt x="10355" y="829798"/>
                    <a:pt x="0" y="804798"/>
                    <a:pt x="0" y="778731"/>
                  </a:cubicBezTo>
                  <a:lnTo>
                    <a:pt x="0" y="98288"/>
                  </a:lnTo>
                  <a:cubicBezTo>
                    <a:pt x="0" y="72221"/>
                    <a:pt x="10355" y="47221"/>
                    <a:pt x="28788" y="28788"/>
                  </a:cubicBezTo>
                  <a:cubicBezTo>
                    <a:pt x="47221" y="10355"/>
                    <a:pt x="72221" y="0"/>
                    <a:pt x="98288" y="0"/>
                  </a:cubicBezTo>
                  <a:close/>
                </a:path>
              </a:pathLst>
            </a:custGeom>
            <a:solidFill>
              <a:srgbClr val="A03E3C"/>
            </a:solidFill>
          </p:spPr>
        </p:sp>
        <p:sp>
          <p:nvSpPr>
            <p:cNvPr name="TextBox 7" id="7"/>
            <p:cNvSpPr txBox="true"/>
            <p:nvPr/>
          </p:nvSpPr>
          <p:spPr>
            <a:xfrm>
              <a:off x="0" y="95250"/>
              <a:ext cx="2611680" cy="781769"/>
            </a:xfrm>
            <a:prstGeom prst="rect">
              <a:avLst/>
            </a:prstGeom>
          </p:spPr>
          <p:txBody>
            <a:bodyPr anchor="ctr" rtlCol="false" tIns="50800" lIns="50800" bIns="50800" rIns="50800"/>
            <a:lstStyle/>
            <a:p>
              <a:pPr algn="ctr">
                <a:lnSpc>
                  <a:spcPts val="1925"/>
                </a:lnSpc>
              </a:pPr>
            </a:p>
          </p:txBody>
        </p:sp>
      </p:grpSp>
      <p:grpSp>
        <p:nvGrpSpPr>
          <p:cNvPr name="Group 8" id="8"/>
          <p:cNvGrpSpPr/>
          <p:nvPr/>
        </p:nvGrpSpPr>
        <p:grpSpPr>
          <a:xfrm rot="0">
            <a:off x="3282233" y="6190965"/>
            <a:ext cx="5671267" cy="2127109"/>
            <a:chOff x="0" y="0"/>
            <a:chExt cx="2611680" cy="979557"/>
          </a:xfrm>
        </p:grpSpPr>
        <p:sp>
          <p:nvSpPr>
            <p:cNvPr name="Freeform 9" id="9"/>
            <p:cNvSpPr/>
            <p:nvPr/>
          </p:nvSpPr>
          <p:spPr>
            <a:xfrm flipH="false" flipV="false" rot="0">
              <a:off x="0" y="0"/>
              <a:ext cx="2611680" cy="979557"/>
            </a:xfrm>
            <a:custGeom>
              <a:avLst/>
              <a:gdLst/>
              <a:ahLst/>
              <a:cxnLst/>
              <a:rect r="r" b="b" t="t" l="l"/>
              <a:pathLst>
                <a:path h="979557" w="2611680">
                  <a:moveTo>
                    <a:pt x="98288" y="0"/>
                  </a:moveTo>
                  <a:lnTo>
                    <a:pt x="2513392" y="0"/>
                  </a:lnTo>
                  <a:cubicBezTo>
                    <a:pt x="2567675" y="0"/>
                    <a:pt x="2611680" y="44005"/>
                    <a:pt x="2611680" y="98288"/>
                  </a:cubicBezTo>
                  <a:lnTo>
                    <a:pt x="2611680" y="881269"/>
                  </a:lnTo>
                  <a:cubicBezTo>
                    <a:pt x="2611680" y="907337"/>
                    <a:pt x="2601325" y="932337"/>
                    <a:pt x="2582892" y="950769"/>
                  </a:cubicBezTo>
                  <a:cubicBezTo>
                    <a:pt x="2564460" y="969202"/>
                    <a:pt x="2539460" y="979557"/>
                    <a:pt x="2513392" y="979557"/>
                  </a:cubicBezTo>
                  <a:lnTo>
                    <a:pt x="98288" y="979557"/>
                  </a:lnTo>
                  <a:cubicBezTo>
                    <a:pt x="72221" y="979557"/>
                    <a:pt x="47221" y="969202"/>
                    <a:pt x="28788" y="950769"/>
                  </a:cubicBezTo>
                  <a:cubicBezTo>
                    <a:pt x="10355" y="932337"/>
                    <a:pt x="0" y="907337"/>
                    <a:pt x="0" y="881269"/>
                  </a:cubicBezTo>
                  <a:lnTo>
                    <a:pt x="0" y="98288"/>
                  </a:lnTo>
                  <a:cubicBezTo>
                    <a:pt x="0" y="72221"/>
                    <a:pt x="10355" y="47221"/>
                    <a:pt x="28788" y="28788"/>
                  </a:cubicBezTo>
                  <a:cubicBezTo>
                    <a:pt x="47221" y="10355"/>
                    <a:pt x="72221" y="0"/>
                    <a:pt x="98288" y="0"/>
                  </a:cubicBezTo>
                  <a:close/>
                </a:path>
              </a:pathLst>
            </a:custGeom>
            <a:solidFill>
              <a:srgbClr val="A03E3C"/>
            </a:solidFill>
          </p:spPr>
        </p:sp>
        <p:sp>
          <p:nvSpPr>
            <p:cNvPr name="TextBox 10" id="10"/>
            <p:cNvSpPr txBox="true"/>
            <p:nvPr/>
          </p:nvSpPr>
          <p:spPr>
            <a:xfrm>
              <a:off x="0" y="95250"/>
              <a:ext cx="2611680" cy="884307"/>
            </a:xfrm>
            <a:prstGeom prst="rect">
              <a:avLst/>
            </a:prstGeom>
          </p:spPr>
          <p:txBody>
            <a:bodyPr anchor="ctr" rtlCol="false" tIns="50800" lIns="50800" bIns="50800" rIns="50800"/>
            <a:lstStyle/>
            <a:p>
              <a:pPr algn="ctr">
                <a:lnSpc>
                  <a:spcPts val="1925"/>
                </a:lnSpc>
              </a:pPr>
            </a:p>
          </p:txBody>
        </p:sp>
      </p:grpSp>
      <p:grpSp>
        <p:nvGrpSpPr>
          <p:cNvPr name="Group 11" id="11"/>
          <p:cNvGrpSpPr/>
          <p:nvPr/>
        </p:nvGrpSpPr>
        <p:grpSpPr>
          <a:xfrm rot="0">
            <a:off x="9334500" y="6190965"/>
            <a:ext cx="5671267" cy="2127109"/>
            <a:chOff x="0" y="0"/>
            <a:chExt cx="2611680" cy="979557"/>
          </a:xfrm>
        </p:grpSpPr>
        <p:sp>
          <p:nvSpPr>
            <p:cNvPr name="Freeform 12" id="12"/>
            <p:cNvSpPr/>
            <p:nvPr/>
          </p:nvSpPr>
          <p:spPr>
            <a:xfrm flipH="false" flipV="false" rot="0">
              <a:off x="0" y="0"/>
              <a:ext cx="2611680" cy="979557"/>
            </a:xfrm>
            <a:custGeom>
              <a:avLst/>
              <a:gdLst/>
              <a:ahLst/>
              <a:cxnLst/>
              <a:rect r="r" b="b" t="t" l="l"/>
              <a:pathLst>
                <a:path h="979557" w="2611680">
                  <a:moveTo>
                    <a:pt x="98288" y="0"/>
                  </a:moveTo>
                  <a:lnTo>
                    <a:pt x="2513392" y="0"/>
                  </a:lnTo>
                  <a:cubicBezTo>
                    <a:pt x="2567675" y="0"/>
                    <a:pt x="2611680" y="44005"/>
                    <a:pt x="2611680" y="98288"/>
                  </a:cubicBezTo>
                  <a:lnTo>
                    <a:pt x="2611680" y="881269"/>
                  </a:lnTo>
                  <a:cubicBezTo>
                    <a:pt x="2611680" y="907337"/>
                    <a:pt x="2601325" y="932337"/>
                    <a:pt x="2582892" y="950769"/>
                  </a:cubicBezTo>
                  <a:cubicBezTo>
                    <a:pt x="2564460" y="969202"/>
                    <a:pt x="2539460" y="979557"/>
                    <a:pt x="2513392" y="979557"/>
                  </a:cubicBezTo>
                  <a:lnTo>
                    <a:pt x="98288" y="979557"/>
                  </a:lnTo>
                  <a:cubicBezTo>
                    <a:pt x="72221" y="979557"/>
                    <a:pt x="47221" y="969202"/>
                    <a:pt x="28788" y="950769"/>
                  </a:cubicBezTo>
                  <a:cubicBezTo>
                    <a:pt x="10355" y="932337"/>
                    <a:pt x="0" y="907337"/>
                    <a:pt x="0" y="881269"/>
                  </a:cubicBezTo>
                  <a:lnTo>
                    <a:pt x="0" y="98288"/>
                  </a:lnTo>
                  <a:cubicBezTo>
                    <a:pt x="0" y="72221"/>
                    <a:pt x="10355" y="47221"/>
                    <a:pt x="28788" y="28788"/>
                  </a:cubicBezTo>
                  <a:cubicBezTo>
                    <a:pt x="47221" y="10355"/>
                    <a:pt x="72221" y="0"/>
                    <a:pt x="98288" y="0"/>
                  </a:cubicBezTo>
                  <a:close/>
                </a:path>
              </a:pathLst>
            </a:custGeom>
            <a:solidFill>
              <a:srgbClr val="A03E3C"/>
            </a:solidFill>
          </p:spPr>
        </p:sp>
        <p:sp>
          <p:nvSpPr>
            <p:cNvPr name="TextBox 13" id="13"/>
            <p:cNvSpPr txBox="true"/>
            <p:nvPr/>
          </p:nvSpPr>
          <p:spPr>
            <a:xfrm>
              <a:off x="0" y="95250"/>
              <a:ext cx="2611680" cy="884307"/>
            </a:xfrm>
            <a:prstGeom prst="rect">
              <a:avLst/>
            </a:prstGeom>
          </p:spPr>
          <p:txBody>
            <a:bodyPr anchor="ctr" rtlCol="false" tIns="50800" lIns="50800" bIns="50800" rIns="50800"/>
            <a:lstStyle/>
            <a:p>
              <a:pPr algn="ctr">
                <a:lnSpc>
                  <a:spcPts val="1925"/>
                </a:lnSpc>
              </a:pPr>
            </a:p>
          </p:txBody>
        </p:sp>
      </p:grpSp>
      <p:grpSp>
        <p:nvGrpSpPr>
          <p:cNvPr name="Group 14" id="14"/>
          <p:cNvGrpSpPr/>
          <p:nvPr/>
        </p:nvGrpSpPr>
        <p:grpSpPr>
          <a:xfrm rot="0">
            <a:off x="9334500" y="3583475"/>
            <a:ext cx="5671267" cy="1904447"/>
            <a:chOff x="0" y="0"/>
            <a:chExt cx="2611680" cy="877019"/>
          </a:xfrm>
        </p:grpSpPr>
        <p:sp>
          <p:nvSpPr>
            <p:cNvPr name="Freeform 15" id="15"/>
            <p:cNvSpPr/>
            <p:nvPr/>
          </p:nvSpPr>
          <p:spPr>
            <a:xfrm flipH="false" flipV="false" rot="0">
              <a:off x="0" y="0"/>
              <a:ext cx="2611680" cy="877019"/>
            </a:xfrm>
            <a:custGeom>
              <a:avLst/>
              <a:gdLst/>
              <a:ahLst/>
              <a:cxnLst/>
              <a:rect r="r" b="b" t="t" l="l"/>
              <a:pathLst>
                <a:path h="877019" w="2611680">
                  <a:moveTo>
                    <a:pt x="98288" y="0"/>
                  </a:moveTo>
                  <a:lnTo>
                    <a:pt x="2513392" y="0"/>
                  </a:lnTo>
                  <a:cubicBezTo>
                    <a:pt x="2567675" y="0"/>
                    <a:pt x="2611680" y="44005"/>
                    <a:pt x="2611680" y="98288"/>
                  </a:cubicBezTo>
                  <a:lnTo>
                    <a:pt x="2611680" y="778731"/>
                  </a:lnTo>
                  <a:cubicBezTo>
                    <a:pt x="2611680" y="804798"/>
                    <a:pt x="2601325" y="829798"/>
                    <a:pt x="2582892" y="848231"/>
                  </a:cubicBezTo>
                  <a:cubicBezTo>
                    <a:pt x="2564460" y="866663"/>
                    <a:pt x="2539460" y="877019"/>
                    <a:pt x="2513392" y="877019"/>
                  </a:cubicBezTo>
                  <a:lnTo>
                    <a:pt x="98288" y="877019"/>
                  </a:lnTo>
                  <a:cubicBezTo>
                    <a:pt x="72221" y="877019"/>
                    <a:pt x="47221" y="866663"/>
                    <a:pt x="28788" y="848231"/>
                  </a:cubicBezTo>
                  <a:cubicBezTo>
                    <a:pt x="10355" y="829798"/>
                    <a:pt x="0" y="804798"/>
                    <a:pt x="0" y="778731"/>
                  </a:cubicBezTo>
                  <a:lnTo>
                    <a:pt x="0" y="98288"/>
                  </a:lnTo>
                  <a:cubicBezTo>
                    <a:pt x="0" y="72221"/>
                    <a:pt x="10355" y="47221"/>
                    <a:pt x="28788" y="28788"/>
                  </a:cubicBezTo>
                  <a:cubicBezTo>
                    <a:pt x="47221" y="10355"/>
                    <a:pt x="72221" y="0"/>
                    <a:pt x="98288" y="0"/>
                  </a:cubicBezTo>
                  <a:close/>
                </a:path>
              </a:pathLst>
            </a:custGeom>
            <a:solidFill>
              <a:srgbClr val="A03E3C"/>
            </a:solidFill>
          </p:spPr>
        </p:sp>
        <p:sp>
          <p:nvSpPr>
            <p:cNvPr name="TextBox 16" id="16"/>
            <p:cNvSpPr txBox="true"/>
            <p:nvPr/>
          </p:nvSpPr>
          <p:spPr>
            <a:xfrm>
              <a:off x="0" y="95250"/>
              <a:ext cx="2611680" cy="781769"/>
            </a:xfrm>
            <a:prstGeom prst="rect">
              <a:avLst/>
            </a:prstGeom>
          </p:spPr>
          <p:txBody>
            <a:bodyPr anchor="ctr" rtlCol="false" tIns="50800" lIns="50800" bIns="50800" rIns="50800"/>
            <a:lstStyle/>
            <a:p>
              <a:pPr algn="ctr">
                <a:lnSpc>
                  <a:spcPts val="1925"/>
                </a:lnSpc>
              </a:pPr>
            </a:p>
          </p:txBody>
        </p:sp>
      </p:grpSp>
      <p:sp>
        <p:nvSpPr>
          <p:cNvPr name="Freeform 17" id="17"/>
          <p:cNvSpPr/>
          <p:nvPr/>
        </p:nvSpPr>
        <p:spPr>
          <a:xfrm flipH="false" flipV="false" rot="0">
            <a:off x="15419204" y="555589"/>
            <a:ext cx="1422214" cy="1425778"/>
          </a:xfrm>
          <a:custGeom>
            <a:avLst/>
            <a:gdLst/>
            <a:ahLst/>
            <a:cxnLst/>
            <a:rect r="r" b="b" t="t" l="l"/>
            <a:pathLst>
              <a:path h="1425778" w="1422214">
                <a:moveTo>
                  <a:pt x="0" y="0"/>
                </a:moveTo>
                <a:lnTo>
                  <a:pt x="1422213" y="0"/>
                </a:lnTo>
                <a:lnTo>
                  <a:pt x="1422213" y="1425778"/>
                </a:lnTo>
                <a:lnTo>
                  <a:pt x="0" y="1425778"/>
                </a:lnTo>
                <a:lnTo>
                  <a:pt x="0" y="0"/>
                </a:lnTo>
                <a:close/>
              </a:path>
            </a:pathLst>
          </a:custGeom>
          <a:blipFill>
            <a:blip r:embed="rId2"/>
            <a:stretch>
              <a:fillRect l="0" t="0" r="0" b="0"/>
            </a:stretch>
          </a:blipFill>
        </p:spPr>
      </p:sp>
      <p:sp>
        <p:nvSpPr>
          <p:cNvPr name="Freeform 18" id="18"/>
          <p:cNvSpPr/>
          <p:nvPr/>
        </p:nvSpPr>
        <p:spPr>
          <a:xfrm flipH="false" flipV="false" rot="-546776">
            <a:off x="15778809" y="927961"/>
            <a:ext cx="703004" cy="681035"/>
          </a:xfrm>
          <a:custGeom>
            <a:avLst/>
            <a:gdLst/>
            <a:ahLst/>
            <a:cxnLst/>
            <a:rect r="r" b="b" t="t" l="l"/>
            <a:pathLst>
              <a:path h="681035" w="703004">
                <a:moveTo>
                  <a:pt x="0" y="0"/>
                </a:moveTo>
                <a:lnTo>
                  <a:pt x="703003" y="0"/>
                </a:lnTo>
                <a:lnTo>
                  <a:pt x="703003" y="681035"/>
                </a:lnTo>
                <a:lnTo>
                  <a:pt x="0" y="68103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9" id="19"/>
          <p:cNvSpPr txBox="true"/>
          <p:nvPr/>
        </p:nvSpPr>
        <p:spPr>
          <a:xfrm rot="0">
            <a:off x="12858299" y="9279206"/>
            <a:ext cx="4401001" cy="450723"/>
          </a:xfrm>
          <a:prstGeom prst="rect">
            <a:avLst/>
          </a:prstGeom>
        </p:spPr>
        <p:txBody>
          <a:bodyPr anchor="t" rtlCol="false" tIns="0" lIns="0" bIns="0" rIns="0">
            <a:spAutoFit/>
          </a:bodyPr>
          <a:lstStyle/>
          <a:p>
            <a:pPr algn="r">
              <a:lnSpc>
                <a:spcPts val="3456"/>
              </a:lnSpc>
            </a:pPr>
            <a:r>
              <a:rPr lang="en-US" b="true" sz="2400">
                <a:solidFill>
                  <a:srgbClr val="FFFFFF"/>
                </a:solidFill>
                <a:latin typeface="Helvetica World Bold"/>
                <a:ea typeface="Helvetica World Bold"/>
                <a:cs typeface="Helvetica World Bold"/>
                <a:sym typeface="Helvetica World Bold"/>
              </a:rPr>
              <a:t>03</a:t>
            </a:r>
          </a:p>
        </p:txBody>
      </p:sp>
      <p:sp>
        <p:nvSpPr>
          <p:cNvPr name="TextBox 20" id="20"/>
          <p:cNvSpPr txBox="true"/>
          <p:nvPr/>
        </p:nvSpPr>
        <p:spPr>
          <a:xfrm rot="0">
            <a:off x="5357667" y="3989963"/>
            <a:ext cx="3243935" cy="1066800"/>
          </a:xfrm>
          <a:prstGeom prst="rect">
            <a:avLst/>
          </a:prstGeom>
        </p:spPr>
        <p:txBody>
          <a:bodyPr anchor="t" rtlCol="false" tIns="0" lIns="0" bIns="0" rIns="0">
            <a:spAutoFit/>
          </a:bodyPr>
          <a:lstStyle/>
          <a:p>
            <a:pPr algn="l" marL="0" indent="0" lvl="0">
              <a:lnSpc>
                <a:spcPts val="2100"/>
              </a:lnSpc>
            </a:pPr>
            <a:r>
              <a:rPr lang="en-US" b="true" sz="1500" spc="24">
                <a:solidFill>
                  <a:srgbClr val="FFFFFF"/>
                </a:solidFill>
                <a:latin typeface="Inter Bold"/>
                <a:ea typeface="Inter Bold"/>
                <a:cs typeface="Inter Bold"/>
                <a:sym typeface="Inter Bold"/>
              </a:rPr>
              <a:t>Order Registration: </a:t>
            </a:r>
            <a:r>
              <a:rPr lang="en-US" sz="1500" spc="24">
                <a:solidFill>
                  <a:srgbClr val="FFFFFF"/>
                </a:solidFill>
                <a:latin typeface="Inter"/>
                <a:ea typeface="Inter"/>
                <a:cs typeface="Inter"/>
                <a:sym typeface="Inter"/>
              </a:rPr>
              <a:t>Allows orders to be registered directly in the app, eliminating the need to call the manager or use papers.</a:t>
            </a:r>
          </a:p>
        </p:txBody>
      </p:sp>
      <p:sp>
        <p:nvSpPr>
          <p:cNvPr name="TextBox 21" id="21"/>
          <p:cNvSpPr txBox="true"/>
          <p:nvPr/>
        </p:nvSpPr>
        <p:spPr>
          <a:xfrm rot="0">
            <a:off x="3560295" y="4207250"/>
            <a:ext cx="1797372" cy="761672"/>
          </a:xfrm>
          <a:prstGeom prst="rect">
            <a:avLst/>
          </a:prstGeom>
        </p:spPr>
        <p:txBody>
          <a:bodyPr anchor="t" rtlCol="false" tIns="0" lIns="0" bIns="0" rIns="0">
            <a:spAutoFit/>
          </a:bodyPr>
          <a:lstStyle/>
          <a:p>
            <a:pPr algn="ctr" marL="0" indent="0" lvl="0">
              <a:lnSpc>
                <a:spcPts val="5704"/>
              </a:lnSpc>
              <a:spcBef>
                <a:spcPct val="0"/>
              </a:spcBef>
            </a:pPr>
            <a:r>
              <a:rPr lang="en-US" b="true" sz="5704" spc="-85" strike="noStrike" u="none">
                <a:solidFill>
                  <a:srgbClr val="FFFFFF"/>
                </a:solidFill>
                <a:latin typeface="Cy Grotesk Key Semi-Bold"/>
                <a:ea typeface="Cy Grotesk Key Semi-Bold"/>
                <a:cs typeface="Cy Grotesk Key Semi-Bold"/>
                <a:sym typeface="Cy Grotesk Key Semi-Bold"/>
              </a:rPr>
              <a:t>01.</a:t>
            </a:r>
          </a:p>
        </p:txBody>
      </p:sp>
      <p:sp>
        <p:nvSpPr>
          <p:cNvPr name="TextBox 22" id="22"/>
          <p:cNvSpPr txBox="true"/>
          <p:nvPr/>
        </p:nvSpPr>
        <p:spPr>
          <a:xfrm rot="0">
            <a:off x="3560295" y="6925477"/>
            <a:ext cx="1797372" cy="762861"/>
          </a:xfrm>
          <a:prstGeom prst="rect">
            <a:avLst/>
          </a:prstGeom>
        </p:spPr>
        <p:txBody>
          <a:bodyPr anchor="t" rtlCol="false" tIns="0" lIns="0" bIns="0" rIns="0">
            <a:spAutoFit/>
          </a:bodyPr>
          <a:lstStyle/>
          <a:p>
            <a:pPr algn="ctr" marL="0" indent="0" lvl="0">
              <a:lnSpc>
                <a:spcPts val="5704"/>
              </a:lnSpc>
              <a:spcBef>
                <a:spcPct val="0"/>
              </a:spcBef>
            </a:pPr>
            <a:r>
              <a:rPr lang="en-US" b="true" sz="5704" spc="-85" strike="noStrike" u="none">
                <a:solidFill>
                  <a:srgbClr val="FFFFFF"/>
                </a:solidFill>
                <a:latin typeface="Cy Grotesk Key Semi-Bold"/>
                <a:ea typeface="Cy Grotesk Key Semi-Bold"/>
                <a:cs typeface="Cy Grotesk Key Semi-Bold"/>
                <a:sym typeface="Cy Grotesk Key Semi-Bold"/>
              </a:rPr>
              <a:t>03.</a:t>
            </a:r>
          </a:p>
        </p:txBody>
      </p:sp>
      <p:sp>
        <p:nvSpPr>
          <p:cNvPr name="TextBox 23" id="23"/>
          <p:cNvSpPr txBox="true"/>
          <p:nvPr/>
        </p:nvSpPr>
        <p:spPr>
          <a:xfrm rot="0">
            <a:off x="11409934" y="6702069"/>
            <a:ext cx="3413299" cy="1066800"/>
          </a:xfrm>
          <a:prstGeom prst="rect">
            <a:avLst/>
          </a:prstGeom>
        </p:spPr>
        <p:txBody>
          <a:bodyPr anchor="t" rtlCol="false" tIns="0" lIns="0" bIns="0" rIns="0">
            <a:spAutoFit/>
          </a:bodyPr>
          <a:lstStyle/>
          <a:p>
            <a:pPr algn="l" marL="0" indent="0" lvl="0">
              <a:lnSpc>
                <a:spcPts val="2100"/>
              </a:lnSpc>
            </a:pPr>
            <a:r>
              <a:rPr lang="en-US" b="true" sz="1500" spc="24">
                <a:solidFill>
                  <a:srgbClr val="FFFFFF"/>
                </a:solidFill>
                <a:latin typeface="Inter Semi-Bold"/>
                <a:ea typeface="Inter Semi-Bold"/>
                <a:cs typeface="Inter Semi-Bold"/>
                <a:sym typeface="Inter Semi-Bold"/>
              </a:rPr>
              <a:t>Reports and Dashboards: </a:t>
            </a:r>
            <a:r>
              <a:rPr lang="en-US" sz="1500" spc="24">
                <a:solidFill>
                  <a:srgbClr val="FFFFFF"/>
                </a:solidFill>
                <a:latin typeface="Inter"/>
                <a:ea typeface="Inter"/>
                <a:cs typeface="Inter"/>
                <a:sym typeface="Inter"/>
              </a:rPr>
              <a:t>Displays order status, best-selling products, and clients with the most orders, with daily, monthly, and annual data.</a:t>
            </a:r>
          </a:p>
        </p:txBody>
      </p:sp>
      <p:sp>
        <p:nvSpPr>
          <p:cNvPr name="TextBox 24" id="24"/>
          <p:cNvSpPr txBox="true"/>
          <p:nvPr/>
        </p:nvSpPr>
        <p:spPr>
          <a:xfrm rot="0">
            <a:off x="9612562" y="6925477"/>
            <a:ext cx="1797372" cy="762861"/>
          </a:xfrm>
          <a:prstGeom prst="rect">
            <a:avLst/>
          </a:prstGeom>
        </p:spPr>
        <p:txBody>
          <a:bodyPr anchor="t" rtlCol="false" tIns="0" lIns="0" bIns="0" rIns="0">
            <a:spAutoFit/>
          </a:bodyPr>
          <a:lstStyle/>
          <a:p>
            <a:pPr algn="ctr" marL="0" indent="0" lvl="0">
              <a:lnSpc>
                <a:spcPts val="5704"/>
              </a:lnSpc>
              <a:spcBef>
                <a:spcPct val="0"/>
              </a:spcBef>
            </a:pPr>
            <a:r>
              <a:rPr lang="en-US" b="true" sz="5704" spc="-85" strike="noStrike" u="none">
                <a:solidFill>
                  <a:srgbClr val="FFFFFF"/>
                </a:solidFill>
                <a:latin typeface="Cy Grotesk Key Semi-Bold"/>
                <a:ea typeface="Cy Grotesk Key Semi-Bold"/>
                <a:cs typeface="Cy Grotesk Key Semi-Bold"/>
                <a:sym typeface="Cy Grotesk Key Semi-Bold"/>
              </a:rPr>
              <a:t>04.</a:t>
            </a:r>
          </a:p>
        </p:txBody>
      </p:sp>
      <p:sp>
        <p:nvSpPr>
          <p:cNvPr name="TextBox 25" id="25"/>
          <p:cNvSpPr txBox="true"/>
          <p:nvPr/>
        </p:nvSpPr>
        <p:spPr>
          <a:xfrm rot="0">
            <a:off x="11409934" y="3856613"/>
            <a:ext cx="3413299" cy="1333500"/>
          </a:xfrm>
          <a:prstGeom prst="rect">
            <a:avLst/>
          </a:prstGeom>
        </p:spPr>
        <p:txBody>
          <a:bodyPr anchor="t" rtlCol="false" tIns="0" lIns="0" bIns="0" rIns="0">
            <a:spAutoFit/>
          </a:bodyPr>
          <a:lstStyle/>
          <a:p>
            <a:pPr algn="l" marL="0" indent="0" lvl="0">
              <a:lnSpc>
                <a:spcPts val="2100"/>
              </a:lnSpc>
            </a:pPr>
            <a:r>
              <a:rPr lang="en-US" b="true" sz="1500" spc="24">
                <a:solidFill>
                  <a:srgbClr val="FFFFFF"/>
                </a:solidFill>
                <a:latin typeface="Inter Bold"/>
                <a:ea typeface="Inter Bold"/>
                <a:cs typeface="Inter Bold"/>
                <a:sym typeface="Inter Bold"/>
              </a:rPr>
              <a:t>Preparation of Orders: </a:t>
            </a:r>
            <a:r>
              <a:rPr lang="en-US" sz="1500" spc="24">
                <a:solidFill>
                  <a:srgbClr val="FFFFFF"/>
                </a:solidFill>
                <a:latin typeface="Inter"/>
                <a:ea typeface="Inter"/>
                <a:cs typeface="Inter"/>
                <a:sym typeface="Inter"/>
              </a:rPr>
              <a:t>Orders can be prepared directly in the app, entering box weights and automatically calculating product weights.</a:t>
            </a:r>
          </a:p>
        </p:txBody>
      </p:sp>
      <p:sp>
        <p:nvSpPr>
          <p:cNvPr name="TextBox 26" id="26"/>
          <p:cNvSpPr txBox="true"/>
          <p:nvPr/>
        </p:nvSpPr>
        <p:spPr>
          <a:xfrm rot="0">
            <a:off x="9612562" y="4206656"/>
            <a:ext cx="1797372" cy="762861"/>
          </a:xfrm>
          <a:prstGeom prst="rect">
            <a:avLst/>
          </a:prstGeom>
        </p:spPr>
        <p:txBody>
          <a:bodyPr anchor="t" rtlCol="false" tIns="0" lIns="0" bIns="0" rIns="0">
            <a:spAutoFit/>
          </a:bodyPr>
          <a:lstStyle/>
          <a:p>
            <a:pPr algn="ctr" marL="0" indent="0" lvl="0">
              <a:lnSpc>
                <a:spcPts val="5704"/>
              </a:lnSpc>
              <a:spcBef>
                <a:spcPct val="0"/>
              </a:spcBef>
            </a:pPr>
            <a:r>
              <a:rPr lang="en-US" b="true" sz="5704" spc="-85" strike="noStrike" u="none">
                <a:solidFill>
                  <a:srgbClr val="FFFFFF"/>
                </a:solidFill>
                <a:latin typeface="Cy Grotesk Key Semi-Bold"/>
                <a:ea typeface="Cy Grotesk Key Semi-Bold"/>
                <a:cs typeface="Cy Grotesk Key Semi-Bold"/>
                <a:sym typeface="Cy Grotesk Key Semi-Bold"/>
              </a:rPr>
              <a:t>02.</a:t>
            </a:r>
          </a:p>
        </p:txBody>
      </p:sp>
      <p:sp>
        <p:nvSpPr>
          <p:cNvPr name="TextBox 27" id="27"/>
          <p:cNvSpPr txBox="true"/>
          <p:nvPr/>
        </p:nvSpPr>
        <p:spPr>
          <a:xfrm rot="0">
            <a:off x="1166412" y="2462415"/>
            <a:ext cx="15955176" cy="710564"/>
          </a:xfrm>
          <a:prstGeom prst="rect">
            <a:avLst/>
          </a:prstGeom>
        </p:spPr>
        <p:txBody>
          <a:bodyPr anchor="t" rtlCol="false" tIns="0" lIns="0" bIns="0" rIns="0">
            <a:spAutoFit/>
          </a:bodyPr>
          <a:lstStyle/>
          <a:p>
            <a:pPr algn="ctr">
              <a:lnSpc>
                <a:spcPts val="2880"/>
              </a:lnSpc>
            </a:pPr>
            <a:r>
              <a:rPr lang="en-US" sz="2000">
                <a:solidFill>
                  <a:srgbClr val="202020"/>
                </a:solidFill>
                <a:latin typeface="Inter"/>
                <a:ea typeface="Inter"/>
                <a:cs typeface="Inter"/>
                <a:sym typeface="Inter"/>
              </a:rPr>
              <a:t>A mobile app that centralizes and digitizes the entire process of order taking, preparation, and invoicing, allowing salespeople to register requests directly from their phones in a fast, organized, and standardized way.</a:t>
            </a:r>
          </a:p>
        </p:txBody>
      </p:sp>
      <p:sp>
        <p:nvSpPr>
          <p:cNvPr name="TextBox 28" id="28"/>
          <p:cNvSpPr txBox="true"/>
          <p:nvPr/>
        </p:nvSpPr>
        <p:spPr>
          <a:xfrm rot="0">
            <a:off x="4919361" y="1190625"/>
            <a:ext cx="8449277" cy="1200144"/>
          </a:xfrm>
          <a:prstGeom prst="rect">
            <a:avLst/>
          </a:prstGeom>
        </p:spPr>
        <p:txBody>
          <a:bodyPr anchor="t" rtlCol="false" tIns="0" lIns="0" bIns="0" rIns="0">
            <a:spAutoFit/>
          </a:bodyPr>
          <a:lstStyle/>
          <a:p>
            <a:pPr algn="ctr">
              <a:lnSpc>
                <a:spcPts val="8999"/>
              </a:lnSpc>
            </a:pPr>
            <a:r>
              <a:rPr lang="en-US" b="true" sz="8999" spc="-134">
                <a:solidFill>
                  <a:srgbClr val="000000"/>
                </a:solidFill>
                <a:latin typeface="Cy Grotesk Key Semi-Bold"/>
                <a:ea typeface="Cy Grotesk Key Semi-Bold"/>
                <a:cs typeface="Cy Grotesk Key Semi-Bold"/>
                <a:sym typeface="Cy Grotesk Key Semi-Bold"/>
              </a:rPr>
              <a:t>Solution</a:t>
            </a:r>
          </a:p>
        </p:txBody>
      </p:sp>
      <p:sp>
        <p:nvSpPr>
          <p:cNvPr name="TextBox 29" id="29"/>
          <p:cNvSpPr txBox="true"/>
          <p:nvPr/>
        </p:nvSpPr>
        <p:spPr>
          <a:xfrm rot="0">
            <a:off x="5167167" y="6568719"/>
            <a:ext cx="3434435" cy="1333500"/>
          </a:xfrm>
          <a:prstGeom prst="rect">
            <a:avLst/>
          </a:prstGeom>
        </p:spPr>
        <p:txBody>
          <a:bodyPr anchor="t" rtlCol="false" tIns="0" lIns="0" bIns="0" rIns="0">
            <a:spAutoFit/>
          </a:bodyPr>
          <a:lstStyle/>
          <a:p>
            <a:pPr algn="l" marL="0" indent="0" lvl="0">
              <a:lnSpc>
                <a:spcPts val="2100"/>
              </a:lnSpc>
            </a:pPr>
            <a:r>
              <a:rPr lang="en-US" b="true" sz="1500" spc="24">
                <a:solidFill>
                  <a:srgbClr val="FFFFFF"/>
                </a:solidFill>
                <a:latin typeface="Inter Bold"/>
                <a:ea typeface="Inter Bold"/>
                <a:cs typeface="Inter Bold"/>
                <a:sym typeface="Inter Bold"/>
              </a:rPr>
              <a:t>Automatic Invoicing: </a:t>
            </a:r>
            <a:r>
              <a:rPr lang="en-US" sz="1500" spc="24">
                <a:solidFill>
                  <a:srgbClr val="FFFFFF"/>
                </a:solidFill>
                <a:latin typeface="Inter"/>
                <a:ea typeface="Inter"/>
                <a:cs typeface="Inter"/>
                <a:sym typeface="Inter"/>
              </a:rPr>
              <a:t>Allows invoicing orders individually or in batches, saving them automatically on the device to streamline the invoicing process.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48710" y="9258300"/>
            <a:ext cx="19785420" cy="597310"/>
            <a:chOff x="0" y="0"/>
            <a:chExt cx="5210975" cy="157316"/>
          </a:xfrm>
        </p:grpSpPr>
        <p:sp>
          <p:nvSpPr>
            <p:cNvPr name="Freeform 3" id="3"/>
            <p:cNvSpPr/>
            <p:nvPr/>
          </p:nvSpPr>
          <p:spPr>
            <a:xfrm flipH="false" flipV="false" rot="0">
              <a:off x="0" y="0"/>
              <a:ext cx="5210975" cy="157316"/>
            </a:xfrm>
            <a:custGeom>
              <a:avLst/>
              <a:gdLst/>
              <a:ahLst/>
              <a:cxnLst/>
              <a:rect r="r" b="b" t="t" l="l"/>
              <a:pathLst>
                <a:path h="157316" w="5210975">
                  <a:moveTo>
                    <a:pt x="19956" y="0"/>
                  </a:moveTo>
                  <a:lnTo>
                    <a:pt x="5191019" y="0"/>
                  </a:lnTo>
                  <a:cubicBezTo>
                    <a:pt x="5202040" y="0"/>
                    <a:pt x="5210975" y="8935"/>
                    <a:pt x="5210975" y="19956"/>
                  </a:cubicBezTo>
                  <a:lnTo>
                    <a:pt x="5210975" y="137360"/>
                  </a:lnTo>
                  <a:cubicBezTo>
                    <a:pt x="5210975" y="142653"/>
                    <a:pt x="5208872" y="147729"/>
                    <a:pt x="5205130" y="151471"/>
                  </a:cubicBezTo>
                  <a:cubicBezTo>
                    <a:pt x="5201388" y="155214"/>
                    <a:pt x="5196312" y="157316"/>
                    <a:pt x="5191019" y="157316"/>
                  </a:cubicBezTo>
                  <a:lnTo>
                    <a:pt x="19956" y="157316"/>
                  </a:lnTo>
                  <a:cubicBezTo>
                    <a:pt x="8935" y="157316"/>
                    <a:pt x="0" y="148382"/>
                    <a:pt x="0" y="137360"/>
                  </a:cubicBezTo>
                  <a:lnTo>
                    <a:pt x="0" y="19956"/>
                  </a:lnTo>
                  <a:cubicBezTo>
                    <a:pt x="0" y="8935"/>
                    <a:pt x="8935" y="0"/>
                    <a:pt x="19956" y="0"/>
                  </a:cubicBezTo>
                  <a:close/>
                </a:path>
              </a:pathLst>
            </a:custGeom>
            <a:solidFill>
              <a:srgbClr val="A03E3C"/>
            </a:solidFill>
          </p:spPr>
        </p:sp>
        <p:sp>
          <p:nvSpPr>
            <p:cNvPr name="TextBox 4" id="4"/>
            <p:cNvSpPr txBox="true"/>
            <p:nvPr/>
          </p:nvSpPr>
          <p:spPr>
            <a:xfrm>
              <a:off x="0" y="-38100"/>
              <a:ext cx="5210975" cy="195416"/>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9955198" y="348824"/>
            <a:ext cx="2717290" cy="5421776"/>
          </a:xfrm>
          <a:custGeom>
            <a:avLst/>
            <a:gdLst/>
            <a:ahLst/>
            <a:cxnLst/>
            <a:rect r="r" b="b" t="t" l="l"/>
            <a:pathLst>
              <a:path h="5421776" w="2717290">
                <a:moveTo>
                  <a:pt x="0" y="0"/>
                </a:moveTo>
                <a:lnTo>
                  <a:pt x="2717290" y="0"/>
                </a:lnTo>
                <a:lnTo>
                  <a:pt x="2717290" y="5421776"/>
                </a:lnTo>
                <a:lnTo>
                  <a:pt x="0" y="5421776"/>
                </a:lnTo>
                <a:lnTo>
                  <a:pt x="0" y="0"/>
                </a:lnTo>
                <a:close/>
              </a:path>
            </a:pathLst>
          </a:custGeom>
          <a:blipFill>
            <a:blip r:embed="rId2"/>
            <a:stretch>
              <a:fillRect l="-2731" t="0" r="-6345" b="-17248"/>
            </a:stretch>
          </a:blipFill>
        </p:spPr>
      </p:sp>
      <p:sp>
        <p:nvSpPr>
          <p:cNvPr name="Freeform 6" id="6"/>
          <p:cNvSpPr/>
          <p:nvPr/>
        </p:nvSpPr>
        <p:spPr>
          <a:xfrm flipH="false" flipV="false" rot="0">
            <a:off x="9931505" y="4825599"/>
            <a:ext cx="2764677" cy="4128505"/>
          </a:xfrm>
          <a:custGeom>
            <a:avLst/>
            <a:gdLst/>
            <a:ahLst/>
            <a:cxnLst/>
            <a:rect r="r" b="b" t="t" l="l"/>
            <a:pathLst>
              <a:path h="4128505" w="2764677">
                <a:moveTo>
                  <a:pt x="0" y="0"/>
                </a:moveTo>
                <a:lnTo>
                  <a:pt x="2764677" y="0"/>
                </a:lnTo>
                <a:lnTo>
                  <a:pt x="2764677" y="4128505"/>
                </a:lnTo>
                <a:lnTo>
                  <a:pt x="0" y="4128505"/>
                </a:lnTo>
                <a:lnTo>
                  <a:pt x="0" y="0"/>
                </a:lnTo>
                <a:close/>
              </a:path>
            </a:pathLst>
          </a:custGeom>
          <a:blipFill>
            <a:blip r:embed="rId3"/>
            <a:stretch>
              <a:fillRect l="0" t="0" r="-1713" b="-47272"/>
            </a:stretch>
          </a:blipFill>
        </p:spPr>
      </p:sp>
      <p:sp>
        <p:nvSpPr>
          <p:cNvPr name="Freeform 7" id="7"/>
          <p:cNvSpPr/>
          <p:nvPr/>
        </p:nvSpPr>
        <p:spPr>
          <a:xfrm flipH="false" flipV="false" rot="0">
            <a:off x="13513971" y="348824"/>
            <a:ext cx="3745329" cy="8175867"/>
          </a:xfrm>
          <a:custGeom>
            <a:avLst/>
            <a:gdLst/>
            <a:ahLst/>
            <a:cxnLst/>
            <a:rect r="r" b="b" t="t" l="l"/>
            <a:pathLst>
              <a:path h="8175867" w="3745329">
                <a:moveTo>
                  <a:pt x="0" y="0"/>
                </a:moveTo>
                <a:lnTo>
                  <a:pt x="3745329" y="0"/>
                </a:lnTo>
                <a:lnTo>
                  <a:pt x="3745329" y="8175867"/>
                </a:lnTo>
                <a:lnTo>
                  <a:pt x="0" y="8175867"/>
                </a:lnTo>
                <a:lnTo>
                  <a:pt x="0" y="0"/>
                </a:lnTo>
                <a:close/>
              </a:path>
            </a:pathLst>
          </a:custGeom>
          <a:blipFill>
            <a:blip r:embed="rId4"/>
            <a:stretch>
              <a:fillRect l="-1622" t="0" r="-1081" b="-907"/>
            </a:stretch>
          </a:blipFill>
        </p:spPr>
      </p:sp>
      <p:sp>
        <p:nvSpPr>
          <p:cNvPr name="TextBox 8" id="8"/>
          <p:cNvSpPr txBox="true"/>
          <p:nvPr/>
        </p:nvSpPr>
        <p:spPr>
          <a:xfrm rot="0">
            <a:off x="1028700" y="1451376"/>
            <a:ext cx="8449277" cy="867415"/>
          </a:xfrm>
          <a:prstGeom prst="rect">
            <a:avLst/>
          </a:prstGeom>
        </p:spPr>
        <p:txBody>
          <a:bodyPr anchor="t" rtlCol="false" tIns="0" lIns="0" bIns="0" rIns="0">
            <a:spAutoFit/>
          </a:bodyPr>
          <a:lstStyle/>
          <a:p>
            <a:pPr algn="l">
              <a:lnSpc>
                <a:spcPts val="6400"/>
              </a:lnSpc>
            </a:pPr>
            <a:r>
              <a:rPr lang="en-US" sz="6400" spc="-96" b="true">
                <a:solidFill>
                  <a:srgbClr val="202020"/>
                </a:solidFill>
                <a:latin typeface="Cy Grotesk Key Semi-Bold"/>
                <a:ea typeface="Cy Grotesk Key Semi-Bold"/>
                <a:cs typeface="Cy Grotesk Key Semi-Bold"/>
                <a:sym typeface="Cy Grotesk Key Semi-Bold"/>
              </a:rPr>
              <a:t>Target Audience</a:t>
            </a:r>
          </a:p>
        </p:txBody>
      </p:sp>
      <p:sp>
        <p:nvSpPr>
          <p:cNvPr name="TextBox 9" id="9"/>
          <p:cNvSpPr txBox="true"/>
          <p:nvPr/>
        </p:nvSpPr>
        <p:spPr>
          <a:xfrm rot="0">
            <a:off x="1028700" y="2623186"/>
            <a:ext cx="7949130" cy="1796414"/>
          </a:xfrm>
          <a:prstGeom prst="rect">
            <a:avLst/>
          </a:prstGeom>
        </p:spPr>
        <p:txBody>
          <a:bodyPr anchor="t" rtlCol="false" tIns="0" lIns="0" bIns="0" rIns="0">
            <a:spAutoFit/>
          </a:bodyPr>
          <a:lstStyle/>
          <a:p>
            <a:pPr algn="l">
              <a:lnSpc>
                <a:spcPts val="2880"/>
              </a:lnSpc>
            </a:pPr>
            <a:r>
              <a:rPr lang="en-US" sz="2000">
                <a:solidFill>
                  <a:srgbClr val="202020"/>
                </a:solidFill>
                <a:latin typeface="Inter"/>
                <a:ea typeface="Inter"/>
                <a:cs typeface="Inter"/>
                <a:sym typeface="Inter"/>
              </a:rPr>
              <a:t>The application is designed for company workers and salespeople who are mostly older adults and have little familiarity with digital tools. Because of this, the app uses strong colors, large buttons, a simple and direct layout, and most importantly, color-coded orders and statuses.</a:t>
            </a:r>
          </a:p>
        </p:txBody>
      </p:sp>
      <p:sp>
        <p:nvSpPr>
          <p:cNvPr name="TextBox 10" id="10"/>
          <p:cNvSpPr txBox="true"/>
          <p:nvPr/>
        </p:nvSpPr>
        <p:spPr>
          <a:xfrm rot="0">
            <a:off x="12858299" y="9279206"/>
            <a:ext cx="4401001" cy="450723"/>
          </a:xfrm>
          <a:prstGeom prst="rect">
            <a:avLst/>
          </a:prstGeom>
        </p:spPr>
        <p:txBody>
          <a:bodyPr anchor="t" rtlCol="false" tIns="0" lIns="0" bIns="0" rIns="0">
            <a:spAutoFit/>
          </a:bodyPr>
          <a:lstStyle/>
          <a:p>
            <a:pPr algn="r">
              <a:lnSpc>
                <a:spcPts val="3456"/>
              </a:lnSpc>
            </a:pPr>
            <a:r>
              <a:rPr lang="en-US" b="true" sz="2400">
                <a:solidFill>
                  <a:srgbClr val="EFE8DD"/>
                </a:solidFill>
                <a:latin typeface="Helvetica World Bold"/>
                <a:ea typeface="Helvetica World Bold"/>
                <a:cs typeface="Helvetica World Bold"/>
                <a:sym typeface="Helvetica World Bold"/>
              </a:rPr>
              <a:t>04</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48710" y="9258300"/>
            <a:ext cx="19785420" cy="597310"/>
            <a:chOff x="0" y="0"/>
            <a:chExt cx="5210975" cy="157316"/>
          </a:xfrm>
        </p:grpSpPr>
        <p:sp>
          <p:nvSpPr>
            <p:cNvPr name="Freeform 3" id="3"/>
            <p:cNvSpPr/>
            <p:nvPr/>
          </p:nvSpPr>
          <p:spPr>
            <a:xfrm flipH="false" flipV="false" rot="0">
              <a:off x="0" y="0"/>
              <a:ext cx="5210975" cy="157316"/>
            </a:xfrm>
            <a:custGeom>
              <a:avLst/>
              <a:gdLst/>
              <a:ahLst/>
              <a:cxnLst/>
              <a:rect r="r" b="b" t="t" l="l"/>
              <a:pathLst>
                <a:path h="157316" w="5210975">
                  <a:moveTo>
                    <a:pt x="19956" y="0"/>
                  </a:moveTo>
                  <a:lnTo>
                    <a:pt x="5191019" y="0"/>
                  </a:lnTo>
                  <a:cubicBezTo>
                    <a:pt x="5202040" y="0"/>
                    <a:pt x="5210975" y="8935"/>
                    <a:pt x="5210975" y="19956"/>
                  </a:cubicBezTo>
                  <a:lnTo>
                    <a:pt x="5210975" y="137360"/>
                  </a:lnTo>
                  <a:cubicBezTo>
                    <a:pt x="5210975" y="142653"/>
                    <a:pt x="5208872" y="147729"/>
                    <a:pt x="5205130" y="151471"/>
                  </a:cubicBezTo>
                  <a:cubicBezTo>
                    <a:pt x="5201388" y="155214"/>
                    <a:pt x="5196312" y="157316"/>
                    <a:pt x="5191019" y="157316"/>
                  </a:cubicBezTo>
                  <a:lnTo>
                    <a:pt x="19956" y="157316"/>
                  </a:lnTo>
                  <a:cubicBezTo>
                    <a:pt x="8935" y="157316"/>
                    <a:pt x="0" y="148382"/>
                    <a:pt x="0" y="137360"/>
                  </a:cubicBezTo>
                  <a:lnTo>
                    <a:pt x="0" y="19956"/>
                  </a:lnTo>
                  <a:cubicBezTo>
                    <a:pt x="0" y="8935"/>
                    <a:pt x="8935" y="0"/>
                    <a:pt x="19956" y="0"/>
                  </a:cubicBezTo>
                  <a:close/>
                </a:path>
              </a:pathLst>
            </a:custGeom>
            <a:solidFill>
              <a:srgbClr val="A03E3C"/>
            </a:solidFill>
          </p:spPr>
        </p:sp>
        <p:sp>
          <p:nvSpPr>
            <p:cNvPr name="TextBox 4" id="4"/>
            <p:cNvSpPr txBox="true"/>
            <p:nvPr/>
          </p:nvSpPr>
          <p:spPr>
            <a:xfrm>
              <a:off x="0" y="-38100"/>
              <a:ext cx="5210975" cy="195416"/>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2493244" y="3668613"/>
            <a:ext cx="5515417" cy="5369834"/>
          </a:xfrm>
          <a:custGeom>
            <a:avLst/>
            <a:gdLst/>
            <a:ahLst/>
            <a:cxnLst/>
            <a:rect r="r" b="b" t="t" l="l"/>
            <a:pathLst>
              <a:path h="5369834" w="5515417">
                <a:moveTo>
                  <a:pt x="0" y="0"/>
                </a:moveTo>
                <a:lnTo>
                  <a:pt x="5515417" y="0"/>
                </a:lnTo>
                <a:lnTo>
                  <a:pt x="5515417" y="5369834"/>
                </a:lnTo>
                <a:lnTo>
                  <a:pt x="0" y="5369834"/>
                </a:lnTo>
                <a:lnTo>
                  <a:pt x="0" y="0"/>
                </a:lnTo>
                <a:close/>
              </a:path>
            </a:pathLst>
          </a:custGeom>
          <a:blipFill>
            <a:blip r:embed="rId2"/>
            <a:stretch>
              <a:fillRect l="-7266" t="-1658" r="-9419" b="0"/>
            </a:stretch>
          </a:blipFill>
        </p:spPr>
      </p:sp>
      <p:sp>
        <p:nvSpPr>
          <p:cNvPr name="Freeform 6" id="6"/>
          <p:cNvSpPr/>
          <p:nvPr/>
        </p:nvSpPr>
        <p:spPr>
          <a:xfrm flipH="false" flipV="false" rot="0">
            <a:off x="10720217" y="3522860"/>
            <a:ext cx="5416857" cy="5614493"/>
          </a:xfrm>
          <a:custGeom>
            <a:avLst/>
            <a:gdLst/>
            <a:ahLst/>
            <a:cxnLst/>
            <a:rect r="r" b="b" t="t" l="l"/>
            <a:pathLst>
              <a:path h="5614493" w="5416857">
                <a:moveTo>
                  <a:pt x="0" y="0"/>
                </a:moveTo>
                <a:lnTo>
                  <a:pt x="5416857" y="0"/>
                </a:lnTo>
                <a:lnTo>
                  <a:pt x="5416857" y="5614493"/>
                </a:lnTo>
                <a:lnTo>
                  <a:pt x="0" y="5614493"/>
                </a:lnTo>
                <a:lnTo>
                  <a:pt x="0" y="0"/>
                </a:lnTo>
                <a:close/>
              </a:path>
            </a:pathLst>
          </a:custGeom>
          <a:blipFill>
            <a:blip r:embed="rId3"/>
            <a:stretch>
              <a:fillRect l="-1128" t="0" r="-1819" b="-1088"/>
            </a:stretch>
          </a:blipFill>
        </p:spPr>
      </p:sp>
      <p:sp>
        <p:nvSpPr>
          <p:cNvPr name="TextBox 7" id="7"/>
          <p:cNvSpPr txBox="true"/>
          <p:nvPr/>
        </p:nvSpPr>
        <p:spPr>
          <a:xfrm rot="0">
            <a:off x="12858299" y="9279206"/>
            <a:ext cx="4401001" cy="450723"/>
          </a:xfrm>
          <a:prstGeom prst="rect">
            <a:avLst/>
          </a:prstGeom>
        </p:spPr>
        <p:txBody>
          <a:bodyPr anchor="t" rtlCol="false" tIns="0" lIns="0" bIns="0" rIns="0">
            <a:spAutoFit/>
          </a:bodyPr>
          <a:lstStyle/>
          <a:p>
            <a:pPr algn="r">
              <a:lnSpc>
                <a:spcPts val="3456"/>
              </a:lnSpc>
            </a:pPr>
            <a:r>
              <a:rPr lang="en-US" b="true" sz="2400">
                <a:solidFill>
                  <a:srgbClr val="EFE8DD"/>
                </a:solidFill>
                <a:latin typeface="Helvetica World Bold"/>
                <a:ea typeface="Helvetica World Bold"/>
                <a:cs typeface="Helvetica World Bold"/>
                <a:sym typeface="Helvetica World Bold"/>
              </a:rPr>
              <a:t>05</a:t>
            </a:r>
          </a:p>
        </p:txBody>
      </p:sp>
      <p:sp>
        <p:nvSpPr>
          <p:cNvPr name="TextBox 8" id="8"/>
          <p:cNvSpPr txBox="true"/>
          <p:nvPr/>
        </p:nvSpPr>
        <p:spPr>
          <a:xfrm rot="0">
            <a:off x="2150926" y="1143000"/>
            <a:ext cx="13986147" cy="857885"/>
          </a:xfrm>
          <a:prstGeom prst="rect">
            <a:avLst/>
          </a:prstGeom>
        </p:spPr>
        <p:txBody>
          <a:bodyPr anchor="t" rtlCol="false" tIns="0" lIns="0" bIns="0" rIns="0">
            <a:spAutoFit/>
          </a:bodyPr>
          <a:lstStyle/>
          <a:p>
            <a:pPr algn="ctr">
              <a:lnSpc>
                <a:spcPts val="6399"/>
              </a:lnSpc>
            </a:pPr>
            <a:r>
              <a:rPr lang="en-US" b="true" sz="6399" spc="-95">
                <a:solidFill>
                  <a:srgbClr val="000000"/>
                </a:solidFill>
                <a:latin typeface="Cy Grotesk Key Semi-Bold"/>
                <a:ea typeface="Cy Grotesk Key Semi-Bold"/>
                <a:cs typeface="Cy Grotesk Key Semi-Bold"/>
                <a:sym typeface="Cy Grotesk Key Semi-Bold"/>
              </a:rPr>
              <a:t>Order Status</a:t>
            </a:r>
          </a:p>
        </p:txBody>
      </p:sp>
      <p:sp>
        <p:nvSpPr>
          <p:cNvPr name="TextBox 9" id="9"/>
          <p:cNvSpPr txBox="true"/>
          <p:nvPr/>
        </p:nvSpPr>
        <p:spPr>
          <a:xfrm rot="0">
            <a:off x="3948298" y="2549590"/>
            <a:ext cx="4060363" cy="800100"/>
          </a:xfrm>
          <a:prstGeom prst="rect">
            <a:avLst/>
          </a:prstGeom>
        </p:spPr>
        <p:txBody>
          <a:bodyPr anchor="t" rtlCol="false" tIns="0" lIns="0" bIns="0" rIns="0">
            <a:spAutoFit/>
          </a:bodyPr>
          <a:lstStyle/>
          <a:p>
            <a:pPr algn="l" marL="0" indent="0" lvl="0">
              <a:lnSpc>
                <a:spcPts val="2100"/>
              </a:lnSpc>
            </a:pPr>
            <a:r>
              <a:rPr lang="en-US" b="true" sz="1500" spc="24">
                <a:solidFill>
                  <a:srgbClr val="000000"/>
                </a:solidFill>
                <a:latin typeface="Inter Bold"/>
                <a:ea typeface="Inter Bold"/>
                <a:cs typeface="Inter Bold"/>
                <a:sym typeface="Inter Bold"/>
              </a:rPr>
              <a:t>Pending Weights: </a:t>
            </a:r>
            <a:r>
              <a:rPr lang="en-US" sz="1500" spc="24">
                <a:solidFill>
                  <a:srgbClr val="000000"/>
                </a:solidFill>
                <a:latin typeface="Inter"/>
                <a:ea typeface="Inter"/>
                <a:cs typeface="Inter"/>
                <a:sym typeface="Inter"/>
              </a:rPr>
              <a:t>Once the order is created, it remains pending weight assignment.</a:t>
            </a:r>
          </a:p>
        </p:txBody>
      </p:sp>
      <p:sp>
        <p:nvSpPr>
          <p:cNvPr name="TextBox 10" id="10"/>
          <p:cNvSpPr txBox="true"/>
          <p:nvPr/>
        </p:nvSpPr>
        <p:spPr>
          <a:xfrm rot="0">
            <a:off x="2150926" y="2640242"/>
            <a:ext cx="1797372" cy="761672"/>
          </a:xfrm>
          <a:prstGeom prst="rect">
            <a:avLst/>
          </a:prstGeom>
        </p:spPr>
        <p:txBody>
          <a:bodyPr anchor="t" rtlCol="false" tIns="0" lIns="0" bIns="0" rIns="0">
            <a:spAutoFit/>
          </a:bodyPr>
          <a:lstStyle/>
          <a:p>
            <a:pPr algn="ctr" marL="0" indent="0" lvl="0">
              <a:lnSpc>
                <a:spcPts val="5704"/>
              </a:lnSpc>
              <a:spcBef>
                <a:spcPct val="0"/>
              </a:spcBef>
            </a:pPr>
            <a:r>
              <a:rPr lang="en-US" b="true" sz="5704" spc="-85" strike="noStrike" u="none">
                <a:solidFill>
                  <a:srgbClr val="000000"/>
                </a:solidFill>
                <a:latin typeface="Cy Grotesk Key Semi-Bold"/>
                <a:ea typeface="Cy Grotesk Key Semi-Bold"/>
                <a:cs typeface="Cy Grotesk Key Semi-Bold"/>
                <a:sym typeface="Cy Grotesk Key Semi-Bold"/>
              </a:rPr>
              <a:t>01.</a:t>
            </a:r>
          </a:p>
        </p:txBody>
      </p:sp>
      <p:sp>
        <p:nvSpPr>
          <p:cNvPr name="TextBox 11" id="11"/>
          <p:cNvSpPr txBox="true"/>
          <p:nvPr/>
        </p:nvSpPr>
        <p:spPr>
          <a:xfrm rot="0">
            <a:off x="12076710" y="2549590"/>
            <a:ext cx="4060363" cy="800100"/>
          </a:xfrm>
          <a:prstGeom prst="rect">
            <a:avLst/>
          </a:prstGeom>
        </p:spPr>
        <p:txBody>
          <a:bodyPr anchor="t" rtlCol="false" tIns="0" lIns="0" bIns="0" rIns="0">
            <a:spAutoFit/>
          </a:bodyPr>
          <a:lstStyle/>
          <a:p>
            <a:pPr algn="l" marL="0" indent="0" lvl="0">
              <a:lnSpc>
                <a:spcPts val="2100"/>
              </a:lnSpc>
            </a:pPr>
            <a:r>
              <a:rPr lang="en-US" b="true" sz="1500" spc="24">
                <a:solidFill>
                  <a:srgbClr val="000000"/>
                </a:solidFill>
                <a:latin typeface="Inter Bold"/>
                <a:ea typeface="Inter Bold"/>
                <a:cs typeface="Inter Bold"/>
                <a:sym typeface="Inter Bold"/>
              </a:rPr>
              <a:t>Pending Confirmation: </a:t>
            </a:r>
            <a:r>
              <a:rPr lang="en-US" sz="1500" spc="24">
                <a:solidFill>
                  <a:srgbClr val="000000"/>
                </a:solidFill>
                <a:latin typeface="Inter"/>
                <a:ea typeface="Inter"/>
                <a:cs typeface="Inter"/>
                <a:sym typeface="Inter"/>
              </a:rPr>
              <a:t>Once the weights are assigned, the order remains pending confirmation.</a:t>
            </a:r>
          </a:p>
        </p:txBody>
      </p:sp>
      <p:sp>
        <p:nvSpPr>
          <p:cNvPr name="TextBox 12" id="12"/>
          <p:cNvSpPr txBox="true"/>
          <p:nvPr/>
        </p:nvSpPr>
        <p:spPr>
          <a:xfrm rot="0">
            <a:off x="10279339" y="2640242"/>
            <a:ext cx="1797372" cy="761672"/>
          </a:xfrm>
          <a:prstGeom prst="rect">
            <a:avLst/>
          </a:prstGeom>
        </p:spPr>
        <p:txBody>
          <a:bodyPr anchor="t" rtlCol="false" tIns="0" lIns="0" bIns="0" rIns="0">
            <a:spAutoFit/>
          </a:bodyPr>
          <a:lstStyle/>
          <a:p>
            <a:pPr algn="ctr" marL="0" indent="0" lvl="0">
              <a:lnSpc>
                <a:spcPts val="5704"/>
              </a:lnSpc>
              <a:spcBef>
                <a:spcPct val="0"/>
              </a:spcBef>
            </a:pPr>
            <a:r>
              <a:rPr lang="en-US" b="true" sz="5704" spc="-85" strike="noStrike" u="none">
                <a:solidFill>
                  <a:srgbClr val="000000"/>
                </a:solidFill>
                <a:latin typeface="Cy Grotesk Key Semi-Bold"/>
                <a:ea typeface="Cy Grotesk Key Semi-Bold"/>
                <a:cs typeface="Cy Grotesk Key Semi-Bold"/>
                <a:sym typeface="Cy Grotesk Key Semi-Bold"/>
              </a:rPr>
              <a:t>02.</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27632" y="9124703"/>
            <a:ext cx="19785420" cy="597310"/>
            <a:chOff x="0" y="0"/>
            <a:chExt cx="5210975" cy="157316"/>
          </a:xfrm>
        </p:grpSpPr>
        <p:sp>
          <p:nvSpPr>
            <p:cNvPr name="Freeform 3" id="3"/>
            <p:cNvSpPr/>
            <p:nvPr/>
          </p:nvSpPr>
          <p:spPr>
            <a:xfrm flipH="false" flipV="false" rot="0">
              <a:off x="0" y="0"/>
              <a:ext cx="5210975" cy="157316"/>
            </a:xfrm>
            <a:custGeom>
              <a:avLst/>
              <a:gdLst/>
              <a:ahLst/>
              <a:cxnLst/>
              <a:rect r="r" b="b" t="t" l="l"/>
              <a:pathLst>
                <a:path h="157316" w="5210975">
                  <a:moveTo>
                    <a:pt x="19956" y="0"/>
                  </a:moveTo>
                  <a:lnTo>
                    <a:pt x="5191019" y="0"/>
                  </a:lnTo>
                  <a:cubicBezTo>
                    <a:pt x="5202040" y="0"/>
                    <a:pt x="5210975" y="8935"/>
                    <a:pt x="5210975" y="19956"/>
                  </a:cubicBezTo>
                  <a:lnTo>
                    <a:pt x="5210975" y="137360"/>
                  </a:lnTo>
                  <a:cubicBezTo>
                    <a:pt x="5210975" y="142653"/>
                    <a:pt x="5208872" y="147729"/>
                    <a:pt x="5205130" y="151471"/>
                  </a:cubicBezTo>
                  <a:cubicBezTo>
                    <a:pt x="5201388" y="155214"/>
                    <a:pt x="5196312" y="157316"/>
                    <a:pt x="5191019" y="157316"/>
                  </a:cubicBezTo>
                  <a:lnTo>
                    <a:pt x="19956" y="157316"/>
                  </a:lnTo>
                  <a:cubicBezTo>
                    <a:pt x="8935" y="157316"/>
                    <a:pt x="0" y="148382"/>
                    <a:pt x="0" y="137360"/>
                  </a:cubicBezTo>
                  <a:lnTo>
                    <a:pt x="0" y="19956"/>
                  </a:lnTo>
                  <a:cubicBezTo>
                    <a:pt x="0" y="8935"/>
                    <a:pt x="8935" y="0"/>
                    <a:pt x="19956" y="0"/>
                  </a:cubicBezTo>
                  <a:close/>
                </a:path>
              </a:pathLst>
            </a:custGeom>
            <a:solidFill>
              <a:srgbClr val="A03E3C"/>
            </a:solidFill>
          </p:spPr>
        </p:sp>
        <p:sp>
          <p:nvSpPr>
            <p:cNvPr name="TextBox 4" id="4"/>
            <p:cNvSpPr txBox="true"/>
            <p:nvPr/>
          </p:nvSpPr>
          <p:spPr>
            <a:xfrm>
              <a:off x="0" y="-38100"/>
              <a:ext cx="5210975" cy="195416"/>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2010521" y="2554796"/>
            <a:ext cx="4974649" cy="6292112"/>
          </a:xfrm>
          <a:custGeom>
            <a:avLst/>
            <a:gdLst/>
            <a:ahLst/>
            <a:cxnLst/>
            <a:rect r="r" b="b" t="t" l="l"/>
            <a:pathLst>
              <a:path h="6292112" w="4974649">
                <a:moveTo>
                  <a:pt x="0" y="0"/>
                </a:moveTo>
                <a:lnTo>
                  <a:pt x="4974649" y="0"/>
                </a:lnTo>
                <a:lnTo>
                  <a:pt x="4974649" y="6292112"/>
                </a:lnTo>
                <a:lnTo>
                  <a:pt x="0" y="6292112"/>
                </a:lnTo>
                <a:lnTo>
                  <a:pt x="0" y="0"/>
                </a:lnTo>
                <a:close/>
              </a:path>
            </a:pathLst>
          </a:custGeom>
          <a:blipFill>
            <a:blip r:embed="rId2"/>
            <a:stretch>
              <a:fillRect l="-4797" t="-2167" r="0" b="-3543"/>
            </a:stretch>
          </a:blipFill>
        </p:spPr>
      </p:sp>
      <p:sp>
        <p:nvSpPr>
          <p:cNvPr name="Freeform 6" id="6"/>
          <p:cNvSpPr/>
          <p:nvPr/>
        </p:nvSpPr>
        <p:spPr>
          <a:xfrm flipH="false" flipV="false" rot="0">
            <a:off x="10124020" y="2554796"/>
            <a:ext cx="5627105" cy="5584838"/>
          </a:xfrm>
          <a:custGeom>
            <a:avLst/>
            <a:gdLst/>
            <a:ahLst/>
            <a:cxnLst/>
            <a:rect r="r" b="b" t="t" l="l"/>
            <a:pathLst>
              <a:path h="5584838" w="5627105">
                <a:moveTo>
                  <a:pt x="0" y="0"/>
                </a:moveTo>
                <a:lnTo>
                  <a:pt x="5627106" y="0"/>
                </a:lnTo>
                <a:lnTo>
                  <a:pt x="5627106" y="5584838"/>
                </a:lnTo>
                <a:lnTo>
                  <a:pt x="0" y="5584838"/>
                </a:lnTo>
                <a:lnTo>
                  <a:pt x="0" y="0"/>
                </a:lnTo>
                <a:close/>
              </a:path>
            </a:pathLst>
          </a:custGeom>
          <a:blipFill>
            <a:blip r:embed="rId3"/>
            <a:stretch>
              <a:fillRect l="-2997" t="-1239" r="-1907" b="0"/>
            </a:stretch>
          </a:blipFill>
        </p:spPr>
      </p:sp>
      <p:sp>
        <p:nvSpPr>
          <p:cNvPr name="TextBox 7" id="7"/>
          <p:cNvSpPr txBox="true"/>
          <p:nvPr/>
        </p:nvSpPr>
        <p:spPr>
          <a:xfrm rot="0">
            <a:off x="12279376" y="9145609"/>
            <a:ext cx="4401001" cy="450723"/>
          </a:xfrm>
          <a:prstGeom prst="rect">
            <a:avLst/>
          </a:prstGeom>
        </p:spPr>
        <p:txBody>
          <a:bodyPr anchor="t" rtlCol="false" tIns="0" lIns="0" bIns="0" rIns="0">
            <a:spAutoFit/>
          </a:bodyPr>
          <a:lstStyle/>
          <a:p>
            <a:pPr algn="r">
              <a:lnSpc>
                <a:spcPts val="3456"/>
              </a:lnSpc>
            </a:pPr>
            <a:r>
              <a:rPr lang="en-US" b="true" sz="2400">
                <a:solidFill>
                  <a:srgbClr val="EFE8DD"/>
                </a:solidFill>
                <a:latin typeface="Helvetica World Bold"/>
                <a:ea typeface="Helvetica World Bold"/>
                <a:cs typeface="Helvetica World Bold"/>
                <a:sym typeface="Helvetica World Bold"/>
              </a:rPr>
              <a:t>06</a:t>
            </a:r>
          </a:p>
        </p:txBody>
      </p:sp>
      <p:sp>
        <p:nvSpPr>
          <p:cNvPr name="TextBox 8" id="8"/>
          <p:cNvSpPr txBox="true"/>
          <p:nvPr/>
        </p:nvSpPr>
        <p:spPr>
          <a:xfrm rot="0">
            <a:off x="2909207" y="995198"/>
            <a:ext cx="4238493" cy="1066800"/>
          </a:xfrm>
          <a:prstGeom prst="rect">
            <a:avLst/>
          </a:prstGeom>
        </p:spPr>
        <p:txBody>
          <a:bodyPr anchor="t" rtlCol="false" tIns="0" lIns="0" bIns="0" rIns="0">
            <a:spAutoFit/>
          </a:bodyPr>
          <a:lstStyle/>
          <a:p>
            <a:pPr algn="l" marL="0" indent="0" lvl="0">
              <a:lnSpc>
                <a:spcPts val="2100"/>
              </a:lnSpc>
            </a:pPr>
            <a:r>
              <a:rPr lang="en-US" b="true" sz="1500" spc="24">
                <a:solidFill>
                  <a:srgbClr val="000000"/>
                </a:solidFill>
                <a:latin typeface="Inter Bold"/>
                <a:ea typeface="Inter Bold"/>
                <a:cs typeface="Inter Bold"/>
                <a:sym typeface="Inter Bold"/>
              </a:rPr>
              <a:t>Ready for Invoicing: </a:t>
            </a:r>
            <a:r>
              <a:rPr lang="en-US" sz="1500" spc="24">
                <a:solidFill>
                  <a:srgbClr val="000000"/>
                </a:solidFill>
                <a:latin typeface="Inter"/>
                <a:ea typeface="Inter"/>
                <a:cs typeface="Inter"/>
                <a:sym typeface="Inter"/>
              </a:rPr>
              <a:t>Once confirmed, the order becomes ready for invoicing and is sent to the invoicing area. It can still be viewed under orders.</a:t>
            </a:r>
          </a:p>
        </p:txBody>
      </p:sp>
      <p:sp>
        <p:nvSpPr>
          <p:cNvPr name="TextBox 9" id="9"/>
          <p:cNvSpPr txBox="true"/>
          <p:nvPr/>
        </p:nvSpPr>
        <p:spPr>
          <a:xfrm rot="0">
            <a:off x="1111835" y="1085850"/>
            <a:ext cx="1797372" cy="761672"/>
          </a:xfrm>
          <a:prstGeom prst="rect">
            <a:avLst/>
          </a:prstGeom>
        </p:spPr>
        <p:txBody>
          <a:bodyPr anchor="t" rtlCol="false" tIns="0" lIns="0" bIns="0" rIns="0">
            <a:spAutoFit/>
          </a:bodyPr>
          <a:lstStyle/>
          <a:p>
            <a:pPr algn="ctr" marL="0" indent="0" lvl="0">
              <a:lnSpc>
                <a:spcPts val="5704"/>
              </a:lnSpc>
              <a:spcBef>
                <a:spcPct val="0"/>
              </a:spcBef>
            </a:pPr>
            <a:r>
              <a:rPr lang="en-US" b="true" sz="5704" spc="-85" strike="noStrike" u="none">
                <a:solidFill>
                  <a:srgbClr val="000000"/>
                </a:solidFill>
                <a:latin typeface="Cy Grotesk Key Semi-Bold"/>
                <a:ea typeface="Cy Grotesk Key Semi-Bold"/>
                <a:cs typeface="Cy Grotesk Key Semi-Bold"/>
                <a:sym typeface="Cy Grotesk Key Semi-Bold"/>
              </a:rPr>
              <a:t>03.</a:t>
            </a:r>
          </a:p>
        </p:txBody>
      </p:sp>
      <p:sp>
        <p:nvSpPr>
          <p:cNvPr name="TextBox 10" id="10"/>
          <p:cNvSpPr txBox="true"/>
          <p:nvPr/>
        </p:nvSpPr>
        <p:spPr>
          <a:xfrm rot="0">
            <a:off x="11497788" y="995198"/>
            <a:ext cx="4060363" cy="1066800"/>
          </a:xfrm>
          <a:prstGeom prst="rect">
            <a:avLst/>
          </a:prstGeom>
        </p:spPr>
        <p:txBody>
          <a:bodyPr anchor="t" rtlCol="false" tIns="0" lIns="0" bIns="0" rIns="0">
            <a:spAutoFit/>
          </a:bodyPr>
          <a:lstStyle/>
          <a:p>
            <a:pPr algn="l" marL="0" indent="0" lvl="0">
              <a:lnSpc>
                <a:spcPts val="2100"/>
              </a:lnSpc>
            </a:pPr>
            <a:r>
              <a:rPr lang="en-US" b="true" sz="1500" spc="24">
                <a:solidFill>
                  <a:srgbClr val="000000"/>
                </a:solidFill>
                <a:latin typeface="Inter Bold"/>
                <a:ea typeface="Inter Bold"/>
                <a:cs typeface="Inter Bold"/>
                <a:sym typeface="Inter Bold"/>
              </a:rPr>
              <a:t>Completed: </a:t>
            </a:r>
            <a:r>
              <a:rPr lang="en-US" sz="1500" spc="24">
                <a:solidFill>
                  <a:srgbClr val="000000"/>
                </a:solidFill>
                <a:latin typeface="Inter"/>
                <a:ea typeface="Inter"/>
                <a:cs typeface="Inter"/>
                <a:sym typeface="Inter"/>
              </a:rPr>
              <a:t>This is the final state of the orders. Once invoiced, they are marked as completed and used to generate dashboard information.</a:t>
            </a:r>
          </a:p>
        </p:txBody>
      </p:sp>
      <p:sp>
        <p:nvSpPr>
          <p:cNvPr name="TextBox 11" id="11"/>
          <p:cNvSpPr txBox="true"/>
          <p:nvPr/>
        </p:nvSpPr>
        <p:spPr>
          <a:xfrm rot="0">
            <a:off x="9700417" y="1085850"/>
            <a:ext cx="1797372" cy="761672"/>
          </a:xfrm>
          <a:prstGeom prst="rect">
            <a:avLst/>
          </a:prstGeom>
        </p:spPr>
        <p:txBody>
          <a:bodyPr anchor="t" rtlCol="false" tIns="0" lIns="0" bIns="0" rIns="0">
            <a:spAutoFit/>
          </a:bodyPr>
          <a:lstStyle/>
          <a:p>
            <a:pPr algn="ctr" marL="0" indent="0" lvl="0">
              <a:lnSpc>
                <a:spcPts val="5704"/>
              </a:lnSpc>
              <a:spcBef>
                <a:spcPct val="0"/>
              </a:spcBef>
            </a:pPr>
            <a:r>
              <a:rPr lang="en-US" b="true" sz="5704" spc="-85" strike="noStrike" u="none">
                <a:solidFill>
                  <a:srgbClr val="000000"/>
                </a:solidFill>
                <a:latin typeface="Cy Grotesk Key Semi-Bold"/>
                <a:ea typeface="Cy Grotesk Key Semi-Bold"/>
                <a:cs typeface="Cy Grotesk Key Semi-Bold"/>
                <a:sym typeface="Cy Grotesk Key Semi-Bold"/>
              </a:rPr>
              <a:t>04.</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A03E3C"/>
        </a:solidFill>
      </p:bgPr>
    </p:bg>
    <p:spTree>
      <p:nvGrpSpPr>
        <p:cNvPr id="1" name=""/>
        <p:cNvGrpSpPr/>
        <p:nvPr/>
      </p:nvGrpSpPr>
      <p:grpSpPr>
        <a:xfrm>
          <a:off x="0" y="0"/>
          <a:ext cx="0" cy="0"/>
          <a:chOff x="0" y="0"/>
          <a:chExt cx="0" cy="0"/>
        </a:xfrm>
      </p:grpSpPr>
      <p:grpSp>
        <p:nvGrpSpPr>
          <p:cNvPr name="Group 2" id="2"/>
          <p:cNvGrpSpPr/>
          <p:nvPr/>
        </p:nvGrpSpPr>
        <p:grpSpPr>
          <a:xfrm rot="0">
            <a:off x="-748710" y="9258300"/>
            <a:ext cx="19785420" cy="597310"/>
            <a:chOff x="0" y="0"/>
            <a:chExt cx="5210975" cy="157316"/>
          </a:xfrm>
        </p:grpSpPr>
        <p:sp>
          <p:nvSpPr>
            <p:cNvPr name="Freeform 3" id="3"/>
            <p:cNvSpPr/>
            <p:nvPr/>
          </p:nvSpPr>
          <p:spPr>
            <a:xfrm flipH="false" flipV="false" rot="0">
              <a:off x="0" y="0"/>
              <a:ext cx="5210975" cy="157316"/>
            </a:xfrm>
            <a:custGeom>
              <a:avLst/>
              <a:gdLst/>
              <a:ahLst/>
              <a:cxnLst/>
              <a:rect r="r" b="b" t="t" l="l"/>
              <a:pathLst>
                <a:path h="157316" w="5210975">
                  <a:moveTo>
                    <a:pt x="19956" y="0"/>
                  </a:moveTo>
                  <a:lnTo>
                    <a:pt x="5191019" y="0"/>
                  </a:lnTo>
                  <a:cubicBezTo>
                    <a:pt x="5202040" y="0"/>
                    <a:pt x="5210975" y="8935"/>
                    <a:pt x="5210975" y="19956"/>
                  </a:cubicBezTo>
                  <a:lnTo>
                    <a:pt x="5210975" y="137360"/>
                  </a:lnTo>
                  <a:cubicBezTo>
                    <a:pt x="5210975" y="142653"/>
                    <a:pt x="5208872" y="147729"/>
                    <a:pt x="5205130" y="151471"/>
                  </a:cubicBezTo>
                  <a:cubicBezTo>
                    <a:pt x="5201388" y="155214"/>
                    <a:pt x="5196312" y="157316"/>
                    <a:pt x="5191019" y="157316"/>
                  </a:cubicBezTo>
                  <a:lnTo>
                    <a:pt x="19956" y="157316"/>
                  </a:lnTo>
                  <a:cubicBezTo>
                    <a:pt x="8935" y="157316"/>
                    <a:pt x="0" y="148382"/>
                    <a:pt x="0" y="137360"/>
                  </a:cubicBezTo>
                  <a:lnTo>
                    <a:pt x="0" y="19956"/>
                  </a:lnTo>
                  <a:cubicBezTo>
                    <a:pt x="0" y="8935"/>
                    <a:pt x="8935" y="0"/>
                    <a:pt x="19956" y="0"/>
                  </a:cubicBezTo>
                  <a:close/>
                </a:path>
              </a:pathLst>
            </a:custGeom>
            <a:solidFill>
              <a:srgbClr val="FFFFFF"/>
            </a:solidFill>
          </p:spPr>
        </p:sp>
        <p:sp>
          <p:nvSpPr>
            <p:cNvPr name="TextBox 4" id="4"/>
            <p:cNvSpPr txBox="true"/>
            <p:nvPr/>
          </p:nvSpPr>
          <p:spPr>
            <a:xfrm>
              <a:off x="0" y="-38100"/>
              <a:ext cx="5210975" cy="195416"/>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0072717" y="1484173"/>
            <a:ext cx="6077329" cy="6068873"/>
            <a:chOff x="0" y="0"/>
            <a:chExt cx="8103105" cy="8091831"/>
          </a:xfrm>
        </p:grpSpPr>
        <p:grpSp>
          <p:nvGrpSpPr>
            <p:cNvPr name="Group 6" id="6"/>
            <p:cNvGrpSpPr/>
            <p:nvPr/>
          </p:nvGrpSpPr>
          <p:grpSpPr>
            <a:xfrm rot="0">
              <a:off x="0" y="0"/>
              <a:ext cx="8103105" cy="8091831"/>
              <a:chOff x="0" y="0"/>
              <a:chExt cx="3107371" cy="3103048"/>
            </a:xfrm>
          </p:grpSpPr>
          <p:sp>
            <p:nvSpPr>
              <p:cNvPr name="Freeform 7" id="7"/>
              <p:cNvSpPr/>
              <p:nvPr/>
            </p:nvSpPr>
            <p:spPr>
              <a:xfrm flipH="false" flipV="false" rot="0">
                <a:off x="0" y="0"/>
                <a:ext cx="3107371" cy="3103048"/>
              </a:xfrm>
              <a:custGeom>
                <a:avLst/>
                <a:gdLst/>
                <a:ahLst/>
                <a:cxnLst/>
                <a:rect r="r" b="b" t="t" l="l"/>
                <a:pathLst>
                  <a:path h="3103048" w="3107371">
                    <a:moveTo>
                      <a:pt x="127390" y="0"/>
                    </a:moveTo>
                    <a:lnTo>
                      <a:pt x="2979981" y="0"/>
                    </a:lnTo>
                    <a:cubicBezTo>
                      <a:pt x="3050337" y="0"/>
                      <a:pt x="3107371" y="57035"/>
                      <a:pt x="3107371" y="127390"/>
                    </a:cubicBezTo>
                    <a:lnTo>
                      <a:pt x="3107371" y="2975658"/>
                    </a:lnTo>
                    <a:cubicBezTo>
                      <a:pt x="3107371" y="3009444"/>
                      <a:pt x="3093950" y="3041846"/>
                      <a:pt x="3070060" y="3065736"/>
                    </a:cubicBezTo>
                    <a:cubicBezTo>
                      <a:pt x="3046169" y="3089627"/>
                      <a:pt x="3013767" y="3103048"/>
                      <a:pt x="2979981" y="3103048"/>
                    </a:cubicBezTo>
                    <a:lnTo>
                      <a:pt x="127390" y="3103048"/>
                    </a:lnTo>
                    <a:cubicBezTo>
                      <a:pt x="57035" y="3103048"/>
                      <a:pt x="0" y="3046013"/>
                      <a:pt x="0" y="2975658"/>
                    </a:cubicBezTo>
                    <a:lnTo>
                      <a:pt x="0" y="127390"/>
                    </a:lnTo>
                    <a:cubicBezTo>
                      <a:pt x="0" y="57035"/>
                      <a:pt x="57035" y="0"/>
                      <a:pt x="127390" y="0"/>
                    </a:cubicBezTo>
                    <a:close/>
                  </a:path>
                </a:pathLst>
              </a:custGeom>
              <a:solidFill>
                <a:srgbClr val="FFFFFF"/>
              </a:solidFill>
            </p:spPr>
          </p:sp>
          <p:sp>
            <p:nvSpPr>
              <p:cNvPr name="TextBox 8" id="8"/>
              <p:cNvSpPr txBox="true"/>
              <p:nvPr/>
            </p:nvSpPr>
            <p:spPr>
              <a:xfrm>
                <a:off x="0" y="95250"/>
                <a:ext cx="3107371" cy="3007798"/>
              </a:xfrm>
              <a:prstGeom prst="rect">
                <a:avLst/>
              </a:prstGeom>
            </p:spPr>
            <p:txBody>
              <a:bodyPr anchor="ctr" rtlCol="false" tIns="50800" lIns="50800" bIns="50800" rIns="50800"/>
              <a:lstStyle/>
              <a:p>
                <a:pPr algn="ctr">
                  <a:lnSpc>
                    <a:spcPts val="1925"/>
                  </a:lnSpc>
                </a:pPr>
              </a:p>
            </p:txBody>
          </p:sp>
        </p:grpSp>
        <p:sp>
          <p:nvSpPr>
            <p:cNvPr name="Freeform 9" id="9"/>
            <p:cNvSpPr/>
            <p:nvPr/>
          </p:nvSpPr>
          <p:spPr>
            <a:xfrm flipH="false" flipV="false" rot="0">
              <a:off x="3048563" y="658956"/>
              <a:ext cx="2005979" cy="2447610"/>
            </a:xfrm>
            <a:custGeom>
              <a:avLst/>
              <a:gdLst/>
              <a:ahLst/>
              <a:cxnLst/>
              <a:rect r="r" b="b" t="t" l="l"/>
              <a:pathLst>
                <a:path h="2447610" w="2005979">
                  <a:moveTo>
                    <a:pt x="0" y="0"/>
                  </a:moveTo>
                  <a:lnTo>
                    <a:pt x="2005979" y="0"/>
                  </a:lnTo>
                  <a:lnTo>
                    <a:pt x="2005979" y="2447609"/>
                  </a:lnTo>
                  <a:lnTo>
                    <a:pt x="0" y="24476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237679" y="3881058"/>
              <a:ext cx="7627746" cy="2491603"/>
            </a:xfrm>
            <a:prstGeom prst="rect">
              <a:avLst/>
            </a:prstGeom>
          </p:spPr>
          <p:txBody>
            <a:bodyPr anchor="t" rtlCol="false" tIns="0" lIns="0" bIns="0" rIns="0">
              <a:spAutoFit/>
            </a:bodyPr>
            <a:lstStyle/>
            <a:p>
              <a:pPr algn="l" marL="0" indent="0" lvl="0">
                <a:lnSpc>
                  <a:spcPts val="2525"/>
                </a:lnSpc>
              </a:pPr>
              <a:r>
                <a:rPr lang="en-US" b="true" sz="1804" spc="28">
                  <a:solidFill>
                    <a:srgbClr val="A03E3C"/>
                  </a:solidFill>
                  <a:latin typeface="Inter Semi-Bold"/>
                  <a:ea typeface="Inter Semi-Bold"/>
                  <a:cs typeface="Inter Semi-Bold"/>
                  <a:sym typeface="Inter Semi-Bold"/>
                </a:rPr>
                <a:t>Develop a digital system composed of a mobile application that optimizes, centralizes, and automates the processes of order taking, preparation, and invoicing at Carnes Darras to improve operational efficiency, reduce errors, and increase information traceability.</a:t>
              </a:r>
            </a:p>
          </p:txBody>
        </p:sp>
      </p:grpSp>
      <p:sp>
        <p:nvSpPr>
          <p:cNvPr name="Freeform 11" id="11"/>
          <p:cNvSpPr/>
          <p:nvPr/>
        </p:nvSpPr>
        <p:spPr>
          <a:xfrm flipH="false" flipV="false" rot="0">
            <a:off x="1028700" y="1028700"/>
            <a:ext cx="1485979" cy="1489703"/>
          </a:xfrm>
          <a:custGeom>
            <a:avLst/>
            <a:gdLst/>
            <a:ahLst/>
            <a:cxnLst/>
            <a:rect r="r" b="b" t="t" l="l"/>
            <a:pathLst>
              <a:path h="1489703" w="1485979">
                <a:moveTo>
                  <a:pt x="0" y="0"/>
                </a:moveTo>
                <a:lnTo>
                  <a:pt x="1485979" y="0"/>
                </a:lnTo>
                <a:lnTo>
                  <a:pt x="1485979" y="1489703"/>
                </a:lnTo>
                <a:lnTo>
                  <a:pt x="0" y="1489703"/>
                </a:lnTo>
                <a:lnTo>
                  <a:pt x="0" y="0"/>
                </a:lnTo>
                <a:close/>
              </a:path>
            </a:pathLst>
          </a:custGeom>
          <a:blipFill>
            <a:blip r:embed="rId4"/>
            <a:stretch>
              <a:fillRect l="0" t="0" r="0" b="0"/>
            </a:stretch>
          </a:blipFill>
        </p:spPr>
      </p:sp>
      <p:sp>
        <p:nvSpPr>
          <p:cNvPr name="Freeform 12" id="12"/>
          <p:cNvSpPr/>
          <p:nvPr/>
        </p:nvSpPr>
        <p:spPr>
          <a:xfrm flipH="false" flipV="false" rot="-573247">
            <a:off x="1343991" y="1250008"/>
            <a:ext cx="855397" cy="855397"/>
          </a:xfrm>
          <a:custGeom>
            <a:avLst/>
            <a:gdLst/>
            <a:ahLst/>
            <a:cxnLst/>
            <a:rect r="r" b="b" t="t" l="l"/>
            <a:pathLst>
              <a:path h="855397" w="855397">
                <a:moveTo>
                  <a:pt x="0" y="0"/>
                </a:moveTo>
                <a:lnTo>
                  <a:pt x="855397" y="0"/>
                </a:lnTo>
                <a:lnTo>
                  <a:pt x="855397" y="855398"/>
                </a:lnTo>
                <a:lnTo>
                  <a:pt x="0" y="8553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3" id="13"/>
          <p:cNvSpPr txBox="true"/>
          <p:nvPr/>
        </p:nvSpPr>
        <p:spPr>
          <a:xfrm rot="0">
            <a:off x="-303781" y="4276085"/>
            <a:ext cx="10124307" cy="867415"/>
          </a:xfrm>
          <a:prstGeom prst="rect">
            <a:avLst/>
          </a:prstGeom>
        </p:spPr>
        <p:txBody>
          <a:bodyPr anchor="t" rtlCol="false" tIns="0" lIns="0" bIns="0" rIns="0">
            <a:spAutoFit/>
          </a:bodyPr>
          <a:lstStyle/>
          <a:p>
            <a:pPr algn="ctr">
              <a:lnSpc>
                <a:spcPts val="6400"/>
              </a:lnSpc>
            </a:pPr>
            <a:r>
              <a:rPr lang="en-US" b="true" sz="6400" spc="-96">
                <a:solidFill>
                  <a:srgbClr val="FFFFFF"/>
                </a:solidFill>
                <a:latin typeface="Cy Grotesk Key Semi-Bold"/>
                <a:ea typeface="Cy Grotesk Key Semi-Bold"/>
                <a:cs typeface="Cy Grotesk Key Semi-Bold"/>
                <a:sym typeface="Cy Grotesk Key Semi-Bold"/>
              </a:rPr>
              <a:t>General </a:t>
            </a:r>
            <a:r>
              <a:rPr lang="en-US" b="true" sz="6400" spc="-96">
                <a:solidFill>
                  <a:srgbClr val="FFFFFF"/>
                </a:solidFill>
                <a:latin typeface="Cy Grotesk Key Semi-Bold"/>
                <a:ea typeface="Cy Grotesk Key Semi-Bold"/>
                <a:cs typeface="Cy Grotesk Key Semi-Bold"/>
                <a:sym typeface="Cy Grotesk Key Semi-Bold"/>
              </a:rPr>
              <a:t>Objective</a:t>
            </a:r>
          </a:p>
        </p:txBody>
      </p:sp>
      <p:sp>
        <p:nvSpPr>
          <p:cNvPr name="TextBox 14" id="14"/>
          <p:cNvSpPr txBox="true"/>
          <p:nvPr/>
        </p:nvSpPr>
        <p:spPr>
          <a:xfrm rot="0">
            <a:off x="12858299" y="9279206"/>
            <a:ext cx="4401001" cy="450723"/>
          </a:xfrm>
          <a:prstGeom prst="rect">
            <a:avLst/>
          </a:prstGeom>
        </p:spPr>
        <p:txBody>
          <a:bodyPr anchor="t" rtlCol="false" tIns="0" lIns="0" bIns="0" rIns="0">
            <a:spAutoFit/>
          </a:bodyPr>
          <a:lstStyle/>
          <a:p>
            <a:pPr algn="r">
              <a:lnSpc>
                <a:spcPts val="3456"/>
              </a:lnSpc>
            </a:pPr>
            <a:r>
              <a:rPr lang="en-US" b="true" sz="2400">
                <a:solidFill>
                  <a:srgbClr val="A03E3C"/>
                </a:solidFill>
                <a:latin typeface="Helvetica World Bold"/>
                <a:ea typeface="Helvetica World Bold"/>
                <a:cs typeface="Helvetica World Bold"/>
                <a:sym typeface="Helvetica World Bold"/>
              </a:rPr>
              <a:t>07</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A03E3C"/>
        </a:solidFill>
      </p:bgPr>
    </p:bg>
    <p:spTree>
      <p:nvGrpSpPr>
        <p:cNvPr id="1" name=""/>
        <p:cNvGrpSpPr/>
        <p:nvPr/>
      </p:nvGrpSpPr>
      <p:grpSpPr>
        <a:xfrm>
          <a:off x="0" y="0"/>
          <a:ext cx="0" cy="0"/>
          <a:chOff x="0" y="0"/>
          <a:chExt cx="0" cy="0"/>
        </a:xfrm>
      </p:grpSpPr>
      <p:grpSp>
        <p:nvGrpSpPr>
          <p:cNvPr name="Group 2" id="2"/>
          <p:cNvGrpSpPr/>
          <p:nvPr/>
        </p:nvGrpSpPr>
        <p:grpSpPr>
          <a:xfrm rot="0">
            <a:off x="-748710" y="9258300"/>
            <a:ext cx="19785420" cy="597310"/>
            <a:chOff x="0" y="0"/>
            <a:chExt cx="5210975" cy="157316"/>
          </a:xfrm>
        </p:grpSpPr>
        <p:sp>
          <p:nvSpPr>
            <p:cNvPr name="Freeform 3" id="3"/>
            <p:cNvSpPr/>
            <p:nvPr/>
          </p:nvSpPr>
          <p:spPr>
            <a:xfrm flipH="false" flipV="false" rot="0">
              <a:off x="0" y="0"/>
              <a:ext cx="5210975" cy="157316"/>
            </a:xfrm>
            <a:custGeom>
              <a:avLst/>
              <a:gdLst/>
              <a:ahLst/>
              <a:cxnLst/>
              <a:rect r="r" b="b" t="t" l="l"/>
              <a:pathLst>
                <a:path h="157316" w="5210975">
                  <a:moveTo>
                    <a:pt x="19956" y="0"/>
                  </a:moveTo>
                  <a:lnTo>
                    <a:pt x="5191019" y="0"/>
                  </a:lnTo>
                  <a:cubicBezTo>
                    <a:pt x="5202040" y="0"/>
                    <a:pt x="5210975" y="8935"/>
                    <a:pt x="5210975" y="19956"/>
                  </a:cubicBezTo>
                  <a:lnTo>
                    <a:pt x="5210975" y="137360"/>
                  </a:lnTo>
                  <a:cubicBezTo>
                    <a:pt x="5210975" y="142653"/>
                    <a:pt x="5208872" y="147729"/>
                    <a:pt x="5205130" y="151471"/>
                  </a:cubicBezTo>
                  <a:cubicBezTo>
                    <a:pt x="5201388" y="155214"/>
                    <a:pt x="5196312" y="157316"/>
                    <a:pt x="5191019" y="157316"/>
                  </a:cubicBezTo>
                  <a:lnTo>
                    <a:pt x="19956" y="157316"/>
                  </a:lnTo>
                  <a:cubicBezTo>
                    <a:pt x="8935" y="157316"/>
                    <a:pt x="0" y="148382"/>
                    <a:pt x="0" y="137360"/>
                  </a:cubicBezTo>
                  <a:lnTo>
                    <a:pt x="0" y="19956"/>
                  </a:lnTo>
                  <a:cubicBezTo>
                    <a:pt x="0" y="8935"/>
                    <a:pt x="8935" y="0"/>
                    <a:pt x="19956" y="0"/>
                  </a:cubicBezTo>
                  <a:close/>
                </a:path>
              </a:pathLst>
            </a:custGeom>
            <a:solidFill>
              <a:srgbClr val="FFFFFF"/>
            </a:solidFill>
          </p:spPr>
        </p:sp>
        <p:sp>
          <p:nvSpPr>
            <p:cNvPr name="TextBox 4" id="4"/>
            <p:cNvSpPr txBox="true"/>
            <p:nvPr/>
          </p:nvSpPr>
          <p:spPr>
            <a:xfrm>
              <a:off x="0" y="-38100"/>
              <a:ext cx="5210975" cy="195416"/>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12858299" y="9279206"/>
            <a:ext cx="4401001" cy="450723"/>
          </a:xfrm>
          <a:prstGeom prst="rect">
            <a:avLst/>
          </a:prstGeom>
        </p:spPr>
        <p:txBody>
          <a:bodyPr anchor="t" rtlCol="false" tIns="0" lIns="0" bIns="0" rIns="0">
            <a:spAutoFit/>
          </a:bodyPr>
          <a:lstStyle/>
          <a:p>
            <a:pPr algn="r">
              <a:lnSpc>
                <a:spcPts val="3456"/>
              </a:lnSpc>
            </a:pPr>
            <a:r>
              <a:rPr lang="en-US" b="true" sz="2400">
                <a:solidFill>
                  <a:srgbClr val="A03E3C"/>
                </a:solidFill>
                <a:latin typeface="Helvetica World Bold"/>
                <a:ea typeface="Helvetica World Bold"/>
                <a:cs typeface="Helvetica World Bold"/>
                <a:sym typeface="Helvetica World Bold"/>
              </a:rPr>
              <a:t>07</a:t>
            </a:r>
          </a:p>
        </p:txBody>
      </p:sp>
      <p:sp>
        <p:nvSpPr>
          <p:cNvPr name="TextBox 6" id="6"/>
          <p:cNvSpPr txBox="true"/>
          <p:nvPr/>
        </p:nvSpPr>
        <p:spPr>
          <a:xfrm rot="0">
            <a:off x="2712224" y="928989"/>
            <a:ext cx="12863552" cy="867415"/>
          </a:xfrm>
          <a:prstGeom prst="rect">
            <a:avLst/>
          </a:prstGeom>
        </p:spPr>
        <p:txBody>
          <a:bodyPr anchor="t" rtlCol="false" tIns="0" lIns="0" bIns="0" rIns="0">
            <a:spAutoFit/>
          </a:bodyPr>
          <a:lstStyle/>
          <a:p>
            <a:pPr algn="ctr">
              <a:lnSpc>
                <a:spcPts val="6400"/>
              </a:lnSpc>
            </a:pPr>
            <a:r>
              <a:rPr lang="en-US" b="true" sz="6400" spc="-96">
                <a:solidFill>
                  <a:srgbClr val="FFFFFF"/>
                </a:solidFill>
                <a:latin typeface="Cy Grotesk Key Semi-Bold"/>
                <a:ea typeface="Cy Grotesk Key Semi-Bold"/>
                <a:cs typeface="Cy Grotesk Key Semi-Bold"/>
                <a:sym typeface="Cy Grotesk Key Semi-Bold"/>
              </a:rPr>
              <a:t>Specific </a:t>
            </a:r>
            <a:r>
              <a:rPr lang="en-US" b="true" sz="6400" spc="-96">
                <a:solidFill>
                  <a:srgbClr val="FFFFFF"/>
                </a:solidFill>
                <a:latin typeface="Cy Grotesk Key Semi-Bold"/>
                <a:ea typeface="Cy Grotesk Key Semi-Bold"/>
                <a:cs typeface="Cy Grotesk Key Semi-Bold"/>
                <a:sym typeface="Cy Grotesk Key Semi-Bold"/>
              </a:rPr>
              <a:t>Objectives</a:t>
            </a:r>
          </a:p>
        </p:txBody>
      </p:sp>
      <p:grpSp>
        <p:nvGrpSpPr>
          <p:cNvPr name="Group 7" id="7"/>
          <p:cNvGrpSpPr/>
          <p:nvPr/>
        </p:nvGrpSpPr>
        <p:grpSpPr>
          <a:xfrm rot="0">
            <a:off x="1653963" y="2234553"/>
            <a:ext cx="4325380" cy="2750333"/>
            <a:chOff x="0" y="0"/>
            <a:chExt cx="5767173" cy="3667111"/>
          </a:xfrm>
        </p:grpSpPr>
        <p:grpSp>
          <p:nvGrpSpPr>
            <p:cNvPr name="Group 8" id="8"/>
            <p:cNvGrpSpPr/>
            <p:nvPr/>
          </p:nvGrpSpPr>
          <p:grpSpPr>
            <a:xfrm rot="0">
              <a:off x="0" y="0"/>
              <a:ext cx="5767173" cy="3667111"/>
              <a:chOff x="0" y="0"/>
              <a:chExt cx="1775232" cy="1128798"/>
            </a:xfrm>
          </p:grpSpPr>
          <p:sp>
            <p:nvSpPr>
              <p:cNvPr name="Freeform 9" id="9"/>
              <p:cNvSpPr/>
              <p:nvPr/>
            </p:nvSpPr>
            <p:spPr>
              <a:xfrm flipH="false" flipV="false" rot="0">
                <a:off x="0" y="0"/>
                <a:ext cx="1775232" cy="1128798"/>
              </a:xfrm>
              <a:custGeom>
                <a:avLst/>
                <a:gdLst/>
                <a:ahLst/>
                <a:cxnLst/>
                <a:rect r="r" b="b" t="t" l="l"/>
                <a:pathLst>
                  <a:path h="1128798" w="1775232">
                    <a:moveTo>
                      <a:pt x="178988" y="0"/>
                    </a:moveTo>
                    <a:lnTo>
                      <a:pt x="1596244" y="0"/>
                    </a:lnTo>
                    <a:cubicBezTo>
                      <a:pt x="1643714" y="0"/>
                      <a:pt x="1689240" y="18858"/>
                      <a:pt x="1722807" y="52424"/>
                    </a:cubicBezTo>
                    <a:cubicBezTo>
                      <a:pt x="1756374" y="85991"/>
                      <a:pt x="1775232" y="131518"/>
                      <a:pt x="1775232" y="178988"/>
                    </a:cubicBezTo>
                    <a:lnTo>
                      <a:pt x="1775232" y="949809"/>
                    </a:lnTo>
                    <a:cubicBezTo>
                      <a:pt x="1775232" y="997280"/>
                      <a:pt x="1756374" y="1042806"/>
                      <a:pt x="1722807" y="1076373"/>
                    </a:cubicBezTo>
                    <a:cubicBezTo>
                      <a:pt x="1689240" y="1109940"/>
                      <a:pt x="1643714" y="1128798"/>
                      <a:pt x="1596244" y="1128798"/>
                    </a:cubicBezTo>
                    <a:lnTo>
                      <a:pt x="178988" y="1128798"/>
                    </a:lnTo>
                    <a:cubicBezTo>
                      <a:pt x="80136" y="1128798"/>
                      <a:pt x="0" y="1048662"/>
                      <a:pt x="0" y="949809"/>
                    </a:cubicBezTo>
                    <a:lnTo>
                      <a:pt x="0" y="178988"/>
                    </a:lnTo>
                    <a:cubicBezTo>
                      <a:pt x="0" y="131518"/>
                      <a:pt x="18858" y="85991"/>
                      <a:pt x="52424" y="52424"/>
                    </a:cubicBezTo>
                    <a:cubicBezTo>
                      <a:pt x="85991" y="18858"/>
                      <a:pt x="131518" y="0"/>
                      <a:pt x="178988" y="0"/>
                    </a:cubicBezTo>
                    <a:close/>
                  </a:path>
                </a:pathLst>
              </a:custGeom>
              <a:solidFill>
                <a:srgbClr val="FFFFFF"/>
              </a:solidFill>
            </p:spPr>
          </p:sp>
          <p:sp>
            <p:nvSpPr>
              <p:cNvPr name="TextBox 10" id="10"/>
              <p:cNvSpPr txBox="true"/>
              <p:nvPr/>
            </p:nvSpPr>
            <p:spPr>
              <a:xfrm>
                <a:off x="0" y="95250"/>
                <a:ext cx="1775232" cy="1033548"/>
              </a:xfrm>
              <a:prstGeom prst="rect">
                <a:avLst/>
              </a:prstGeom>
            </p:spPr>
            <p:txBody>
              <a:bodyPr anchor="ctr" rtlCol="false" tIns="50800" lIns="50800" bIns="50800" rIns="50800"/>
              <a:lstStyle/>
              <a:p>
                <a:pPr algn="ctr">
                  <a:lnSpc>
                    <a:spcPts val="1925"/>
                  </a:lnSpc>
                </a:pPr>
              </a:p>
            </p:txBody>
          </p:sp>
        </p:grpSp>
        <p:sp>
          <p:nvSpPr>
            <p:cNvPr name="Freeform 11" id="11"/>
            <p:cNvSpPr/>
            <p:nvPr/>
          </p:nvSpPr>
          <p:spPr>
            <a:xfrm flipH="false" flipV="false" rot="0">
              <a:off x="1936110" y="309457"/>
              <a:ext cx="1784449" cy="1784449"/>
            </a:xfrm>
            <a:custGeom>
              <a:avLst/>
              <a:gdLst/>
              <a:ahLst/>
              <a:cxnLst/>
              <a:rect r="r" b="b" t="t" l="l"/>
              <a:pathLst>
                <a:path h="1784449" w="1784449">
                  <a:moveTo>
                    <a:pt x="0" y="0"/>
                  </a:moveTo>
                  <a:lnTo>
                    <a:pt x="1784449" y="0"/>
                  </a:lnTo>
                  <a:lnTo>
                    <a:pt x="1784449" y="1784448"/>
                  </a:lnTo>
                  <a:lnTo>
                    <a:pt x="0" y="17844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133319" y="2363874"/>
              <a:ext cx="5390031" cy="493250"/>
            </a:xfrm>
            <a:prstGeom prst="rect">
              <a:avLst/>
            </a:prstGeom>
          </p:spPr>
          <p:txBody>
            <a:bodyPr anchor="t" rtlCol="false" tIns="0" lIns="0" bIns="0" rIns="0">
              <a:spAutoFit/>
            </a:bodyPr>
            <a:lstStyle/>
            <a:p>
              <a:pPr algn="ctr">
                <a:lnSpc>
                  <a:spcPts val="3103"/>
                </a:lnSpc>
              </a:pPr>
              <a:r>
                <a:rPr lang="en-US" b="true" sz="2216">
                  <a:solidFill>
                    <a:srgbClr val="A03E3C"/>
                  </a:solidFill>
                  <a:latin typeface="Open Sans Bold"/>
                  <a:ea typeface="Open Sans Bold"/>
                  <a:cs typeface="Open Sans Bold"/>
                  <a:sym typeface="Open Sans Bold"/>
                </a:rPr>
                <a:t>Di</a:t>
              </a:r>
              <a:r>
                <a:rPr lang="en-US" b="true" sz="2216">
                  <a:solidFill>
                    <a:srgbClr val="A03E3C"/>
                  </a:solidFill>
                  <a:latin typeface="Open Sans Bold"/>
                  <a:ea typeface="Open Sans Bold"/>
                  <a:cs typeface="Open Sans Bold"/>
                  <a:sym typeface="Open Sans Bold"/>
                </a:rPr>
                <a:t>gitize order taking</a:t>
              </a:r>
            </a:p>
          </p:txBody>
        </p:sp>
      </p:grpSp>
      <p:grpSp>
        <p:nvGrpSpPr>
          <p:cNvPr name="Group 13" id="13"/>
          <p:cNvGrpSpPr/>
          <p:nvPr/>
        </p:nvGrpSpPr>
        <p:grpSpPr>
          <a:xfrm rot="0">
            <a:off x="7036333" y="2234553"/>
            <a:ext cx="4325380" cy="3140858"/>
            <a:chOff x="0" y="0"/>
            <a:chExt cx="5767173" cy="4187811"/>
          </a:xfrm>
        </p:grpSpPr>
        <p:grpSp>
          <p:nvGrpSpPr>
            <p:cNvPr name="Group 14" id="14"/>
            <p:cNvGrpSpPr/>
            <p:nvPr/>
          </p:nvGrpSpPr>
          <p:grpSpPr>
            <a:xfrm rot="0">
              <a:off x="0" y="0"/>
              <a:ext cx="5767173" cy="4187811"/>
              <a:chOff x="0" y="0"/>
              <a:chExt cx="1775232" cy="1289078"/>
            </a:xfrm>
          </p:grpSpPr>
          <p:sp>
            <p:nvSpPr>
              <p:cNvPr name="Freeform 15" id="15"/>
              <p:cNvSpPr/>
              <p:nvPr/>
            </p:nvSpPr>
            <p:spPr>
              <a:xfrm flipH="false" flipV="false" rot="0">
                <a:off x="0" y="0"/>
                <a:ext cx="1775232" cy="1289078"/>
              </a:xfrm>
              <a:custGeom>
                <a:avLst/>
                <a:gdLst/>
                <a:ahLst/>
                <a:cxnLst/>
                <a:rect r="r" b="b" t="t" l="l"/>
                <a:pathLst>
                  <a:path h="1289078" w="1775232">
                    <a:moveTo>
                      <a:pt x="178988" y="0"/>
                    </a:moveTo>
                    <a:lnTo>
                      <a:pt x="1596244" y="0"/>
                    </a:lnTo>
                    <a:cubicBezTo>
                      <a:pt x="1643714" y="0"/>
                      <a:pt x="1689240" y="18858"/>
                      <a:pt x="1722807" y="52424"/>
                    </a:cubicBezTo>
                    <a:cubicBezTo>
                      <a:pt x="1756374" y="85991"/>
                      <a:pt x="1775232" y="131518"/>
                      <a:pt x="1775232" y="178988"/>
                    </a:cubicBezTo>
                    <a:lnTo>
                      <a:pt x="1775232" y="1110090"/>
                    </a:lnTo>
                    <a:cubicBezTo>
                      <a:pt x="1775232" y="1157560"/>
                      <a:pt x="1756374" y="1203087"/>
                      <a:pt x="1722807" y="1236653"/>
                    </a:cubicBezTo>
                    <a:cubicBezTo>
                      <a:pt x="1689240" y="1270220"/>
                      <a:pt x="1643714" y="1289078"/>
                      <a:pt x="1596244" y="1289078"/>
                    </a:cubicBezTo>
                    <a:lnTo>
                      <a:pt x="178988" y="1289078"/>
                    </a:lnTo>
                    <a:cubicBezTo>
                      <a:pt x="131518" y="1289078"/>
                      <a:pt x="85991" y="1270220"/>
                      <a:pt x="52424" y="1236653"/>
                    </a:cubicBezTo>
                    <a:cubicBezTo>
                      <a:pt x="18858" y="1203087"/>
                      <a:pt x="0" y="1157560"/>
                      <a:pt x="0" y="1110090"/>
                    </a:cubicBezTo>
                    <a:lnTo>
                      <a:pt x="0" y="178988"/>
                    </a:lnTo>
                    <a:cubicBezTo>
                      <a:pt x="0" y="131518"/>
                      <a:pt x="18858" y="85991"/>
                      <a:pt x="52424" y="52424"/>
                    </a:cubicBezTo>
                    <a:cubicBezTo>
                      <a:pt x="85991" y="18858"/>
                      <a:pt x="131518" y="0"/>
                      <a:pt x="178988" y="0"/>
                    </a:cubicBezTo>
                    <a:close/>
                  </a:path>
                </a:pathLst>
              </a:custGeom>
              <a:solidFill>
                <a:srgbClr val="FFFFFF"/>
              </a:solidFill>
            </p:spPr>
          </p:sp>
          <p:sp>
            <p:nvSpPr>
              <p:cNvPr name="TextBox 16" id="16"/>
              <p:cNvSpPr txBox="true"/>
              <p:nvPr/>
            </p:nvSpPr>
            <p:spPr>
              <a:xfrm>
                <a:off x="0" y="95250"/>
                <a:ext cx="1775232" cy="1193828"/>
              </a:xfrm>
              <a:prstGeom prst="rect">
                <a:avLst/>
              </a:prstGeom>
            </p:spPr>
            <p:txBody>
              <a:bodyPr anchor="ctr" rtlCol="false" tIns="50800" lIns="50800" bIns="50800" rIns="50800"/>
              <a:lstStyle/>
              <a:p>
                <a:pPr algn="ctr">
                  <a:lnSpc>
                    <a:spcPts val="1925"/>
                  </a:lnSpc>
                </a:pPr>
              </a:p>
            </p:txBody>
          </p:sp>
        </p:grpSp>
        <p:sp>
          <p:nvSpPr>
            <p:cNvPr name="Freeform 17" id="17"/>
            <p:cNvSpPr/>
            <p:nvPr/>
          </p:nvSpPr>
          <p:spPr>
            <a:xfrm flipH="false" flipV="false" rot="0">
              <a:off x="2046614" y="235039"/>
              <a:ext cx="1673945" cy="1628292"/>
            </a:xfrm>
            <a:custGeom>
              <a:avLst/>
              <a:gdLst/>
              <a:ahLst/>
              <a:cxnLst/>
              <a:rect r="r" b="b" t="t" l="l"/>
              <a:pathLst>
                <a:path h="1628292" w="1673945">
                  <a:moveTo>
                    <a:pt x="0" y="0"/>
                  </a:moveTo>
                  <a:lnTo>
                    <a:pt x="1673945" y="0"/>
                  </a:lnTo>
                  <a:lnTo>
                    <a:pt x="1673945" y="1628292"/>
                  </a:lnTo>
                  <a:lnTo>
                    <a:pt x="0" y="16282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8" id="18"/>
            <p:cNvSpPr txBox="true"/>
            <p:nvPr/>
          </p:nvSpPr>
          <p:spPr>
            <a:xfrm rot="0">
              <a:off x="263710" y="2320531"/>
              <a:ext cx="5129249" cy="1028169"/>
            </a:xfrm>
            <a:prstGeom prst="rect">
              <a:avLst/>
            </a:prstGeom>
          </p:spPr>
          <p:txBody>
            <a:bodyPr anchor="t" rtlCol="false" tIns="0" lIns="0" bIns="0" rIns="0">
              <a:spAutoFit/>
            </a:bodyPr>
            <a:lstStyle/>
            <a:p>
              <a:pPr algn="ctr">
                <a:lnSpc>
                  <a:spcPts val="3171"/>
                </a:lnSpc>
              </a:pPr>
              <a:r>
                <a:rPr lang="en-US" b="true" sz="2265">
                  <a:solidFill>
                    <a:srgbClr val="862D2B"/>
                  </a:solidFill>
                  <a:latin typeface="Open Sans Bold"/>
                  <a:ea typeface="Open Sans Bold"/>
                  <a:cs typeface="Open Sans Bold"/>
                  <a:sym typeface="Open Sans Bold"/>
                </a:rPr>
                <a:t>C</a:t>
              </a:r>
              <a:r>
                <a:rPr lang="en-US" b="true" sz="2265">
                  <a:solidFill>
                    <a:srgbClr val="862D2B"/>
                  </a:solidFill>
                  <a:latin typeface="Open Sans Bold"/>
                  <a:ea typeface="Open Sans Bold"/>
                  <a:cs typeface="Open Sans Bold"/>
                  <a:sym typeface="Open Sans Bold"/>
                </a:rPr>
                <a:t>entralize operational information</a:t>
              </a:r>
            </a:p>
          </p:txBody>
        </p:sp>
      </p:grpSp>
      <p:grpSp>
        <p:nvGrpSpPr>
          <p:cNvPr name="Group 19" id="19"/>
          <p:cNvGrpSpPr/>
          <p:nvPr/>
        </p:nvGrpSpPr>
        <p:grpSpPr>
          <a:xfrm rot="0">
            <a:off x="12411501" y="2234553"/>
            <a:ext cx="4325380" cy="3140858"/>
            <a:chOff x="0" y="0"/>
            <a:chExt cx="5767173" cy="4187811"/>
          </a:xfrm>
        </p:grpSpPr>
        <p:grpSp>
          <p:nvGrpSpPr>
            <p:cNvPr name="Group 20" id="20"/>
            <p:cNvGrpSpPr/>
            <p:nvPr/>
          </p:nvGrpSpPr>
          <p:grpSpPr>
            <a:xfrm rot="0">
              <a:off x="0" y="0"/>
              <a:ext cx="5767173" cy="4187811"/>
              <a:chOff x="0" y="0"/>
              <a:chExt cx="1775232" cy="1289078"/>
            </a:xfrm>
          </p:grpSpPr>
          <p:sp>
            <p:nvSpPr>
              <p:cNvPr name="Freeform 21" id="21"/>
              <p:cNvSpPr/>
              <p:nvPr/>
            </p:nvSpPr>
            <p:spPr>
              <a:xfrm flipH="false" flipV="false" rot="0">
                <a:off x="0" y="0"/>
                <a:ext cx="1775232" cy="1289078"/>
              </a:xfrm>
              <a:custGeom>
                <a:avLst/>
                <a:gdLst/>
                <a:ahLst/>
                <a:cxnLst/>
                <a:rect r="r" b="b" t="t" l="l"/>
                <a:pathLst>
                  <a:path h="1289078" w="1775232">
                    <a:moveTo>
                      <a:pt x="178988" y="0"/>
                    </a:moveTo>
                    <a:lnTo>
                      <a:pt x="1596244" y="0"/>
                    </a:lnTo>
                    <a:cubicBezTo>
                      <a:pt x="1643714" y="0"/>
                      <a:pt x="1689240" y="18858"/>
                      <a:pt x="1722807" y="52424"/>
                    </a:cubicBezTo>
                    <a:cubicBezTo>
                      <a:pt x="1756374" y="85991"/>
                      <a:pt x="1775232" y="131518"/>
                      <a:pt x="1775232" y="178988"/>
                    </a:cubicBezTo>
                    <a:lnTo>
                      <a:pt x="1775232" y="1110090"/>
                    </a:lnTo>
                    <a:cubicBezTo>
                      <a:pt x="1775232" y="1157560"/>
                      <a:pt x="1756374" y="1203087"/>
                      <a:pt x="1722807" y="1236653"/>
                    </a:cubicBezTo>
                    <a:cubicBezTo>
                      <a:pt x="1689240" y="1270220"/>
                      <a:pt x="1643714" y="1289078"/>
                      <a:pt x="1596244" y="1289078"/>
                    </a:cubicBezTo>
                    <a:lnTo>
                      <a:pt x="178988" y="1289078"/>
                    </a:lnTo>
                    <a:cubicBezTo>
                      <a:pt x="131518" y="1289078"/>
                      <a:pt x="85991" y="1270220"/>
                      <a:pt x="52424" y="1236653"/>
                    </a:cubicBezTo>
                    <a:cubicBezTo>
                      <a:pt x="18858" y="1203087"/>
                      <a:pt x="0" y="1157560"/>
                      <a:pt x="0" y="1110090"/>
                    </a:cubicBezTo>
                    <a:lnTo>
                      <a:pt x="0" y="178988"/>
                    </a:lnTo>
                    <a:cubicBezTo>
                      <a:pt x="0" y="131518"/>
                      <a:pt x="18858" y="85991"/>
                      <a:pt x="52424" y="52424"/>
                    </a:cubicBezTo>
                    <a:cubicBezTo>
                      <a:pt x="85991" y="18858"/>
                      <a:pt x="131518" y="0"/>
                      <a:pt x="178988" y="0"/>
                    </a:cubicBezTo>
                    <a:close/>
                  </a:path>
                </a:pathLst>
              </a:custGeom>
              <a:solidFill>
                <a:srgbClr val="FFFFFF"/>
              </a:solidFill>
            </p:spPr>
          </p:sp>
          <p:sp>
            <p:nvSpPr>
              <p:cNvPr name="TextBox 22" id="22"/>
              <p:cNvSpPr txBox="true"/>
              <p:nvPr/>
            </p:nvSpPr>
            <p:spPr>
              <a:xfrm>
                <a:off x="0" y="95250"/>
                <a:ext cx="1775232" cy="1193828"/>
              </a:xfrm>
              <a:prstGeom prst="rect">
                <a:avLst/>
              </a:prstGeom>
            </p:spPr>
            <p:txBody>
              <a:bodyPr anchor="ctr" rtlCol="false" tIns="50800" lIns="50800" bIns="50800" rIns="50800"/>
              <a:lstStyle/>
              <a:p>
                <a:pPr algn="ctr">
                  <a:lnSpc>
                    <a:spcPts val="1925"/>
                  </a:lnSpc>
                </a:pPr>
              </a:p>
            </p:txBody>
          </p:sp>
        </p:grpSp>
        <p:sp>
          <p:nvSpPr>
            <p:cNvPr name="Freeform 23" id="23"/>
            <p:cNvSpPr/>
            <p:nvPr/>
          </p:nvSpPr>
          <p:spPr>
            <a:xfrm flipH="false" flipV="false" rot="0">
              <a:off x="1960503" y="237613"/>
              <a:ext cx="1846167" cy="1856293"/>
            </a:xfrm>
            <a:custGeom>
              <a:avLst/>
              <a:gdLst/>
              <a:ahLst/>
              <a:cxnLst/>
              <a:rect r="r" b="b" t="t" l="l"/>
              <a:pathLst>
                <a:path h="1856293" w="1846167">
                  <a:moveTo>
                    <a:pt x="0" y="0"/>
                  </a:moveTo>
                  <a:lnTo>
                    <a:pt x="1846167" y="0"/>
                  </a:lnTo>
                  <a:lnTo>
                    <a:pt x="1846167" y="1856292"/>
                  </a:lnTo>
                  <a:lnTo>
                    <a:pt x="0" y="185629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4" id="24"/>
            <p:cNvSpPr txBox="true"/>
            <p:nvPr/>
          </p:nvSpPr>
          <p:spPr>
            <a:xfrm rot="0">
              <a:off x="179991" y="2249223"/>
              <a:ext cx="5407192" cy="483950"/>
            </a:xfrm>
            <a:prstGeom prst="rect">
              <a:avLst/>
            </a:prstGeom>
          </p:spPr>
          <p:txBody>
            <a:bodyPr anchor="t" rtlCol="false" tIns="0" lIns="0" bIns="0" rIns="0">
              <a:spAutoFit/>
            </a:bodyPr>
            <a:lstStyle/>
            <a:p>
              <a:pPr algn="ctr">
                <a:lnSpc>
                  <a:spcPts val="3094"/>
                </a:lnSpc>
              </a:pPr>
              <a:r>
                <a:rPr lang="en-US" b="true" sz="2210">
                  <a:solidFill>
                    <a:srgbClr val="862D2B"/>
                  </a:solidFill>
                  <a:latin typeface="Open Sans Bold"/>
                  <a:ea typeface="Open Sans Bold"/>
                  <a:cs typeface="Open Sans Bold"/>
                  <a:sym typeface="Open Sans Bold"/>
                </a:rPr>
                <a:t>Automate invoicing</a:t>
              </a:r>
            </a:p>
          </p:txBody>
        </p:sp>
      </p:grpSp>
      <p:grpSp>
        <p:nvGrpSpPr>
          <p:cNvPr name="Group 25" id="25"/>
          <p:cNvGrpSpPr/>
          <p:nvPr/>
        </p:nvGrpSpPr>
        <p:grpSpPr>
          <a:xfrm rot="0">
            <a:off x="1498436" y="5708786"/>
            <a:ext cx="4636432" cy="3140858"/>
            <a:chOff x="0" y="0"/>
            <a:chExt cx="6181910" cy="4187811"/>
          </a:xfrm>
        </p:grpSpPr>
        <p:grpSp>
          <p:nvGrpSpPr>
            <p:cNvPr name="Group 26" id="26"/>
            <p:cNvGrpSpPr/>
            <p:nvPr/>
          </p:nvGrpSpPr>
          <p:grpSpPr>
            <a:xfrm rot="0">
              <a:off x="207368" y="0"/>
              <a:ext cx="5767173" cy="4187811"/>
              <a:chOff x="0" y="0"/>
              <a:chExt cx="1775232" cy="1289078"/>
            </a:xfrm>
          </p:grpSpPr>
          <p:sp>
            <p:nvSpPr>
              <p:cNvPr name="Freeform 27" id="27"/>
              <p:cNvSpPr/>
              <p:nvPr/>
            </p:nvSpPr>
            <p:spPr>
              <a:xfrm flipH="false" flipV="false" rot="0">
                <a:off x="0" y="0"/>
                <a:ext cx="1775232" cy="1289078"/>
              </a:xfrm>
              <a:custGeom>
                <a:avLst/>
                <a:gdLst/>
                <a:ahLst/>
                <a:cxnLst/>
                <a:rect r="r" b="b" t="t" l="l"/>
                <a:pathLst>
                  <a:path h="1289078" w="1775232">
                    <a:moveTo>
                      <a:pt x="178988" y="0"/>
                    </a:moveTo>
                    <a:lnTo>
                      <a:pt x="1596244" y="0"/>
                    </a:lnTo>
                    <a:cubicBezTo>
                      <a:pt x="1643714" y="0"/>
                      <a:pt x="1689240" y="18858"/>
                      <a:pt x="1722807" y="52424"/>
                    </a:cubicBezTo>
                    <a:cubicBezTo>
                      <a:pt x="1756374" y="85991"/>
                      <a:pt x="1775232" y="131518"/>
                      <a:pt x="1775232" y="178988"/>
                    </a:cubicBezTo>
                    <a:lnTo>
                      <a:pt x="1775232" y="1110090"/>
                    </a:lnTo>
                    <a:cubicBezTo>
                      <a:pt x="1775232" y="1157560"/>
                      <a:pt x="1756374" y="1203087"/>
                      <a:pt x="1722807" y="1236653"/>
                    </a:cubicBezTo>
                    <a:cubicBezTo>
                      <a:pt x="1689240" y="1270220"/>
                      <a:pt x="1643714" y="1289078"/>
                      <a:pt x="1596244" y="1289078"/>
                    </a:cubicBezTo>
                    <a:lnTo>
                      <a:pt x="178988" y="1289078"/>
                    </a:lnTo>
                    <a:cubicBezTo>
                      <a:pt x="131518" y="1289078"/>
                      <a:pt x="85991" y="1270220"/>
                      <a:pt x="52424" y="1236653"/>
                    </a:cubicBezTo>
                    <a:cubicBezTo>
                      <a:pt x="18858" y="1203087"/>
                      <a:pt x="0" y="1157560"/>
                      <a:pt x="0" y="1110090"/>
                    </a:cubicBezTo>
                    <a:lnTo>
                      <a:pt x="0" y="178988"/>
                    </a:lnTo>
                    <a:cubicBezTo>
                      <a:pt x="0" y="131518"/>
                      <a:pt x="18858" y="85991"/>
                      <a:pt x="52424" y="52424"/>
                    </a:cubicBezTo>
                    <a:cubicBezTo>
                      <a:pt x="85991" y="18858"/>
                      <a:pt x="131518" y="0"/>
                      <a:pt x="178988" y="0"/>
                    </a:cubicBezTo>
                    <a:close/>
                  </a:path>
                </a:pathLst>
              </a:custGeom>
              <a:solidFill>
                <a:srgbClr val="FFFFFF"/>
              </a:solidFill>
            </p:spPr>
          </p:sp>
          <p:sp>
            <p:nvSpPr>
              <p:cNvPr name="TextBox 28" id="28"/>
              <p:cNvSpPr txBox="true"/>
              <p:nvPr/>
            </p:nvSpPr>
            <p:spPr>
              <a:xfrm>
                <a:off x="0" y="95250"/>
                <a:ext cx="1775232" cy="1193828"/>
              </a:xfrm>
              <a:prstGeom prst="rect">
                <a:avLst/>
              </a:prstGeom>
            </p:spPr>
            <p:txBody>
              <a:bodyPr anchor="ctr" rtlCol="false" tIns="50800" lIns="50800" bIns="50800" rIns="50800"/>
              <a:lstStyle/>
              <a:p>
                <a:pPr algn="ctr">
                  <a:lnSpc>
                    <a:spcPts val="1925"/>
                  </a:lnSpc>
                </a:pPr>
              </a:p>
            </p:txBody>
          </p:sp>
        </p:grpSp>
        <p:sp>
          <p:nvSpPr>
            <p:cNvPr name="Freeform 29" id="29"/>
            <p:cNvSpPr/>
            <p:nvPr/>
          </p:nvSpPr>
          <p:spPr>
            <a:xfrm flipH="false" flipV="false" rot="0">
              <a:off x="2434716" y="609545"/>
              <a:ext cx="1312477" cy="1289909"/>
            </a:xfrm>
            <a:custGeom>
              <a:avLst/>
              <a:gdLst/>
              <a:ahLst/>
              <a:cxnLst/>
              <a:rect r="r" b="b" t="t" l="l"/>
              <a:pathLst>
                <a:path h="1289909" w="1312477">
                  <a:moveTo>
                    <a:pt x="0" y="0"/>
                  </a:moveTo>
                  <a:lnTo>
                    <a:pt x="1312477" y="0"/>
                  </a:lnTo>
                  <a:lnTo>
                    <a:pt x="1312477" y="1289909"/>
                  </a:lnTo>
                  <a:lnTo>
                    <a:pt x="0" y="128990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30" id="30"/>
            <p:cNvSpPr txBox="true"/>
            <p:nvPr/>
          </p:nvSpPr>
          <p:spPr>
            <a:xfrm rot="0">
              <a:off x="0" y="2337964"/>
              <a:ext cx="6181910" cy="483950"/>
            </a:xfrm>
            <a:prstGeom prst="rect">
              <a:avLst/>
            </a:prstGeom>
          </p:spPr>
          <p:txBody>
            <a:bodyPr anchor="t" rtlCol="false" tIns="0" lIns="0" bIns="0" rIns="0">
              <a:spAutoFit/>
            </a:bodyPr>
            <a:lstStyle/>
            <a:p>
              <a:pPr algn="ctr">
                <a:lnSpc>
                  <a:spcPts val="3094"/>
                </a:lnSpc>
              </a:pPr>
              <a:r>
                <a:rPr lang="en-US" sz="2210" b="true">
                  <a:solidFill>
                    <a:srgbClr val="862D2B"/>
                  </a:solidFill>
                  <a:latin typeface="Open Sans Bold"/>
                  <a:ea typeface="Open Sans Bold"/>
                  <a:cs typeface="Open Sans Bold"/>
                  <a:sym typeface="Open Sans Bold"/>
                </a:rPr>
                <a:t>Improve pr</a:t>
              </a:r>
              <a:r>
                <a:rPr lang="en-US" b="true" sz="2210">
                  <a:solidFill>
                    <a:srgbClr val="862D2B"/>
                  </a:solidFill>
                  <a:latin typeface="Open Sans Bold"/>
                  <a:ea typeface="Open Sans Bold"/>
                  <a:cs typeface="Open Sans Bold"/>
                  <a:sym typeface="Open Sans Bold"/>
                </a:rPr>
                <a:t>ocess traceability</a:t>
              </a:r>
            </a:p>
          </p:txBody>
        </p:sp>
      </p:grpSp>
      <p:grpSp>
        <p:nvGrpSpPr>
          <p:cNvPr name="Group 31" id="31"/>
          <p:cNvGrpSpPr/>
          <p:nvPr/>
        </p:nvGrpSpPr>
        <p:grpSpPr>
          <a:xfrm rot="0">
            <a:off x="7119002" y="5746427"/>
            <a:ext cx="4325380" cy="2750333"/>
            <a:chOff x="0" y="0"/>
            <a:chExt cx="5767173" cy="3667111"/>
          </a:xfrm>
        </p:grpSpPr>
        <p:grpSp>
          <p:nvGrpSpPr>
            <p:cNvPr name="Group 32" id="32"/>
            <p:cNvGrpSpPr/>
            <p:nvPr/>
          </p:nvGrpSpPr>
          <p:grpSpPr>
            <a:xfrm rot="0">
              <a:off x="0" y="0"/>
              <a:ext cx="5767173" cy="3667111"/>
              <a:chOff x="0" y="0"/>
              <a:chExt cx="1775232" cy="1128798"/>
            </a:xfrm>
          </p:grpSpPr>
          <p:sp>
            <p:nvSpPr>
              <p:cNvPr name="Freeform 33" id="33"/>
              <p:cNvSpPr/>
              <p:nvPr/>
            </p:nvSpPr>
            <p:spPr>
              <a:xfrm flipH="false" flipV="false" rot="0">
                <a:off x="0" y="0"/>
                <a:ext cx="1775232" cy="1128798"/>
              </a:xfrm>
              <a:custGeom>
                <a:avLst/>
                <a:gdLst/>
                <a:ahLst/>
                <a:cxnLst/>
                <a:rect r="r" b="b" t="t" l="l"/>
                <a:pathLst>
                  <a:path h="1128798" w="1775232">
                    <a:moveTo>
                      <a:pt x="178988" y="0"/>
                    </a:moveTo>
                    <a:lnTo>
                      <a:pt x="1596244" y="0"/>
                    </a:lnTo>
                    <a:cubicBezTo>
                      <a:pt x="1643714" y="0"/>
                      <a:pt x="1689240" y="18858"/>
                      <a:pt x="1722807" y="52424"/>
                    </a:cubicBezTo>
                    <a:cubicBezTo>
                      <a:pt x="1756374" y="85991"/>
                      <a:pt x="1775232" y="131518"/>
                      <a:pt x="1775232" y="178988"/>
                    </a:cubicBezTo>
                    <a:lnTo>
                      <a:pt x="1775232" y="949809"/>
                    </a:lnTo>
                    <a:cubicBezTo>
                      <a:pt x="1775232" y="997280"/>
                      <a:pt x="1756374" y="1042806"/>
                      <a:pt x="1722807" y="1076373"/>
                    </a:cubicBezTo>
                    <a:cubicBezTo>
                      <a:pt x="1689240" y="1109940"/>
                      <a:pt x="1643714" y="1128798"/>
                      <a:pt x="1596244" y="1128798"/>
                    </a:cubicBezTo>
                    <a:lnTo>
                      <a:pt x="178988" y="1128798"/>
                    </a:lnTo>
                    <a:cubicBezTo>
                      <a:pt x="80136" y="1128798"/>
                      <a:pt x="0" y="1048662"/>
                      <a:pt x="0" y="949809"/>
                    </a:cubicBezTo>
                    <a:lnTo>
                      <a:pt x="0" y="178988"/>
                    </a:lnTo>
                    <a:cubicBezTo>
                      <a:pt x="0" y="131518"/>
                      <a:pt x="18858" y="85991"/>
                      <a:pt x="52424" y="52424"/>
                    </a:cubicBezTo>
                    <a:cubicBezTo>
                      <a:pt x="85991" y="18858"/>
                      <a:pt x="131518" y="0"/>
                      <a:pt x="178988" y="0"/>
                    </a:cubicBezTo>
                    <a:close/>
                  </a:path>
                </a:pathLst>
              </a:custGeom>
              <a:solidFill>
                <a:srgbClr val="FFFFFF"/>
              </a:solidFill>
            </p:spPr>
          </p:sp>
          <p:sp>
            <p:nvSpPr>
              <p:cNvPr name="TextBox 34" id="34"/>
              <p:cNvSpPr txBox="true"/>
              <p:nvPr/>
            </p:nvSpPr>
            <p:spPr>
              <a:xfrm>
                <a:off x="0" y="95250"/>
                <a:ext cx="1775232" cy="1033548"/>
              </a:xfrm>
              <a:prstGeom prst="rect">
                <a:avLst/>
              </a:prstGeom>
            </p:spPr>
            <p:txBody>
              <a:bodyPr anchor="ctr" rtlCol="false" tIns="50800" lIns="50800" bIns="50800" rIns="50800"/>
              <a:lstStyle/>
              <a:p>
                <a:pPr algn="ctr">
                  <a:lnSpc>
                    <a:spcPts val="1925"/>
                  </a:lnSpc>
                </a:pPr>
              </a:p>
            </p:txBody>
          </p:sp>
        </p:grpSp>
        <p:sp>
          <p:nvSpPr>
            <p:cNvPr name="Freeform 35" id="35"/>
            <p:cNvSpPr/>
            <p:nvPr/>
          </p:nvSpPr>
          <p:spPr>
            <a:xfrm flipH="false" flipV="false" rot="0">
              <a:off x="2120091" y="400904"/>
              <a:ext cx="1526991" cy="1526991"/>
            </a:xfrm>
            <a:custGeom>
              <a:avLst/>
              <a:gdLst/>
              <a:ahLst/>
              <a:cxnLst/>
              <a:rect r="r" b="b" t="t" l="l"/>
              <a:pathLst>
                <a:path h="1526991" w="1526991">
                  <a:moveTo>
                    <a:pt x="0" y="0"/>
                  </a:moveTo>
                  <a:lnTo>
                    <a:pt x="1526991" y="0"/>
                  </a:lnTo>
                  <a:lnTo>
                    <a:pt x="1526991" y="1526991"/>
                  </a:lnTo>
                  <a:lnTo>
                    <a:pt x="0" y="152699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36" id="36"/>
            <p:cNvSpPr txBox="true"/>
            <p:nvPr/>
          </p:nvSpPr>
          <p:spPr>
            <a:xfrm rot="0">
              <a:off x="110225" y="2243674"/>
              <a:ext cx="5546722" cy="483950"/>
            </a:xfrm>
            <a:prstGeom prst="rect">
              <a:avLst/>
            </a:prstGeom>
          </p:spPr>
          <p:txBody>
            <a:bodyPr anchor="t" rtlCol="false" tIns="0" lIns="0" bIns="0" rIns="0">
              <a:spAutoFit/>
            </a:bodyPr>
            <a:lstStyle/>
            <a:p>
              <a:pPr algn="ctr">
                <a:lnSpc>
                  <a:spcPts val="3094"/>
                </a:lnSpc>
              </a:pPr>
              <a:r>
                <a:rPr lang="en-US" sz="2210" b="true">
                  <a:solidFill>
                    <a:srgbClr val="862D2B"/>
                  </a:solidFill>
                  <a:latin typeface="Open Sans Bold"/>
                  <a:ea typeface="Open Sans Bold"/>
                  <a:cs typeface="Open Sans Bold"/>
                  <a:sym typeface="Open Sans Bold"/>
                </a:rPr>
                <a:t>Reduc</a:t>
              </a:r>
              <a:r>
                <a:rPr lang="en-US" b="true" sz="2210">
                  <a:solidFill>
                    <a:srgbClr val="862D2B"/>
                  </a:solidFill>
                  <a:latin typeface="Open Sans Bold"/>
                  <a:ea typeface="Open Sans Bold"/>
                  <a:cs typeface="Open Sans Bold"/>
                  <a:sym typeface="Open Sans Bold"/>
                </a:rPr>
                <a:t>e operational times</a:t>
              </a:r>
            </a:p>
          </p:txBody>
        </p:sp>
      </p:grpSp>
      <p:grpSp>
        <p:nvGrpSpPr>
          <p:cNvPr name="Group 37" id="37"/>
          <p:cNvGrpSpPr/>
          <p:nvPr/>
        </p:nvGrpSpPr>
        <p:grpSpPr>
          <a:xfrm rot="0">
            <a:off x="12306815" y="5782991"/>
            <a:ext cx="4534751" cy="2750333"/>
            <a:chOff x="0" y="0"/>
            <a:chExt cx="6046335" cy="3667111"/>
          </a:xfrm>
        </p:grpSpPr>
        <p:grpSp>
          <p:nvGrpSpPr>
            <p:cNvPr name="Group 38" id="38"/>
            <p:cNvGrpSpPr/>
            <p:nvPr/>
          </p:nvGrpSpPr>
          <p:grpSpPr>
            <a:xfrm rot="0">
              <a:off x="0" y="0"/>
              <a:ext cx="6046335" cy="3667111"/>
              <a:chOff x="0" y="0"/>
              <a:chExt cx="1861162" cy="1128798"/>
            </a:xfrm>
          </p:grpSpPr>
          <p:sp>
            <p:nvSpPr>
              <p:cNvPr name="Freeform 39" id="39"/>
              <p:cNvSpPr/>
              <p:nvPr/>
            </p:nvSpPr>
            <p:spPr>
              <a:xfrm flipH="false" flipV="false" rot="0">
                <a:off x="0" y="0"/>
                <a:ext cx="1861162" cy="1128798"/>
              </a:xfrm>
              <a:custGeom>
                <a:avLst/>
                <a:gdLst/>
                <a:ahLst/>
                <a:cxnLst/>
                <a:rect r="r" b="b" t="t" l="l"/>
                <a:pathLst>
                  <a:path h="1128798" w="1861162">
                    <a:moveTo>
                      <a:pt x="170724" y="0"/>
                    </a:moveTo>
                    <a:lnTo>
                      <a:pt x="1690438" y="0"/>
                    </a:lnTo>
                    <a:cubicBezTo>
                      <a:pt x="1784727" y="0"/>
                      <a:pt x="1861162" y="76436"/>
                      <a:pt x="1861162" y="170724"/>
                    </a:cubicBezTo>
                    <a:lnTo>
                      <a:pt x="1861162" y="958073"/>
                    </a:lnTo>
                    <a:cubicBezTo>
                      <a:pt x="1861162" y="1052362"/>
                      <a:pt x="1784727" y="1128798"/>
                      <a:pt x="1690438" y="1128798"/>
                    </a:cubicBezTo>
                    <a:lnTo>
                      <a:pt x="170724" y="1128798"/>
                    </a:lnTo>
                    <a:cubicBezTo>
                      <a:pt x="76436" y="1128798"/>
                      <a:pt x="0" y="1052362"/>
                      <a:pt x="0" y="958073"/>
                    </a:cubicBezTo>
                    <a:lnTo>
                      <a:pt x="0" y="170724"/>
                    </a:lnTo>
                    <a:cubicBezTo>
                      <a:pt x="0" y="76436"/>
                      <a:pt x="76436" y="0"/>
                      <a:pt x="170724" y="0"/>
                    </a:cubicBezTo>
                    <a:close/>
                  </a:path>
                </a:pathLst>
              </a:custGeom>
              <a:solidFill>
                <a:srgbClr val="FFFFFF"/>
              </a:solidFill>
            </p:spPr>
          </p:sp>
          <p:sp>
            <p:nvSpPr>
              <p:cNvPr name="TextBox 40" id="40"/>
              <p:cNvSpPr txBox="true"/>
              <p:nvPr/>
            </p:nvSpPr>
            <p:spPr>
              <a:xfrm>
                <a:off x="0" y="95250"/>
                <a:ext cx="1861162" cy="1033548"/>
              </a:xfrm>
              <a:prstGeom prst="rect">
                <a:avLst/>
              </a:prstGeom>
            </p:spPr>
            <p:txBody>
              <a:bodyPr anchor="ctr" rtlCol="false" tIns="50800" lIns="50800" bIns="50800" rIns="50800"/>
              <a:lstStyle/>
              <a:p>
                <a:pPr algn="ctr">
                  <a:lnSpc>
                    <a:spcPts val="1925"/>
                  </a:lnSpc>
                </a:pPr>
              </a:p>
            </p:txBody>
          </p:sp>
        </p:grpSp>
        <p:sp>
          <p:nvSpPr>
            <p:cNvPr name="Freeform 41" id="41"/>
            <p:cNvSpPr/>
            <p:nvPr/>
          </p:nvSpPr>
          <p:spPr>
            <a:xfrm flipH="false" flipV="false" rot="0">
              <a:off x="2384979" y="352152"/>
              <a:ext cx="1276377" cy="1759417"/>
            </a:xfrm>
            <a:custGeom>
              <a:avLst/>
              <a:gdLst/>
              <a:ahLst/>
              <a:cxnLst/>
              <a:rect r="r" b="b" t="t" l="l"/>
              <a:pathLst>
                <a:path h="1759417" w="1276377">
                  <a:moveTo>
                    <a:pt x="0" y="0"/>
                  </a:moveTo>
                  <a:lnTo>
                    <a:pt x="1276377" y="0"/>
                  </a:lnTo>
                  <a:lnTo>
                    <a:pt x="1276377" y="1759417"/>
                  </a:lnTo>
                  <a:lnTo>
                    <a:pt x="0" y="175941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42" id="42"/>
            <p:cNvSpPr txBox="true"/>
            <p:nvPr/>
          </p:nvSpPr>
          <p:spPr>
            <a:xfrm rot="0">
              <a:off x="288491" y="2194922"/>
              <a:ext cx="5469352" cy="1004650"/>
            </a:xfrm>
            <a:prstGeom prst="rect">
              <a:avLst/>
            </a:prstGeom>
          </p:spPr>
          <p:txBody>
            <a:bodyPr anchor="t" rtlCol="false" tIns="0" lIns="0" bIns="0" rIns="0">
              <a:spAutoFit/>
            </a:bodyPr>
            <a:lstStyle/>
            <a:p>
              <a:pPr algn="ctr">
                <a:lnSpc>
                  <a:spcPts val="3094"/>
                </a:lnSpc>
              </a:pPr>
              <a:r>
                <a:rPr lang="en-US" sz="2210" b="true">
                  <a:solidFill>
                    <a:srgbClr val="862D2B"/>
                  </a:solidFill>
                  <a:latin typeface="Open Sans Bold"/>
                  <a:ea typeface="Open Sans Bold"/>
                  <a:cs typeface="Open Sans Bold"/>
                  <a:sym typeface="Open Sans Bold"/>
                </a:rPr>
                <a:t>Generate</a:t>
              </a:r>
              <a:r>
                <a:rPr lang="en-US" b="true" sz="2210">
                  <a:solidFill>
                    <a:srgbClr val="862D2B"/>
                  </a:solidFill>
                  <a:latin typeface="Open Sans Bold"/>
                  <a:ea typeface="Open Sans Bold"/>
                  <a:cs typeface="Open Sans Bold"/>
                  <a:sym typeface="Open Sans Bold"/>
                </a:rPr>
                <a:t> automated administrative reports</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48710" y="9258300"/>
            <a:ext cx="19785420" cy="597310"/>
            <a:chOff x="0" y="0"/>
            <a:chExt cx="5210975" cy="157316"/>
          </a:xfrm>
        </p:grpSpPr>
        <p:sp>
          <p:nvSpPr>
            <p:cNvPr name="Freeform 3" id="3"/>
            <p:cNvSpPr/>
            <p:nvPr/>
          </p:nvSpPr>
          <p:spPr>
            <a:xfrm flipH="false" flipV="false" rot="0">
              <a:off x="0" y="0"/>
              <a:ext cx="5210975" cy="157316"/>
            </a:xfrm>
            <a:custGeom>
              <a:avLst/>
              <a:gdLst/>
              <a:ahLst/>
              <a:cxnLst/>
              <a:rect r="r" b="b" t="t" l="l"/>
              <a:pathLst>
                <a:path h="157316" w="5210975">
                  <a:moveTo>
                    <a:pt x="19956" y="0"/>
                  </a:moveTo>
                  <a:lnTo>
                    <a:pt x="5191019" y="0"/>
                  </a:lnTo>
                  <a:cubicBezTo>
                    <a:pt x="5202040" y="0"/>
                    <a:pt x="5210975" y="8935"/>
                    <a:pt x="5210975" y="19956"/>
                  </a:cubicBezTo>
                  <a:lnTo>
                    <a:pt x="5210975" y="137360"/>
                  </a:lnTo>
                  <a:cubicBezTo>
                    <a:pt x="5210975" y="142653"/>
                    <a:pt x="5208872" y="147729"/>
                    <a:pt x="5205130" y="151471"/>
                  </a:cubicBezTo>
                  <a:cubicBezTo>
                    <a:pt x="5201388" y="155214"/>
                    <a:pt x="5196312" y="157316"/>
                    <a:pt x="5191019" y="157316"/>
                  </a:cubicBezTo>
                  <a:lnTo>
                    <a:pt x="19956" y="157316"/>
                  </a:lnTo>
                  <a:cubicBezTo>
                    <a:pt x="8935" y="157316"/>
                    <a:pt x="0" y="148382"/>
                    <a:pt x="0" y="137360"/>
                  </a:cubicBezTo>
                  <a:lnTo>
                    <a:pt x="0" y="19956"/>
                  </a:lnTo>
                  <a:cubicBezTo>
                    <a:pt x="0" y="8935"/>
                    <a:pt x="8935" y="0"/>
                    <a:pt x="19956" y="0"/>
                  </a:cubicBezTo>
                  <a:close/>
                </a:path>
              </a:pathLst>
            </a:custGeom>
            <a:solidFill>
              <a:srgbClr val="A03E3C"/>
            </a:solidFill>
          </p:spPr>
        </p:sp>
        <p:sp>
          <p:nvSpPr>
            <p:cNvPr name="TextBox 4" id="4"/>
            <p:cNvSpPr txBox="true"/>
            <p:nvPr/>
          </p:nvSpPr>
          <p:spPr>
            <a:xfrm>
              <a:off x="0" y="-38100"/>
              <a:ext cx="5210975" cy="195416"/>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780053" y="2379699"/>
            <a:ext cx="3443393" cy="2609709"/>
            <a:chOff x="0" y="0"/>
            <a:chExt cx="906902" cy="687331"/>
          </a:xfrm>
        </p:grpSpPr>
        <p:sp>
          <p:nvSpPr>
            <p:cNvPr name="Freeform 6" id="6"/>
            <p:cNvSpPr/>
            <p:nvPr/>
          </p:nvSpPr>
          <p:spPr>
            <a:xfrm flipH="false" flipV="false" rot="0">
              <a:off x="0" y="0"/>
              <a:ext cx="906902" cy="687331"/>
            </a:xfrm>
            <a:custGeom>
              <a:avLst/>
              <a:gdLst/>
              <a:ahLst/>
              <a:cxnLst/>
              <a:rect r="r" b="b" t="t" l="l"/>
              <a:pathLst>
                <a:path h="687331" w="906902">
                  <a:moveTo>
                    <a:pt x="114665" y="0"/>
                  </a:moveTo>
                  <a:lnTo>
                    <a:pt x="792236" y="0"/>
                  </a:lnTo>
                  <a:cubicBezTo>
                    <a:pt x="855564" y="0"/>
                    <a:pt x="906902" y="51337"/>
                    <a:pt x="906902" y="114665"/>
                  </a:cubicBezTo>
                  <a:lnTo>
                    <a:pt x="906902" y="572665"/>
                  </a:lnTo>
                  <a:cubicBezTo>
                    <a:pt x="906902" y="603077"/>
                    <a:pt x="894821" y="632242"/>
                    <a:pt x="873317" y="653746"/>
                  </a:cubicBezTo>
                  <a:cubicBezTo>
                    <a:pt x="851813" y="675250"/>
                    <a:pt x="822648" y="687331"/>
                    <a:pt x="792236" y="687331"/>
                  </a:cubicBezTo>
                  <a:lnTo>
                    <a:pt x="114665" y="687331"/>
                  </a:lnTo>
                  <a:cubicBezTo>
                    <a:pt x="84254" y="687331"/>
                    <a:pt x="55089" y="675250"/>
                    <a:pt x="33585" y="653746"/>
                  </a:cubicBezTo>
                  <a:cubicBezTo>
                    <a:pt x="12081" y="632242"/>
                    <a:pt x="0" y="603077"/>
                    <a:pt x="0" y="572665"/>
                  </a:cubicBezTo>
                  <a:lnTo>
                    <a:pt x="0" y="114665"/>
                  </a:lnTo>
                  <a:cubicBezTo>
                    <a:pt x="0" y="84254"/>
                    <a:pt x="12081" y="55089"/>
                    <a:pt x="33585" y="33585"/>
                  </a:cubicBezTo>
                  <a:cubicBezTo>
                    <a:pt x="55089" y="12081"/>
                    <a:pt x="84254" y="0"/>
                    <a:pt x="114665" y="0"/>
                  </a:cubicBezTo>
                  <a:close/>
                </a:path>
              </a:pathLst>
            </a:custGeom>
            <a:solidFill>
              <a:srgbClr val="A03E3C"/>
            </a:solidFill>
          </p:spPr>
        </p:sp>
        <p:sp>
          <p:nvSpPr>
            <p:cNvPr name="TextBox 7" id="7"/>
            <p:cNvSpPr txBox="true"/>
            <p:nvPr/>
          </p:nvSpPr>
          <p:spPr>
            <a:xfrm>
              <a:off x="0" y="-38100"/>
              <a:ext cx="906902" cy="725431"/>
            </a:xfrm>
            <a:prstGeom prst="rect">
              <a:avLst/>
            </a:prstGeom>
          </p:spPr>
          <p:txBody>
            <a:bodyPr anchor="ctr" rtlCol="false" tIns="50800" lIns="50800" bIns="50800" rIns="50800"/>
            <a:lstStyle/>
            <a:p>
              <a:pPr algn="ctr">
                <a:lnSpc>
                  <a:spcPts val="3079"/>
                </a:lnSpc>
              </a:pPr>
            </a:p>
          </p:txBody>
        </p:sp>
      </p:grpSp>
      <p:sp>
        <p:nvSpPr>
          <p:cNvPr name="Freeform 8" id="8"/>
          <p:cNvSpPr/>
          <p:nvPr/>
        </p:nvSpPr>
        <p:spPr>
          <a:xfrm flipH="false" flipV="false" rot="0">
            <a:off x="2891288" y="2513850"/>
            <a:ext cx="1220924" cy="1067753"/>
          </a:xfrm>
          <a:custGeom>
            <a:avLst/>
            <a:gdLst/>
            <a:ahLst/>
            <a:cxnLst/>
            <a:rect r="r" b="b" t="t" l="l"/>
            <a:pathLst>
              <a:path h="1067753" w="1220924">
                <a:moveTo>
                  <a:pt x="0" y="0"/>
                </a:moveTo>
                <a:lnTo>
                  <a:pt x="1220924" y="0"/>
                </a:lnTo>
                <a:lnTo>
                  <a:pt x="1220924" y="1067753"/>
                </a:lnTo>
                <a:lnTo>
                  <a:pt x="0" y="10677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7422304" y="2379699"/>
            <a:ext cx="3443393" cy="2609709"/>
            <a:chOff x="0" y="0"/>
            <a:chExt cx="906902" cy="687331"/>
          </a:xfrm>
        </p:grpSpPr>
        <p:sp>
          <p:nvSpPr>
            <p:cNvPr name="Freeform 10" id="10"/>
            <p:cNvSpPr/>
            <p:nvPr/>
          </p:nvSpPr>
          <p:spPr>
            <a:xfrm flipH="false" flipV="false" rot="0">
              <a:off x="0" y="0"/>
              <a:ext cx="906902" cy="687331"/>
            </a:xfrm>
            <a:custGeom>
              <a:avLst/>
              <a:gdLst/>
              <a:ahLst/>
              <a:cxnLst/>
              <a:rect r="r" b="b" t="t" l="l"/>
              <a:pathLst>
                <a:path h="687331" w="906902">
                  <a:moveTo>
                    <a:pt x="114665" y="0"/>
                  </a:moveTo>
                  <a:lnTo>
                    <a:pt x="792236" y="0"/>
                  </a:lnTo>
                  <a:cubicBezTo>
                    <a:pt x="855564" y="0"/>
                    <a:pt x="906902" y="51337"/>
                    <a:pt x="906902" y="114665"/>
                  </a:cubicBezTo>
                  <a:lnTo>
                    <a:pt x="906902" y="572665"/>
                  </a:lnTo>
                  <a:cubicBezTo>
                    <a:pt x="906902" y="603077"/>
                    <a:pt x="894821" y="632242"/>
                    <a:pt x="873317" y="653746"/>
                  </a:cubicBezTo>
                  <a:cubicBezTo>
                    <a:pt x="851813" y="675250"/>
                    <a:pt x="822648" y="687331"/>
                    <a:pt x="792236" y="687331"/>
                  </a:cubicBezTo>
                  <a:lnTo>
                    <a:pt x="114665" y="687331"/>
                  </a:lnTo>
                  <a:cubicBezTo>
                    <a:pt x="84254" y="687331"/>
                    <a:pt x="55089" y="675250"/>
                    <a:pt x="33585" y="653746"/>
                  </a:cubicBezTo>
                  <a:cubicBezTo>
                    <a:pt x="12081" y="632242"/>
                    <a:pt x="0" y="603077"/>
                    <a:pt x="0" y="572665"/>
                  </a:cubicBezTo>
                  <a:lnTo>
                    <a:pt x="0" y="114665"/>
                  </a:lnTo>
                  <a:cubicBezTo>
                    <a:pt x="0" y="84254"/>
                    <a:pt x="12081" y="55089"/>
                    <a:pt x="33585" y="33585"/>
                  </a:cubicBezTo>
                  <a:cubicBezTo>
                    <a:pt x="55089" y="12081"/>
                    <a:pt x="84254" y="0"/>
                    <a:pt x="114665" y="0"/>
                  </a:cubicBezTo>
                  <a:close/>
                </a:path>
              </a:pathLst>
            </a:custGeom>
            <a:solidFill>
              <a:srgbClr val="A03E3C"/>
            </a:solidFill>
          </p:spPr>
        </p:sp>
        <p:sp>
          <p:nvSpPr>
            <p:cNvPr name="TextBox 11" id="11"/>
            <p:cNvSpPr txBox="true"/>
            <p:nvPr/>
          </p:nvSpPr>
          <p:spPr>
            <a:xfrm>
              <a:off x="0" y="-38100"/>
              <a:ext cx="906902" cy="725431"/>
            </a:xfrm>
            <a:prstGeom prst="rect">
              <a:avLst/>
            </a:prstGeom>
          </p:spPr>
          <p:txBody>
            <a:bodyPr anchor="ctr" rtlCol="false" tIns="50800" lIns="50800" bIns="50800" rIns="50800"/>
            <a:lstStyle/>
            <a:p>
              <a:pPr algn="ctr">
                <a:lnSpc>
                  <a:spcPts val="3079"/>
                </a:lnSpc>
              </a:pPr>
            </a:p>
          </p:txBody>
        </p:sp>
      </p:grpSp>
      <p:sp>
        <p:nvSpPr>
          <p:cNvPr name="Freeform 12" id="12"/>
          <p:cNvSpPr/>
          <p:nvPr/>
        </p:nvSpPr>
        <p:spPr>
          <a:xfrm flipH="false" flipV="false" rot="0">
            <a:off x="8364734" y="2379699"/>
            <a:ext cx="1558531" cy="1558531"/>
          </a:xfrm>
          <a:custGeom>
            <a:avLst/>
            <a:gdLst/>
            <a:ahLst/>
            <a:cxnLst/>
            <a:rect r="r" b="b" t="t" l="l"/>
            <a:pathLst>
              <a:path h="1558531" w="1558531">
                <a:moveTo>
                  <a:pt x="0" y="0"/>
                </a:moveTo>
                <a:lnTo>
                  <a:pt x="1558532" y="0"/>
                </a:lnTo>
                <a:lnTo>
                  <a:pt x="1558532" y="1558532"/>
                </a:lnTo>
                <a:lnTo>
                  <a:pt x="0" y="1558532"/>
                </a:lnTo>
                <a:lnTo>
                  <a:pt x="0" y="0"/>
                </a:lnTo>
                <a:close/>
              </a:path>
            </a:pathLst>
          </a:custGeom>
          <a:blipFill>
            <a:blip r:embed="rId4"/>
            <a:stretch>
              <a:fillRect l="0" t="0" r="0" b="0"/>
            </a:stretch>
          </a:blipFill>
        </p:spPr>
      </p:sp>
      <p:grpSp>
        <p:nvGrpSpPr>
          <p:cNvPr name="Group 13" id="13"/>
          <p:cNvGrpSpPr/>
          <p:nvPr/>
        </p:nvGrpSpPr>
        <p:grpSpPr>
          <a:xfrm rot="0">
            <a:off x="13332671" y="2379699"/>
            <a:ext cx="3443393" cy="2609709"/>
            <a:chOff x="0" y="0"/>
            <a:chExt cx="906902" cy="687331"/>
          </a:xfrm>
        </p:grpSpPr>
        <p:sp>
          <p:nvSpPr>
            <p:cNvPr name="Freeform 14" id="14"/>
            <p:cNvSpPr/>
            <p:nvPr/>
          </p:nvSpPr>
          <p:spPr>
            <a:xfrm flipH="false" flipV="false" rot="0">
              <a:off x="0" y="0"/>
              <a:ext cx="906902" cy="687331"/>
            </a:xfrm>
            <a:custGeom>
              <a:avLst/>
              <a:gdLst/>
              <a:ahLst/>
              <a:cxnLst/>
              <a:rect r="r" b="b" t="t" l="l"/>
              <a:pathLst>
                <a:path h="687331" w="906902">
                  <a:moveTo>
                    <a:pt x="114665" y="0"/>
                  </a:moveTo>
                  <a:lnTo>
                    <a:pt x="792236" y="0"/>
                  </a:lnTo>
                  <a:cubicBezTo>
                    <a:pt x="855564" y="0"/>
                    <a:pt x="906902" y="51337"/>
                    <a:pt x="906902" y="114665"/>
                  </a:cubicBezTo>
                  <a:lnTo>
                    <a:pt x="906902" y="572665"/>
                  </a:lnTo>
                  <a:cubicBezTo>
                    <a:pt x="906902" y="603077"/>
                    <a:pt x="894821" y="632242"/>
                    <a:pt x="873317" y="653746"/>
                  </a:cubicBezTo>
                  <a:cubicBezTo>
                    <a:pt x="851813" y="675250"/>
                    <a:pt x="822648" y="687331"/>
                    <a:pt x="792236" y="687331"/>
                  </a:cubicBezTo>
                  <a:lnTo>
                    <a:pt x="114665" y="687331"/>
                  </a:lnTo>
                  <a:cubicBezTo>
                    <a:pt x="84254" y="687331"/>
                    <a:pt x="55089" y="675250"/>
                    <a:pt x="33585" y="653746"/>
                  </a:cubicBezTo>
                  <a:cubicBezTo>
                    <a:pt x="12081" y="632242"/>
                    <a:pt x="0" y="603077"/>
                    <a:pt x="0" y="572665"/>
                  </a:cubicBezTo>
                  <a:lnTo>
                    <a:pt x="0" y="114665"/>
                  </a:lnTo>
                  <a:cubicBezTo>
                    <a:pt x="0" y="84254"/>
                    <a:pt x="12081" y="55089"/>
                    <a:pt x="33585" y="33585"/>
                  </a:cubicBezTo>
                  <a:cubicBezTo>
                    <a:pt x="55089" y="12081"/>
                    <a:pt x="84254" y="0"/>
                    <a:pt x="114665" y="0"/>
                  </a:cubicBezTo>
                  <a:close/>
                </a:path>
              </a:pathLst>
            </a:custGeom>
            <a:solidFill>
              <a:srgbClr val="A03E3C"/>
            </a:solidFill>
          </p:spPr>
        </p:sp>
        <p:sp>
          <p:nvSpPr>
            <p:cNvPr name="TextBox 15" id="15"/>
            <p:cNvSpPr txBox="true"/>
            <p:nvPr/>
          </p:nvSpPr>
          <p:spPr>
            <a:xfrm>
              <a:off x="0" y="-38100"/>
              <a:ext cx="906902" cy="725431"/>
            </a:xfrm>
            <a:prstGeom prst="rect">
              <a:avLst/>
            </a:prstGeom>
          </p:spPr>
          <p:txBody>
            <a:bodyPr anchor="ctr" rtlCol="false" tIns="50800" lIns="50800" bIns="50800" rIns="50800"/>
            <a:lstStyle/>
            <a:p>
              <a:pPr algn="ctr">
                <a:lnSpc>
                  <a:spcPts val="3079"/>
                </a:lnSpc>
              </a:pPr>
            </a:p>
          </p:txBody>
        </p:sp>
      </p:grpSp>
      <p:sp>
        <p:nvSpPr>
          <p:cNvPr name="Freeform 16" id="16"/>
          <p:cNvSpPr/>
          <p:nvPr/>
        </p:nvSpPr>
        <p:spPr>
          <a:xfrm flipH="false" flipV="false" rot="0">
            <a:off x="14427505" y="2513850"/>
            <a:ext cx="1292939" cy="1260027"/>
          </a:xfrm>
          <a:custGeom>
            <a:avLst/>
            <a:gdLst/>
            <a:ahLst/>
            <a:cxnLst/>
            <a:rect r="r" b="b" t="t" l="l"/>
            <a:pathLst>
              <a:path h="1260027" w="1292939">
                <a:moveTo>
                  <a:pt x="0" y="0"/>
                </a:moveTo>
                <a:lnTo>
                  <a:pt x="1292938" y="0"/>
                </a:lnTo>
                <a:lnTo>
                  <a:pt x="1292938" y="1260027"/>
                </a:lnTo>
                <a:lnTo>
                  <a:pt x="0" y="126002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7" id="17"/>
          <p:cNvGrpSpPr/>
          <p:nvPr/>
        </p:nvGrpSpPr>
        <p:grpSpPr>
          <a:xfrm rot="0">
            <a:off x="4112212" y="5322784"/>
            <a:ext cx="10315293" cy="3105925"/>
            <a:chOff x="0" y="0"/>
            <a:chExt cx="2716785" cy="818021"/>
          </a:xfrm>
        </p:grpSpPr>
        <p:sp>
          <p:nvSpPr>
            <p:cNvPr name="Freeform 18" id="18"/>
            <p:cNvSpPr/>
            <p:nvPr/>
          </p:nvSpPr>
          <p:spPr>
            <a:xfrm flipH="false" flipV="false" rot="0">
              <a:off x="0" y="0"/>
              <a:ext cx="2716785" cy="818021"/>
            </a:xfrm>
            <a:custGeom>
              <a:avLst/>
              <a:gdLst/>
              <a:ahLst/>
              <a:cxnLst/>
              <a:rect r="r" b="b" t="t" l="l"/>
              <a:pathLst>
                <a:path h="818021" w="2716785">
                  <a:moveTo>
                    <a:pt x="38277" y="0"/>
                  </a:moveTo>
                  <a:lnTo>
                    <a:pt x="2678508" y="0"/>
                  </a:lnTo>
                  <a:cubicBezTo>
                    <a:pt x="2699648" y="0"/>
                    <a:pt x="2716785" y="17137"/>
                    <a:pt x="2716785" y="38277"/>
                  </a:cubicBezTo>
                  <a:lnTo>
                    <a:pt x="2716785" y="779745"/>
                  </a:lnTo>
                  <a:cubicBezTo>
                    <a:pt x="2716785" y="800884"/>
                    <a:pt x="2699648" y="818021"/>
                    <a:pt x="2678508" y="818021"/>
                  </a:cubicBezTo>
                  <a:lnTo>
                    <a:pt x="38277" y="818021"/>
                  </a:lnTo>
                  <a:cubicBezTo>
                    <a:pt x="28125" y="818021"/>
                    <a:pt x="18389" y="813989"/>
                    <a:pt x="11211" y="806810"/>
                  </a:cubicBezTo>
                  <a:cubicBezTo>
                    <a:pt x="4033" y="799632"/>
                    <a:pt x="0" y="789896"/>
                    <a:pt x="0" y="779745"/>
                  </a:cubicBezTo>
                  <a:lnTo>
                    <a:pt x="0" y="38277"/>
                  </a:lnTo>
                  <a:cubicBezTo>
                    <a:pt x="0" y="17137"/>
                    <a:pt x="17137" y="0"/>
                    <a:pt x="38277" y="0"/>
                  </a:cubicBezTo>
                  <a:close/>
                </a:path>
              </a:pathLst>
            </a:custGeom>
            <a:solidFill>
              <a:srgbClr val="7D2220"/>
            </a:solidFill>
          </p:spPr>
        </p:sp>
        <p:sp>
          <p:nvSpPr>
            <p:cNvPr name="TextBox 19" id="19"/>
            <p:cNvSpPr txBox="true"/>
            <p:nvPr/>
          </p:nvSpPr>
          <p:spPr>
            <a:xfrm>
              <a:off x="0" y="-38100"/>
              <a:ext cx="2716785" cy="856121"/>
            </a:xfrm>
            <a:prstGeom prst="rect">
              <a:avLst/>
            </a:prstGeom>
          </p:spPr>
          <p:txBody>
            <a:bodyPr anchor="ctr" rtlCol="false" tIns="50800" lIns="50800" bIns="50800" rIns="50800"/>
            <a:lstStyle/>
            <a:p>
              <a:pPr algn="ctr">
                <a:lnSpc>
                  <a:spcPts val="3079"/>
                </a:lnSpc>
              </a:pPr>
            </a:p>
          </p:txBody>
        </p:sp>
      </p:grpSp>
      <p:sp>
        <p:nvSpPr>
          <p:cNvPr name="Freeform 20" id="20"/>
          <p:cNvSpPr/>
          <p:nvPr/>
        </p:nvSpPr>
        <p:spPr>
          <a:xfrm flipH="false" flipV="false" rot="0">
            <a:off x="13647548" y="320897"/>
            <a:ext cx="1721114" cy="1725427"/>
          </a:xfrm>
          <a:custGeom>
            <a:avLst/>
            <a:gdLst/>
            <a:ahLst/>
            <a:cxnLst/>
            <a:rect r="r" b="b" t="t" l="l"/>
            <a:pathLst>
              <a:path h="1725427" w="1721114">
                <a:moveTo>
                  <a:pt x="0" y="0"/>
                </a:moveTo>
                <a:lnTo>
                  <a:pt x="1721114" y="0"/>
                </a:lnTo>
                <a:lnTo>
                  <a:pt x="1721114" y="1725427"/>
                </a:lnTo>
                <a:lnTo>
                  <a:pt x="0" y="1725427"/>
                </a:lnTo>
                <a:lnTo>
                  <a:pt x="0" y="0"/>
                </a:lnTo>
                <a:close/>
              </a:path>
            </a:pathLst>
          </a:custGeom>
          <a:blipFill>
            <a:blip r:embed="rId7"/>
            <a:stretch>
              <a:fillRect l="0" t="0" r="0" b="0"/>
            </a:stretch>
          </a:blipFill>
        </p:spPr>
      </p:sp>
      <p:pic>
        <p:nvPicPr>
          <p:cNvPr name="Picture 21" id="21"/>
          <p:cNvPicPr>
            <a:picLocks noChangeAspect="true"/>
          </p:cNvPicPr>
          <p:nvPr/>
        </p:nvPicPr>
        <p:blipFill>
          <a:blip r:embed="rId8"/>
          <a:srcRect l="0" t="0" r="0" b="0"/>
          <a:stretch>
            <a:fillRect/>
          </a:stretch>
        </p:blipFill>
        <p:spPr>
          <a:xfrm flipH="false" flipV="false" rot="-546124">
            <a:off x="13994396" y="527678"/>
            <a:ext cx="1027419" cy="1027419"/>
          </a:xfrm>
          <a:prstGeom prst="rect">
            <a:avLst/>
          </a:prstGeom>
        </p:spPr>
      </p:pic>
      <p:sp>
        <p:nvSpPr>
          <p:cNvPr name="TextBox 22" id="22"/>
          <p:cNvSpPr txBox="true"/>
          <p:nvPr/>
        </p:nvSpPr>
        <p:spPr>
          <a:xfrm rot="0">
            <a:off x="4459193" y="969716"/>
            <a:ext cx="9369615" cy="867415"/>
          </a:xfrm>
          <a:prstGeom prst="rect">
            <a:avLst/>
          </a:prstGeom>
        </p:spPr>
        <p:txBody>
          <a:bodyPr anchor="t" rtlCol="false" tIns="0" lIns="0" bIns="0" rIns="0">
            <a:spAutoFit/>
          </a:bodyPr>
          <a:lstStyle/>
          <a:p>
            <a:pPr algn="l">
              <a:lnSpc>
                <a:spcPts val="6400"/>
              </a:lnSpc>
            </a:pPr>
            <a:r>
              <a:rPr lang="en-US" sz="6400" spc="-96" b="true">
                <a:solidFill>
                  <a:srgbClr val="202020"/>
                </a:solidFill>
                <a:latin typeface="Cy Grotesk Key Semi-Bold"/>
                <a:ea typeface="Cy Grotesk Key Semi-Bold"/>
                <a:cs typeface="Cy Grotesk Key Semi-Bold"/>
                <a:sym typeface="Cy Grotesk Key Semi-Bold"/>
              </a:rPr>
              <a:t>SCRUM Methodology</a:t>
            </a:r>
          </a:p>
        </p:txBody>
      </p:sp>
      <p:sp>
        <p:nvSpPr>
          <p:cNvPr name="TextBox 23" id="23"/>
          <p:cNvSpPr txBox="true"/>
          <p:nvPr/>
        </p:nvSpPr>
        <p:spPr>
          <a:xfrm rot="0">
            <a:off x="12858299" y="9279206"/>
            <a:ext cx="4401001" cy="450723"/>
          </a:xfrm>
          <a:prstGeom prst="rect">
            <a:avLst/>
          </a:prstGeom>
        </p:spPr>
        <p:txBody>
          <a:bodyPr anchor="t" rtlCol="false" tIns="0" lIns="0" bIns="0" rIns="0">
            <a:spAutoFit/>
          </a:bodyPr>
          <a:lstStyle/>
          <a:p>
            <a:pPr algn="r">
              <a:lnSpc>
                <a:spcPts val="3456"/>
              </a:lnSpc>
            </a:pPr>
            <a:r>
              <a:rPr lang="en-US" b="true" sz="2400">
                <a:solidFill>
                  <a:srgbClr val="EFE8DD"/>
                </a:solidFill>
                <a:latin typeface="Helvetica World Bold"/>
                <a:ea typeface="Helvetica World Bold"/>
                <a:cs typeface="Helvetica World Bold"/>
                <a:sym typeface="Helvetica World Bold"/>
              </a:rPr>
              <a:t>08</a:t>
            </a:r>
          </a:p>
        </p:txBody>
      </p:sp>
      <p:sp>
        <p:nvSpPr>
          <p:cNvPr name="TextBox 24" id="24"/>
          <p:cNvSpPr txBox="true"/>
          <p:nvPr/>
        </p:nvSpPr>
        <p:spPr>
          <a:xfrm rot="0">
            <a:off x="2045253" y="3627404"/>
            <a:ext cx="2912993" cy="1007412"/>
          </a:xfrm>
          <a:prstGeom prst="rect">
            <a:avLst/>
          </a:prstGeom>
        </p:spPr>
        <p:txBody>
          <a:bodyPr anchor="t" rtlCol="false" tIns="0" lIns="0" bIns="0" rIns="0">
            <a:spAutoFit/>
          </a:bodyPr>
          <a:lstStyle/>
          <a:p>
            <a:pPr algn="ctr">
              <a:lnSpc>
                <a:spcPts val="4031"/>
              </a:lnSpc>
            </a:pPr>
            <a:r>
              <a:rPr lang="en-US" sz="2879" b="true">
                <a:solidFill>
                  <a:srgbClr val="FFFFFF"/>
                </a:solidFill>
                <a:latin typeface="Open Sans Bold"/>
                <a:ea typeface="Open Sans Bold"/>
                <a:cs typeface="Open Sans Bold"/>
                <a:sym typeface="Open Sans Bold"/>
              </a:rPr>
              <a:t>P</a:t>
            </a:r>
            <a:r>
              <a:rPr lang="en-US" b="true" sz="2879">
                <a:solidFill>
                  <a:srgbClr val="FFFFFF"/>
                </a:solidFill>
                <a:latin typeface="Open Sans Bold"/>
                <a:ea typeface="Open Sans Bold"/>
                <a:cs typeface="Open Sans Bold"/>
                <a:sym typeface="Open Sans Bold"/>
              </a:rPr>
              <a:t>roximity to the client</a:t>
            </a:r>
          </a:p>
        </p:txBody>
      </p:sp>
      <p:sp>
        <p:nvSpPr>
          <p:cNvPr name="TextBox 25" id="25"/>
          <p:cNvSpPr txBox="true"/>
          <p:nvPr/>
        </p:nvSpPr>
        <p:spPr>
          <a:xfrm rot="0">
            <a:off x="7687503" y="3716727"/>
            <a:ext cx="2912993" cy="495705"/>
          </a:xfrm>
          <a:prstGeom prst="rect">
            <a:avLst/>
          </a:prstGeom>
        </p:spPr>
        <p:txBody>
          <a:bodyPr anchor="t" rtlCol="false" tIns="0" lIns="0" bIns="0" rIns="0">
            <a:spAutoFit/>
          </a:bodyPr>
          <a:lstStyle/>
          <a:p>
            <a:pPr algn="ctr">
              <a:lnSpc>
                <a:spcPts val="4031"/>
              </a:lnSpc>
            </a:pPr>
            <a:r>
              <a:rPr lang="en-US" sz="2879" b="true">
                <a:solidFill>
                  <a:srgbClr val="FFFFFF"/>
                </a:solidFill>
                <a:latin typeface="Open Sans Bold"/>
                <a:ea typeface="Open Sans Bold"/>
                <a:cs typeface="Open Sans Bold"/>
                <a:sym typeface="Open Sans Bold"/>
              </a:rPr>
              <a:t>Iterative work</a:t>
            </a:r>
          </a:p>
        </p:txBody>
      </p:sp>
      <p:sp>
        <p:nvSpPr>
          <p:cNvPr name="TextBox 26" id="26"/>
          <p:cNvSpPr txBox="true"/>
          <p:nvPr/>
        </p:nvSpPr>
        <p:spPr>
          <a:xfrm rot="0">
            <a:off x="13602303" y="3716727"/>
            <a:ext cx="2912993" cy="1007412"/>
          </a:xfrm>
          <a:prstGeom prst="rect">
            <a:avLst/>
          </a:prstGeom>
        </p:spPr>
        <p:txBody>
          <a:bodyPr anchor="t" rtlCol="false" tIns="0" lIns="0" bIns="0" rIns="0">
            <a:spAutoFit/>
          </a:bodyPr>
          <a:lstStyle/>
          <a:p>
            <a:pPr algn="ctr">
              <a:lnSpc>
                <a:spcPts val="4031"/>
              </a:lnSpc>
            </a:pPr>
            <a:r>
              <a:rPr lang="en-US" sz="2879" b="true">
                <a:solidFill>
                  <a:srgbClr val="FFFFFF"/>
                </a:solidFill>
                <a:latin typeface="Open Sans Bold"/>
                <a:ea typeface="Open Sans Bold"/>
                <a:cs typeface="Open Sans Bold"/>
                <a:sym typeface="Open Sans Bold"/>
              </a:rPr>
              <a:t>Constant feedback</a:t>
            </a:r>
          </a:p>
        </p:txBody>
      </p:sp>
      <p:sp>
        <p:nvSpPr>
          <p:cNvPr name="TextBox 27" id="27"/>
          <p:cNvSpPr txBox="true"/>
          <p:nvPr/>
        </p:nvSpPr>
        <p:spPr>
          <a:xfrm rot="0">
            <a:off x="7821562" y="5475184"/>
            <a:ext cx="2912993" cy="488824"/>
          </a:xfrm>
          <a:prstGeom prst="rect">
            <a:avLst/>
          </a:prstGeom>
        </p:spPr>
        <p:txBody>
          <a:bodyPr anchor="t" rtlCol="false" tIns="0" lIns="0" bIns="0" rIns="0">
            <a:spAutoFit/>
          </a:bodyPr>
          <a:lstStyle/>
          <a:p>
            <a:pPr algn="ctr">
              <a:lnSpc>
                <a:spcPts val="4031"/>
              </a:lnSpc>
            </a:pPr>
            <a:r>
              <a:rPr lang="en-US" b="true" sz="2879" u="sng">
                <a:solidFill>
                  <a:srgbClr val="FFFFFF"/>
                </a:solidFill>
                <a:latin typeface="Open Sans Bold"/>
                <a:ea typeface="Open Sans Bold"/>
                <a:cs typeface="Open Sans Bold"/>
                <a:sym typeface="Open Sans Bold"/>
              </a:rPr>
              <a:t>Roles</a:t>
            </a:r>
          </a:p>
        </p:txBody>
      </p:sp>
      <p:sp>
        <p:nvSpPr>
          <p:cNvPr name="TextBox 28" id="28"/>
          <p:cNvSpPr txBox="true"/>
          <p:nvPr/>
        </p:nvSpPr>
        <p:spPr>
          <a:xfrm rot="0">
            <a:off x="4908569" y="6133017"/>
            <a:ext cx="2912993" cy="495705"/>
          </a:xfrm>
          <a:prstGeom prst="rect">
            <a:avLst/>
          </a:prstGeom>
        </p:spPr>
        <p:txBody>
          <a:bodyPr anchor="t" rtlCol="false" tIns="0" lIns="0" bIns="0" rIns="0">
            <a:spAutoFit/>
          </a:bodyPr>
          <a:lstStyle/>
          <a:p>
            <a:pPr algn="ctr">
              <a:lnSpc>
                <a:spcPts val="4031"/>
              </a:lnSpc>
            </a:pPr>
            <a:r>
              <a:rPr lang="en-US" sz="2879" b="true">
                <a:solidFill>
                  <a:srgbClr val="FFFFFF"/>
                </a:solidFill>
                <a:latin typeface="Open Sans Bold"/>
                <a:ea typeface="Open Sans Bold"/>
                <a:cs typeface="Open Sans Bold"/>
                <a:sym typeface="Open Sans Bold"/>
              </a:rPr>
              <a:t>Marcelo Darras</a:t>
            </a:r>
          </a:p>
        </p:txBody>
      </p:sp>
      <p:sp>
        <p:nvSpPr>
          <p:cNvPr name="TextBox 29" id="29"/>
          <p:cNvSpPr txBox="true"/>
          <p:nvPr/>
        </p:nvSpPr>
        <p:spPr>
          <a:xfrm rot="0">
            <a:off x="4908569" y="6837646"/>
            <a:ext cx="2912993" cy="709168"/>
          </a:xfrm>
          <a:prstGeom prst="rect">
            <a:avLst/>
          </a:prstGeom>
        </p:spPr>
        <p:txBody>
          <a:bodyPr anchor="t" rtlCol="false" tIns="0" lIns="0" bIns="0" rIns="0">
            <a:spAutoFit/>
          </a:bodyPr>
          <a:lstStyle/>
          <a:p>
            <a:pPr algn="ctr" marL="449068" indent="-224534" lvl="1">
              <a:lnSpc>
                <a:spcPts val="2911"/>
              </a:lnSpc>
              <a:buFont typeface="Arial"/>
              <a:buChar char="•"/>
            </a:pPr>
            <a:r>
              <a:rPr lang="en-US" b="true" sz="2079">
                <a:solidFill>
                  <a:srgbClr val="FFFFFF"/>
                </a:solidFill>
                <a:latin typeface="Open Sans Bold"/>
                <a:ea typeface="Open Sans Bold"/>
                <a:cs typeface="Open Sans Bold"/>
                <a:sym typeface="Open Sans Bold"/>
              </a:rPr>
              <a:t>Project Lead</a:t>
            </a:r>
          </a:p>
          <a:p>
            <a:pPr algn="ctr" marL="449068" indent="-224534" lvl="1">
              <a:lnSpc>
                <a:spcPts val="2911"/>
              </a:lnSpc>
              <a:buFont typeface="Arial"/>
              <a:buChar char="•"/>
            </a:pPr>
            <a:r>
              <a:rPr lang="en-US" b="true" sz="2079">
                <a:solidFill>
                  <a:srgbClr val="FFFFFF"/>
                </a:solidFill>
                <a:latin typeface="Open Sans Bold"/>
                <a:ea typeface="Open Sans Bold"/>
                <a:cs typeface="Open Sans Bold"/>
                <a:sym typeface="Open Sans Bold"/>
              </a:rPr>
              <a:t>Backend Lead</a:t>
            </a:r>
          </a:p>
        </p:txBody>
      </p:sp>
      <p:sp>
        <p:nvSpPr>
          <p:cNvPr name="TextBox 30" id="30"/>
          <p:cNvSpPr txBox="true"/>
          <p:nvPr/>
        </p:nvSpPr>
        <p:spPr>
          <a:xfrm rot="0">
            <a:off x="10734555" y="6133017"/>
            <a:ext cx="2912993" cy="495705"/>
          </a:xfrm>
          <a:prstGeom prst="rect">
            <a:avLst/>
          </a:prstGeom>
        </p:spPr>
        <p:txBody>
          <a:bodyPr anchor="t" rtlCol="false" tIns="0" lIns="0" bIns="0" rIns="0">
            <a:spAutoFit/>
          </a:bodyPr>
          <a:lstStyle/>
          <a:p>
            <a:pPr algn="ctr">
              <a:lnSpc>
                <a:spcPts val="4031"/>
              </a:lnSpc>
            </a:pPr>
            <a:r>
              <a:rPr lang="en-US" sz="2879" b="true">
                <a:solidFill>
                  <a:srgbClr val="FFFFFF"/>
                </a:solidFill>
                <a:latin typeface="Open Sans Bold"/>
                <a:ea typeface="Open Sans Bold"/>
                <a:cs typeface="Open Sans Bold"/>
                <a:sym typeface="Open Sans Bold"/>
              </a:rPr>
              <a:t>Jesús Delgado</a:t>
            </a:r>
          </a:p>
        </p:txBody>
      </p:sp>
      <p:sp>
        <p:nvSpPr>
          <p:cNvPr name="TextBox 31" id="31"/>
          <p:cNvSpPr txBox="true"/>
          <p:nvPr/>
        </p:nvSpPr>
        <p:spPr>
          <a:xfrm rot="0">
            <a:off x="10734555" y="6837646"/>
            <a:ext cx="2912993" cy="1071118"/>
          </a:xfrm>
          <a:prstGeom prst="rect">
            <a:avLst/>
          </a:prstGeom>
        </p:spPr>
        <p:txBody>
          <a:bodyPr anchor="t" rtlCol="false" tIns="0" lIns="0" bIns="0" rIns="0">
            <a:spAutoFit/>
          </a:bodyPr>
          <a:lstStyle/>
          <a:p>
            <a:pPr algn="ctr" marL="449068" indent="-224534" lvl="1">
              <a:lnSpc>
                <a:spcPts val="2911"/>
              </a:lnSpc>
              <a:buFont typeface="Arial"/>
              <a:buChar char="•"/>
            </a:pPr>
            <a:r>
              <a:rPr lang="en-US" b="true" sz="2079">
                <a:solidFill>
                  <a:srgbClr val="FFFFFF"/>
                </a:solidFill>
                <a:latin typeface="Open Sans Bold"/>
                <a:ea typeface="Open Sans Bold"/>
                <a:cs typeface="Open Sans Bold"/>
                <a:sym typeface="Open Sans Bold"/>
              </a:rPr>
              <a:t>Documentation Lead</a:t>
            </a:r>
          </a:p>
          <a:p>
            <a:pPr algn="ctr" marL="449068" indent="-224534" lvl="1">
              <a:lnSpc>
                <a:spcPts val="2911"/>
              </a:lnSpc>
              <a:buFont typeface="Arial"/>
              <a:buChar char="•"/>
            </a:pPr>
            <a:r>
              <a:rPr lang="en-US" b="true" sz="2079">
                <a:solidFill>
                  <a:srgbClr val="FFFFFF"/>
                </a:solidFill>
                <a:latin typeface="Open Sans Bold"/>
                <a:ea typeface="Open Sans Bold"/>
                <a:cs typeface="Open Sans Bold"/>
                <a:sym typeface="Open Sans Bold"/>
              </a:rPr>
              <a:t>Frontend Lead</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aphicFrame>
        <p:nvGraphicFramePr>
          <p:cNvPr name="Object 2" id="2"/>
          <p:cNvGraphicFramePr/>
          <p:nvPr/>
        </p:nvGraphicFramePr>
        <p:xfrm>
          <a:off x="8481700" y="4668899"/>
          <a:ext cx="1324599" cy="949203"/>
        </p:xfrm>
        <a:graphic>
          <a:graphicData uri="http://schemas.openxmlformats.org/presentationml/2006/ole">
            <p:oleObj imgW="1574800" imgH="12065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graphicFrame>
        <p:nvGraphicFramePr>
          <p:cNvPr name="Object 3" id="3"/>
          <p:cNvGraphicFramePr/>
          <p:nvPr/>
        </p:nvGraphicFramePr>
        <p:xfrm>
          <a:off x="0" y="1283097"/>
          <a:ext cx="18288000" cy="9003903"/>
        </p:xfrm>
        <a:graphic>
          <a:graphicData uri="http://schemas.openxmlformats.org/presentationml/2006/ole">
            <p:oleObj imgW="21945600" imgH="12649200" r:id="rId5" progId="Excel.Sheet.12" name="Worksheet">
              <p:embed/>
              <p:pic>
                <p:nvPicPr>
                  <p:cNvPr name="" id="0"/>
                  <p:cNvPicPr/>
                  <p:nvPr/>
                </p:nvPicPr>
                <p:blipFill>
                  <a:blip r:embed="rId4"/>
                  <a:stretch>
                    <a:fillRect/>
                  </a:stretch>
                </p:blipFill>
                <p:spPr>
                  <a:xfrm>
                    <a:off x="1270000" y="1270000"/>
                    <a:ext cx="1270000" cy="1270000"/>
                  </a:xfrm>
                  <a:prstGeom prst="rect"/>
                </p:spPr>
              </p:pic>
            </p:oleObj>
          </a:graphicData>
        </a:graphic>
      </p:graphicFrame>
      <p:sp>
        <p:nvSpPr>
          <p:cNvPr name="TextBox 4" id="4"/>
          <p:cNvSpPr txBox="true"/>
          <p:nvPr/>
        </p:nvSpPr>
        <p:spPr>
          <a:xfrm rot="0">
            <a:off x="12858299" y="494980"/>
            <a:ext cx="4401001" cy="450723"/>
          </a:xfrm>
          <a:prstGeom prst="rect">
            <a:avLst/>
          </a:prstGeom>
        </p:spPr>
        <p:txBody>
          <a:bodyPr anchor="t" rtlCol="false" tIns="0" lIns="0" bIns="0" rIns="0">
            <a:spAutoFit/>
          </a:bodyPr>
          <a:lstStyle/>
          <a:p>
            <a:pPr algn="r">
              <a:lnSpc>
                <a:spcPts val="3456"/>
              </a:lnSpc>
            </a:pPr>
            <a:r>
              <a:rPr lang="en-US" b="true" sz="2400">
                <a:solidFill>
                  <a:srgbClr val="3A3A3A"/>
                </a:solidFill>
                <a:latin typeface="Helvetica World Bold"/>
                <a:ea typeface="Helvetica World Bold"/>
                <a:cs typeface="Helvetica World Bold"/>
                <a:sym typeface="Helvetica World Bold"/>
              </a:rPr>
              <a:t>09</a:t>
            </a:r>
          </a:p>
        </p:txBody>
      </p:sp>
      <p:sp>
        <p:nvSpPr>
          <p:cNvPr name="TextBox 5" id="5"/>
          <p:cNvSpPr txBox="true"/>
          <p:nvPr/>
        </p:nvSpPr>
        <p:spPr>
          <a:xfrm rot="0">
            <a:off x="4459193" y="161285"/>
            <a:ext cx="9369615" cy="867415"/>
          </a:xfrm>
          <a:prstGeom prst="rect">
            <a:avLst/>
          </a:prstGeom>
        </p:spPr>
        <p:txBody>
          <a:bodyPr anchor="t" rtlCol="false" tIns="0" lIns="0" bIns="0" rIns="0">
            <a:spAutoFit/>
          </a:bodyPr>
          <a:lstStyle/>
          <a:p>
            <a:pPr algn="ctr">
              <a:lnSpc>
                <a:spcPts val="6400"/>
              </a:lnSpc>
            </a:pPr>
            <a:r>
              <a:rPr lang="en-US" b="true" sz="6400" spc="-96">
                <a:solidFill>
                  <a:srgbClr val="202020"/>
                </a:solidFill>
                <a:latin typeface="Cy Grotesk Key Semi-Bold"/>
                <a:ea typeface="Cy Grotesk Key Semi-Bold"/>
                <a:cs typeface="Cy Grotesk Key Semi-Bold"/>
                <a:sym typeface="Cy Grotesk Key Semi-Bold"/>
              </a:rPr>
              <a:t>Timeline</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48710" y="9258300"/>
            <a:ext cx="19785420" cy="597310"/>
            <a:chOff x="0" y="0"/>
            <a:chExt cx="5210975" cy="157316"/>
          </a:xfrm>
        </p:grpSpPr>
        <p:sp>
          <p:nvSpPr>
            <p:cNvPr name="Freeform 3" id="3"/>
            <p:cNvSpPr/>
            <p:nvPr/>
          </p:nvSpPr>
          <p:spPr>
            <a:xfrm flipH="false" flipV="false" rot="0">
              <a:off x="0" y="0"/>
              <a:ext cx="5210975" cy="157316"/>
            </a:xfrm>
            <a:custGeom>
              <a:avLst/>
              <a:gdLst/>
              <a:ahLst/>
              <a:cxnLst/>
              <a:rect r="r" b="b" t="t" l="l"/>
              <a:pathLst>
                <a:path h="157316" w="5210975">
                  <a:moveTo>
                    <a:pt x="19956" y="0"/>
                  </a:moveTo>
                  <a:lnTo>
                    <a:pt x="5191019" y="0"/>
                  </a:lnTo>
                  <a:cubicBezTo>
                    <a:pt x="5202040" y="0"/>
                    <a:pt x="5210975" y="8935"/>
                    <a:pt x="5210975" y="19956"/>
                  </a:cubicBezTo>
                  <a:lnTo>
                    <a:pt x="5210975" y="137360"/>
                  </a:lnTo>
                  <a:cubicBezTo>
                    <a:pt x="5210975" y="142653"/>
                    <a:pt x="5208872" y="147729"/>
                    <a:pt x="5205130" y="151471"/>
                  </a:cubicBezTo>
                  <a:cubicBezTo>
                    <a:pt x="5201388" y="155214"/>
                    <a:pt x="5196312" y="157316"/>
                    <a:pt x="5191019" y="157316"/>
                  </a:cubicBezTo>
                  <a:lnTo>
                    <a:pt x="19956" y="157316"/>
                  </a:lnTo>
                  <a:cubicBezTo>
                    <a:pt x="8935" y="157316"/>
                    <a:pt x="0" y="148382"/>
                    <a:pt x="0" y="137360"/>
                  </a:cubicBezTo>
                  <a:lnTo>
                    <a:pt x="0" y="19956"/>
                  </a:lnTo>
                  <a:cubicBezTo>
                    <a:pt x="0" y="8935"/>
                    <a:pt x="8935" y="0"/>
                    <a:pt x="19956" y="0"/>
                  </a:cubicBezTo>
                  <a:close/>
                </a:path>
              </a:pathLst>
            </a:custGeom>
            <a:solidFill>
              <a:srgbClr val="A03E3C"/>
            </a:solidFill>
          </p:spPr>
        </p:sp>
        <p:sp>
          <p:nvSpPr>
            <p:cNvPr name="TextBox 4" id="4"/>
            <p:cNvSpPr txBox="true"/>
            <p:nvPr/>
          </p:nvSpPr>
          <p:spPr>
            <a:xfrm>
              <a:off x="0" y="-38100"/>
              <a:ext cx="5210975" cy="195416"/>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9820043" y="3889050"/>
            <a:ext cx="3424054" cy="2508900"/>
            <a:chOff x="0" y="0"/>
            <a:chExt cx="2448885" cy="1794366"/>
          </a:xfrm>
        </p:grpSpPr>
        <p:sp>
          <p:nvSpPr>
            <p:cNvPr name="Freeform 6" id="6"/>
            <p:cNvSpPr/>
            <p:nvPr/>
          </p:nvSpPr>
          <p:spPr>
            <a:xfrm flipH="false" flipV="false" rot="0">
              <a:off x="0" y="0"/>
              <a:ext cx="2448885" cy="1794366"/>
            </a:xfrm>
            <a:custGeom>
              <a:avLst/>
              <a:gdLst/>
              <a:ahLst/>
              <a:cxnLst/>
              <a:rect r="r" b="b" t="t" l="l"/>
              <a:pathLst>
                <a:path h="1794366" w="2448885">
                  <a:moveTo>
                    <a:pt x="162795" y="0"/>
                  </a:moveTo>
                  <a:lnTo>
                    <a:pt x="2286090" y="0"/>
                  </a:lnTo>
                  <a:cubicBezTo>
                    <a:pt x="2375999" y="0"/>
                    <a:pt x="2448885" y="72886"/>
                    <a:pt x="2448885" y="162795"/>
                  </a:cubicBezTo>
                  <a:lnTo>
                    <a:pt x="2448885" y="1631571"/>
                  </a:lnTo>
                  <a:cubicBezTo>
                    <a:pt x="2448885" y="1721480"/>
                    <a:pt x="2375999" y="1794366"/>
                    <a:pt x="2286090" y="1794366"/>
                  </a:cubicBezTo>
                  <a:lnTo>
                    <a:pt x="162795" y="1794366"/>
                  </a:lnTo>
                  <a:cubicBezTo>
                    <a:pt x="119619" y="1794366"/>
                    <a:pt x="78211" y="1777214"/>
                    <a:pt x="47681" y="1746684"/>
                  </a:cubicBezTo>
                  <a:cubicBezTo>
                    <a:pt x="17152" y="1716154"/>
                    <a:pt x="0" y="1674747"/>
                    <a:pt x="0" y="1631571"/>
                  </a:cubicBezTo>
                  <a:lnTo>
                    <a:pt x="0" y="162795"/>
                  </a:lnTo>
                  <a:cubicBezTo>
                    <a:pt x="0" y="72886"/>
                    <a:pt x="72886" y="0"/>
                    <a:pt x="162795" y="0"/>
                  </a:cubicBezTo>
                  <a:close/>
                </a:path>
              </a:pathLst>
            </a:custGeom>
            <a:solidFill>
              <a:srgbClr val="7D2220"/>
            </a:solidFill>
          </p:spPr>
        </p:sp>
        <p:sp>
          <p:nvSpPr>
            <p:cNvPr name="TextBox 7" id="7"/>
            <p:cNvSpPr txBox="true"/>
            <p:nvPr/>
          </p:nvSpPr>
          <p:spPr>
            <a:xfrm>
              <a:off x="0" y="95250"/>
              <a:ext cx="2448885" cy="1699116"/>
            </a:xfrm>
            <a:prstGeom prst="rect">
              <a:avLst/>
            </a:prstGeom>
          </p:spPr>
          <p:txBody>
            <a:bodyPr anchor="ctr" rtlCol="false" tIns="50800" lIns="50800" bIns="50800" rIns="50800"/>
            <a:lstStyle/>
            <a:p>
              <a:pPr algn="ctr">
                <a:lnSpc>
                  <a:spcPts val="1925"/>
                </a:lnSpc>
              </a:pPr>
            </a:p>
          </p:txBody>
        </p:sp>
      </p:grpSp>
      <p:grpSp>
        <p:nvGrpSpPr>
          <p:cNvPr name="Group 8" id="8"/>
          <p:cNvGrpSpPr/>
          <p:nvPr/>
        </p:nvGrpSpPr>
        <p:grpSpPr>
          <a:xfrm rot="0">
            <a:off x="13920140" y="3889050"/>
            <a:ext cx="3339160" cy="2508900"/>
            <a:chOff x="0" y="0"/>
            <a:chExt cx="2388169" cy="1794366"/>
          </a:xfrm>
        </p:grpSpPr>
        <p:sp>
          <p:nvSpPr>
            <p:cNvPr name="Freeform 9" id="9"/>
            <p:cNvSpPr/>
            <p:nvPr/>
          </p:nvSpPr>
          <p:spPr>
            <a:xfrm flipH="false" flipV="false" rot="0">
              <a:off x="0" y="0"/>
              <a:ext cx="2388169" cy="1794366"/>
            </a:xfrm>
            <a:custGeom>
              <a:avLst/>
              <a:gdLst/>
              <a:ahLst/>
              <a:cxnLst/>
              <a:rect r="r" b="b" t="t" l="l"/>
              <a:pathLst>
                <a:path h="1794366" w="2388169">
                  <a:moveTo>
                    <a:pt x="166934" y="0"/>
                  </a:moveTo>
                  <a:lnTo>
                    <a:pt x="2221235" y="0"/>
                  </a:lnTo>
                  <a:cubicBezTo>
                    <a:pt x="2265508" y="0"/>
                    <a:pt x="2307969" y="17588"/>
                    <a:pt x="2339275" y="48894"/>
                  </a:cubicBezTo>
                  <a:cubicBezTo>
                    <a:pt x="2370581" y="80200"/>
                    <a:pt x="2388169" y="122660"/>
                    <a:pt x="2388169" y="166934"/>
                  </a:cubicBezTo>
                  <a:lnTo>
                    <a:pt x="2388169" y="1627432"/>
                  </a:lnTo>
                  <a:cubicBezTo>
                    <a:pt x="2388169" y="1719627"/>
                    <a:pt x="2313430" y="1794366"/>
                    <a:pt x="2221235" y="1794366"/>
                  </a:cubicBezTo>
                  <a:lnTo>
                    <a:pt x="166934" y="1794366"/>
                  </a:lnTo>
                  <a:cubicBezTo>
                    <a:pt x="122660" y="1794366"/>
                    <a:pt x="80200" y="1776778"/>
                    <a:pt x="48894" y="1745472"/>
                  </a:cubicBezTo>
                  <a:cubicBezTo>
                    <a:pt x="17588" y="1714166"/>
                    <a:pt x="0" y="1671706"/>
                    <a:pt x="0" y="1627432"/>
                  </a:cubicBezTo>
                  <a:lnTo>
                    <a:pt x="0" y="166934"/>
                  </a:lnTo>
                  <a:cubicBezTo>
                    <a:pt x="0" y="74739"/>
                    <a:pt x="74739" y="0"/>
                    <a:pt x="166934" y="0"/>
                  </a:cubicBezTo>
                  <a:close/>
                </a:path>
              </a:pathLst>
            </a:custGeom>
            <a:solidFill>
              <a:srgbClr val="A03E3C"/>
            </a:solidFill>
          </p:spPr>
        </p:sp>
        <p:sp>
          <p:nvSpPr>
            <p:cNvPr name="TextBox 10" id="10"/>
            <p:cNvSpPr txBox="true"/>
            <p:nvPr/>
          </p:nvSpPr>
          <p:spPr>
            <a:xfrm>
              <a:off x="0" y="95250"/>
              <a:ext cx="2388169" cy="1699116"/>
            </a:xfrm>
            <a:prstGeom prst="rect">
              <a:avLst/>
            </a:prstGeom>
          </p:spPr>
          <p:txBody>
            <a:bodyPr anchor="ctr" rtlCol="false" tIns="50800" lIns="50800" bIns="50800" rIns="50800"/>
            <a:lstStyle/>
            <a:p>
              <a:pPr algn="ctr">
                <a:lnSpc>
                  <a:spcPts val="1925"/>
                </a:lnSpc>
              </a:pPr>
            </a:p>
          </p:txBody>
        </p:sp>
      </p:grpSp>
      <p:sp>
        <p:nvSpPr>
          <p:cNvPr name="Freeform 11" id="11"/>
          <p:cNvSpPr/>
          <p:nvPr/>
        </p:nvSpPr>
        <p:spPr>
          <a:xfrm flipH="false" flipV="false" rot="0">
            <a:off x="10852391" y="4821211"/>
            <a:ext cx="560581" cy="560581"/>
          </a:xfrm>
          <a:custGeom>
            <a:avLst/>
            <a:gdLst/>
            <a:ahLst/>
            <a:cxnLst/>
            <a:rect r="r" b="b" t="t" l="l"/>
            <a:pathLst>
              <a:path h="560581" w="560581">
                <a:moveTo>
                  <a:pt x="0" y="0"/>
                </a:moveTo>
                <a:lnTo>
                  <a:pt x="560581" y="0"/>
                </a:lnTo>
                <a:lnTo>
                  <a:pt x="560581" y="560581"/>
                </a:lnTo>
                <a:lnTo>
                  <a:pt x="0" y="560581"/>
                </a:lnTo>
                <a:lnTo>
                  <a:pt x="0" y="0"/>
                </a:lnTo>
                <a:close/>
              </a:path>
            </a:pathLst>
          </a:custGeom>
          <a:blipFill>
            <a:blip r:embed="rId2"/>
            <a:stretch>
              <a:fillRect l="0" t="0" r="0" b="0"/>
            </a:stretch>
          </a:blipFill>
        </p:spPr>
      </p:sp>
      <p:sp>
        <p:nvSpPr>
          <p:cNvPr name="Freeform 12" id="12"/>
          <p:cNvSpPr/>
          <p:nvPr/>
        </p:nvSpPr>
        <p:spPr>
          <a:xfrm flipH="false" flipV="false" rot="0">
            <a:off x="11733619" y="4835178"/>
            <a:ext cx="546614" cy="546614"/>
          </a:xfrm>
          <a:custGeom>
            <a:avLst/>
            <a:gdLst/>
            <a:ahLst/>
            <a:cxnLst/>
            <a:rect r="r" b="b" t="t" l="l"/>
            <a:pathLst>
              <a:path h="546614" w="546614">
                <a:moveTo>
                  <a:pt x="0" y="0"/>
                </a:moveTo>
                <a:lnTo>
                  <a:pt x="546614" y="0"/>
                </a:lnTo>
                <a:lnTo>
                  <a:pt x="546614" y="546614"/>
                </a:lnTo>
                <a:lnTo>
                  <a:pt x="0" y="546614"/>
                </a:lnTo>
                <a:lnTo>
                  <a:pt x="0" y="0"/>
                </a:lnTo>
                <a:close/>
              </a:path>
            </a:pathLst>
          </a:custGeom>
          <a:blipFill>
            <a:blip r:embed="rId3"/>
            <a:stretch>
              <a:fillRect l="0" t="0" r="0" b="0"/>
            </a:stretch>
          </a:blipFill>
        </p:spPr>
      </p:sp>
      <p:sp>
        <p:nvSpPr>
          <p:cNvPr name="Freeform 13" id="13"/>
          <p:cNvSpPr/>
          <p:nvPr/>
        </p:nvSpPr>
        <p:spPr>
          <a:xfrm flipH="false" flipV="false" rot="0">
            <a:off x="10343660" y="5512327"/>
            <a:ext cx="414275" cy="414275"/>
          </a:xfrm>
          <a:custGeom>
            <a:avLst/>
            <a:gdLst/>
            <a:ahLst/>
            <a:cxnLst/>
            <a:rect r="r" b="b" t="t" l="l"/>
            <a:pathLst>
              <a:path h="414275" w="414275">
                <a:moveTo>
                  <a:pt x="0" y="0"/>
                </a:moveTo>
                <a:lnTo>
                  <a:pt x="414275" y="0"/>
                </a:lnTo>
                <a:lnTo>
                  <a:pt x="414275" y="414275"/>
                </a:lnTo>
                <a:lnTo>
                  <a:pt x="0" y="414275"/>
                </a:lnTo>
                <a:lnTo>
                  <a:pt x="0" y="0"/>
                </a:lnTo>
                <a:close/>
              </a:path>
            </a:pathLst>
          </a:custGeom>
          <a:blipFill>
            <a:blip r:embed="rId4"/>
            <a:stretch>
              <a:fillRect l="0" t="0" r="0" b="0"/>
            </a:stretch>
          </a:blipFill>
        </p:spPr>
      </p:sp>
      <p:sp>
        <p:nvSpPr>
          <p:cNvPr name="Freeform 14" id="14"/>
          <p:cNvSpPr/>
          <p:nvPr/>
        </p:nvSpPr>
        <p:spPr>
          <a:xfrm flipH="false" flipV="false" rot="0">
            <a:off x="11251779" y="5423791"/>
            <a:ext cx="627090" cy="627090"/>
          </a:xfrm>
          <a:custGeom>
            <a:avLst/>
            <a:gdLst/>
            <a:ahLst/>
            <a:cxnLst/>
            <a:rect r="r" b="b" t="t" l="l"/>
            <a:pathLst>
              <a:path h="627090" w="627090">
                <a:moveTo>
                  <a:pt x="0" y="0"/>
                </a:moveTo>
                <a:lnTo>
                  <a:pt x="627090" y="0"/>
                </a:lnTo>
                <a:lnTo>
                  <a:pt x="627090" y="627089"/>
                </a:lnTo>
                <a:lnTo>
                  <a:pt x="0" y="627089"/>
                </a:lnTo>
                <a:lnTo>
                  <a:pt x="0" y="0"/>
                </a:lnTo>
                <a:close/>
              </a:path>
            </a:pathLst>
          </a:custGeom>
          <a:blipFill>
            <a:blip r:embed="rId5"/>
            <a:stretch>
              <a:fillRect l="0" t="0" r="0" b="0"/>
            </a:stretch>
          </a:blipFill>
        </p:spPr>
      </p:sp>
      <p:sp>
        <p:nvSpPr>
          <p:cNvPr name="Freeform 15" id="15"/>
          <p:cNvSpPr/>
          <p:nvPr/>
        </p:nvSpPr>
        <p:spPr>
          <a:xfrm flipH="false" flipV="false" rot="0">
            <a:off x="12374169" y="5512327"/>
            <a:ext cx="461960" cy="461960"/>
          </a:xfrm>
          <a:custGeom>
            <a:avLst/>
            <a:gdLst/>
            <a:ahLst/>
            <a:cxnLst/>
            <a:rect r="r" b="b" t="t" l="l"/>
            <a:pathLst>
              <a:path h="461960" w="461960">
                <a:moveTo>
                  <a:pt x="0" y="0"/>
                </a:moveTo>
                <a:lnTo>
                  <a:pt x="461960" y="0"/>
                </a:lnTo>
                <a:lnTo>
                  <a:pt x="461960" y="461959"/>
                </a:lnTo>
                <a:lnTo>
                  <a:pt x="0" y="461959"/>
                </a:lnTo>
                <a:lnTo>
                  <a:pt x="0" y="0"/>
                </a:lnTo>
                <a:close/>
              </a:path>
            </a:pathLst>
          </a:custGeom>
          <a:blipFill>
            <a:blip r:embed="rId6"/>
            <a:stretch>
              <a:fillRect l="0" t="0" r="0" b="0"/>
            </a:stretch>
          </a:blipFill>
        </p:spPr>
      </p:sp>
      <p:sp>
        <p:nvSpPr>
          <p:cNvPr name="Freeform 16" id="16"/>
          <p:cNvSpPr/>
          <p:nvPr/>
        </p:nvSpPr>
        <p:spPr>
          <a:xfrm flipH="false" flipV="false" rot="0">
            <a:off x="15296819" y="4748896"/>
            <a:ext cx="585802" cy="585802"/>
          </a:xfrm>
          <a:custGeom>
            <a:avLst/>
            <a:gdLst/>
            <a:ahLst/>
            <a:cxnLst/>
            <a:rect r="r" b="b" t="t" l="l"/>
            <a:pathLst>
              <a:path h="585802" w="585802">
                <a:moveTo>
                  <a:pt x="0" y="0"/>
                </a:moveTo>
                <a:lnTo>
                  <a:pt x="585802" y="0"/>
                </a:lnTo>
                <a:lnTo>
                  <a:pt x="585802" y="585801"/>
                </a:lnTo>
                <a:lnTo>
                  <a:pt x="0" y="585801"/>
                </a:lnTo>
                <a:lnTo>
                  <a:pt x="0" y="0"/>
                </a:lnTo>
                <a:close/>
              </a:path>
            </a:pathLst>
          </a:custGeom>
          <a:blipFill>
            <a:blip r:embed="rId7"/>
            <a:stretch>
              <a:fillRect l="0" t="0" r="0" b="0"/>
            </a:stretch>
          </a:blipFill>
        </p:spPr>
      </p:sp>
      <p:sp>
        <p:nvSpPr>
          <p:cNvPr name="Freeform 17" id="17"/>
          <p:cNvSpPr/>
          <p:nvPr/>
        </p:nvSpPr>
        <p:spPr>
          <a:xfrm flipH="false" flipV="false" rot="0">
            <a:off x="15729433" y="5470386"/>
            <a:ext cx="1139337" cy="712086"/>
          </a:xfrm>
          <a:custGeom>
            <a:avLst/>
            <a:gdLst/>
            <a:ahLst/>
            <a:cxnLst/>
            <a:rect r="r" b="b" t="t" l="l"/>
            <a:pathLst>
              <a:path h="712086" w="1139337">
                <a:moveTo>
                  <a:pt x="0" y="0"/>
                </a:moveTo>
                <a:lnTo>
                  <a:pt x="1139338" y="0"/>
                </a:lnTo>
                <a:lnTo>
                  <a:pt x="1139338" y="712086"/>
                </a:lnTo>
                <a:lnTo>
                  <a:pt x="0" y="712086"/>
                </a:lnTo>
                <a:lnTo>
                  <a:pt x="0" y="0"/>
                </a:lnTo>
                <a:close/>
              </a:path>
            </a:pathLst>
          </a:custGeom>
          <a:blipFill>
            <a:blip r:embed="rId8"/>
            <a:stretch>
              <a:fillRect l="0" t="0" r="0" b="0"/>
            </a:stretch>
          </a:blipFill>
        </p:spPr>
      </p:sp>
      <p:sp>
        <p:nvSpPr>
          <p:cNvPr name="Freeform 18" id="18"/>
          <p:cNvSpPr/>
          <p:nvPr/>
        </p:nvSpPr>
        <p:spPr>
          <a:xfrm flipH="false" flipV="false" rot="0">
            <a:off x="14324508" y="5423791"/>
            <a:ext cx="1205434" cy="805276"/>
          </a:xfrm>
          <a:custGeom>
            <a:avLst/>
            <a:gdLst/>
            <a:ahLst/>
            <a:cxnLst/>
            <a:rect r="r" b="b" t="t" l="l"/>
            <a:pathLst>
              <a:path h="805276" w="1205434">
                <a:moveTo>
                  <a:pt x="0" y="0"/>
                </a:moveTo>
                <a:lnTo>
                  <a:pt x="1205433" y="0"/>
                </a:lnTo>
                <a:lnTo>
                  <a:pt x="1205433" y="805276"/>
                </a:lnTo>
                <a:lnTo>
                  <a:pt x="0" y="805276"/>
                </a:lnTo>
                <a:lnTo>
                  <a:pt x="0" y="0"/>
                </a:lnTo>
                <a:close/>
              </a:path>
            </a:pathLst>
          </a:custGeom>
          <a:blipFill>
            <a:blip r:embed="rId9"/>
            <a:stretch>
              <a:fillRect l="0" t="0" r="0" b="0"/>
            </a:stretch>
          </a:blipFill>
        </p:spPr>
      </p:sp>
      <p:sp>
        <p:nvSpPr>
          <p:cNvPr name="Freeform 19" id="19"/>
          <p:cNvSpPr/>
          <p:nvPr/>
        </p:nvSpPr>
        <p:spPr>
          <a:xfrm flipH="false" flipV="false" rot="0">
            <a:off x="16299102" y="542605"/>
            <a:ext cx="1567784" cy="1571713"/>
          </a:xfrm>
          <a:custGeom>
            <a:avLst/>
            <a:gdLst/>
            <a:ahLst/>
            <a:cxnLst/>
            <a:rect r="r" b="b" t="t" l="l"/>
            <a:pathLst>
              <a:path h="1571713" w="1567784">
                <a:moveTo>
                  <a:pt x="0" y="0"/>
                </a:moveTo>
                <a:lnTo>
                  <a:pt x="1567784" y="0"/>
                </a:lnTo>
                <a:lnTo>
                  <a:pt x="1567784" y="1571713"/>
                </a:lnTo>
                <a:lnTo>
                  <a:pt x="0" y="1571713"/>
                </a:lnTo>
                <a:lnTo>
                  <a:pt x="0" y="0"/>
                </a:lnTo>
                <a:close/>
              </a:path>
            </a:pathLst>
          </a:custGeom>
          <a:blipFill>
            <a:blip r:embed="rId10"/>
            <a:stretch>
              <a:fillRect l="0" t="0" r="0" b="0"/>
            </a:stretch>
          </a:blipFill>
        </p:spPr>
      </p:sp>
      <p:sp>
        <p:nvSpPr>
          <p:cNvPr name="Freeform 20" id="20"/>
          <p:cNvSpPr/>
          <p:nvPr/>
        </p:nvSpPr>
        <p:spPr>
          <a:xfrm flipH="false" flipV="false" rot="-513963">
            <a:off x="16505463" y="821150"/>
            <a:ext cx="1155061" cy="812743"/>
          </a:xfrm>
          <a:custGeom>
            <a:avLst/>
            <a:gdLst/>
            <a:ahLst/>
            <a:cxnLst/>
            <a:rect r="r" b="b" t="t" l="l"/>
            <a:pathLst>
              <a:path h="812743" w="1155061">
                <a:moveTo>
                  <a:pt x="0" y="0"/>
                </a:moveTo>
                <a:lnTo>
                  <a:pt x="1155061" y="0"/>
                </a:lnTo>
                <a:lnTo>
                  <a:pt x="1155061" y="812742"/>
                </a:lnTo>
                <a:lnTo>
                  <a:pt x="0" y="81274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21" id="21"/>
          <p:cNvGrpSpPr/>
          <p:nvPr/>
        </p:nvGrpSpPr>
        <p:grpSpPr>
          <a:xfrm rot="0">
            <a:off x="1988898" y="3406916"/>
            <a:ext cx="3086100" cy="3086100"/>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127941" y="0"/>
                  </a:moveTo>
                  <a:lnTo>
                    <a:pt x="684859" y="0"/>
                  </a:lnTo>
                  <a:cubicBezTo>
                    <a:pt x="718791" y="0"/>
                    <a:pt x="751333" y="13479"/>
                    <a:pt x="775327" y="37473"/>
                  </a:cubicBezTo>
                  <a:cubicBezTo>
                    <a:pt x="799321" y="61467"/>
                    <a:pt x="812800" y="94009"/>
                    <a:pt x="812800" y="127941"/>
                  </a:cubicBezTo>
                  <a:lnTo>
                    <a:pt x="812800" y="684859"/>
                  </a:lnTo>
                  <a:cubicBezTo>
                    <a:pt x="812800" y="718791"/>
                    <a:pt x="799321" y="751333"/>
                    <a:pt x="775327" y="775327"/>
                  </a:cubicBezTo>
                  <a:cubicBezTo>
                    <a:pt x="751333" y="799321"/>
                    <a:pt x="718791" y="812800"/>
                    <a:pt x="684859" y="812800"/>
                  </a:cubicBezTo>
                  <a:lnTo>
                    <a:pt x="127941" y="812800"/>
                  </a:lnTo>
                  <a:cubicBezTo>
                    <a:pt x="94009" y="812800"/>
                    <a:pt x="61467" y="799321"/>
                    <a:pt x="37473" y="775327"/>
                  </a:cubicBezTo>
                  <a:cubicBezTo>
                    <a:pt x="13479" y="751333"/>
                    <a:pt x="0" y="718791"/>
                    <a:pt x="0" y="684859"/>
                  </a:cubicBezTo>
                  <a:lnTo>
                    <a:pt x="0" y="127941"/>
                  </a:lnTo>
                  <a:cubicBezTo>
                    <a:pt x="0" y="94009"/>
                    <a:pt x="13479" y="61467"/>
                    <a:pt x="37473" y="37473"/>
                  </a:cubicBezTo>
                  <a:cubicBezTo>
                    <a:pt x="61467" y="13479"/>
                    <a:pt x="94009" y="0"/>
                    <a:pt x="127941" y="0"/>
                  </a:cubicBezTo>
                  <a:close/>
                </a:path>
              </a:pathLst>
            </a:custGeom>
            <a:solidFill>
              <a:srgbClr val="000000">
                <a:alpha val="0"/>
              </a:srgbClr>
            </a:solidFill>
          </p:spPr>
        </p:sp>
        <p:sp>
          <p:nvSpPr>
            <p:cNvPr name="TextBox 23" id="23"/>
            <p:cNvSpPr txBox="true"/>
            <p:nvPr/>
          </p:nvSpPr>
          <p:spPr>
            <a:xfrm>
              <a:off x="0" y="-47625"/>
              <a:ext cx="812800" cy="860425"/>
            </a:xfrm>
            <a:prstGeom prst="rect">
              <a:avLst/>
            </a:prstGeom>
          </p:spPr>
          <p:txBody>
            <a:bodyPr anchor="ctr" rtlCol="false" tIns="50800" lIns="50800" bIns="50800" rIns="50800"/>
            <a:lstStyle/>
            <a:p>
              <a:pPr algn="ctr">
                <a:lnSpc>
                  <a:spcPts val="3456"/>
                </a:lnSpc>
              </a:pPr>
            </a:p>
          </p:txBody>
        </p:sp>
      </p:grpSp>
      <p:sp>
        <p:nvSpPr>
          <p:cNvPr name="Freeform 24" id="24"/>
          <p:cNvSpPr/>
          <p:nvPr/>
        </p:nvSpPr>
        <p:spPr>
          <a:xfrm flipH="false" flipV="false" rot="0">
            <a:off x="1038639" y="2104310"/>
            <a:ext cx="7705078" cy="5994384"/>
          </a:xfrm>
          <a:custGeom>
            <a:avLst/>
            <a:gdLst/>
            <a:ahLst/>
            <a:cxnLst/>
            <a:rect r="r" b="b" t="t" l="l"/>
            <a:pathLst>
              <a:path h="5994384" w="7705078">
                <a:moveTo>
                  <a:pt x="0" y="0"/>
                </a:moveTo>
                <a:lnTo>
                  <a:pt x="7705079" y="0"/>
                </a:lnTo>
                <a:lnTo>
                  <a:pt x="7705079" y="5994384"/>
                </a:lnTo>
                <a:lnTo>
                  <a:pt x="0" y="5994384"/>
                </a:lnTo>
                <a:lnTo>
                  <a:pt x="0" y="0"/>
                </a:lnTo>
                <a:close/>
              </a:path>
            </a:pathLst>
          </a:custGeom>
          <a:blipFill>
            <a:blip r:embed="rId13"/>
            <a:stretch>
              <a:fillRect l="0" t="0" r="0" b="0"/>
            </a:stretch>
          </a:blipFill>
        </p:spPr>
      </p:sp>
      <p:grpSp>
        <p:nvGrpSpPr>
          <p:cNvPr name="Group 25" id="25"/>
          <p:cNvGrpSpPr/>
          <p:nvPr/>
        </p:nvGrpSpPr>
        <p:grpSpPr>
          <a:xfrm rot="0">
            <a:off x="916539" y="1918389"/>
            <a:ext cx="7949280" cy="6366226"/>
            <a:chOff x="0" y="0"/>
            <a:chExt cx="2093638" cy="1676702"/>
          </a:xfrm>
        </p:grpSpPr>
        <p:sp>
          <p:nvSpPr>
            <p:cNvPr name="Freeform 26" id="26"/>
            <p:cNvSpPr/>
            <p:nvPr/>
          </p:nvSpPr>
          <p:spPr>
            <a:xfrm flipH="false" flipV="false" rot="0">
              <a:off x="0" y="0"/>
              <a:ext cx="2093638" cy="1676702"/>
            </a:xfrm>
            <a:custGeom>
              <a:avLst/>
              <a:gdLst/>
              <a:ahLst/>
              <a:cxnLst/>
              <a:rect r="r" b="b" t="t" l="l"/>
              <a:pathLst>
                <a:path h="1676702" w="2093638">
                  <a:moveTo>
                    <a:pt x="49670" y="0"/>
                  </a:moveTo>
                  <a:lnTo>
                    <a:pt x="2043968" y="0"/>
                  </a:lnTo>
                  <a:cubicBezTo>
                    <a:pt x="2057141" y="0"/>
                    <a:pt x="2069775" y="5233"/>
                    <a:pt x="2079090" y="14548"/>
                  </a:cubicBezTo>
                  <a:cubicBezTo>
                    <a:pt x="2088405" y="23863"/>
                    <a:pt x="2093638" y="36496"/>
                    <a:pt x="2093638" y="49670"/>
                  </a:cubicBezTo>
                  <a:lnTo>
                    <a:pt x="2093638" y="1627032"/>
                  </a:lnTo>
                  <a:cubicBezTo>
                    <a:pt x="2093638" y="1640205"/>
                    <a:pt x="2088405" y="1652839"/>
                    <a:pt x="2079090" y="1662154"/>
                  </a:cubicBezTo>
                  <a:cubicBezTo>
                    <a:pt x="2069775" y="1671469"/>
                    <a:pt x="2057141" y="1676702"/>
                    <a:pt x="2043968" y="1676702"/>
                  </a:cubicBezTo>
                  <a:lnTo>
                    <a:pt x="49670" y="1676702"/>
                  </a:lnTo>
                  <a:cubicBezTo>
                    <a:pt x="22238" y="1676702"/>
                    <a:pt x="0" y="1654464"/>
                    <a:pt x="0" y="1627032"/>
                  </a:cubicBezTo>
                  <a:lnTo>
                    <a:pt x="0" y="49670"/>
                  </a:lnTo>
                  <a:cubicBezTo>
                    <a:pt x="0" y="22238"/>
                    <a:pt x="22238" y="0"/>
                    <a:pt x="49670" y="0"/>
                  </a:cubicBezTo>
                  <a:close/>
                </a:path>
              </a:pathLst>
            </a:custGeom>
            <a:solidFill>
              <a:srgbClr val="000000">
                <a:alpha val="0"/>
              </a:srgbClr>
            </a:solidFill>
            <a:ln w="38100" cap="rnd">
              <a:solidFill>
                <a:srgbClr val="000000"/>
              </a:solidFill>
              <a:prstDash val="solid"/>
              <a:round/>
            </a:ln>
          </p:spPr>
        </p:sp>
        <p:sp>
          <p:nvSpPr>
            <p:cNvPr name="TextBox 27" id="27"/>
            <p:cNvSpPr txBox="true"/>
            <p:nvPr/>
          </p:nvSpPr>
          <p:spPr>
            <a:xfrm>
              <a:off x="0" y="-47625"/>
              <a:ext cx="2093638" cy="1724327"/>
            </a:xfrm>
            <a:prstGeom prst="rect">
              <a:avLst/>
            </a:prstGeom>
          </p:spPr>
          <p:txBody>
            <a:bodyPr anchor="ctr" rtlCol="false" tIns="50800" lIns="50800" bIns="50800" rIns="50800"/>
            <a:lstStyle/>
            <a:p>
              <a:pPr algn="ctr">
                <a:lnSpc>
                  <a:spcPts val="3456"/>
                </a:lnSpc>
              </a:pPr>
            </a:p>
          </p:txBody>
        </p:sp>
      </p:grpSp>
      <p:grpSp>
        <p:nvGrpSpPr>
          <p:cNvPr name="Group 28" id="28"/>
          <p:cNvGrpSpPr/>
          <p:nvPr/>
        </p:nvGrpSpPr>
        <p:grpSpPr>
          <a:xfrm rot="0">
            <a:off x="1038639" y="2104310"/>
            <a:ext cx="2284888" cy="1443914"/>
            <a:chOff x="0" y="0"/>
            <a:chExt cx="601781" cy="380290"/>
          </a:xfrm>
        </p:grpSpPr>
        <p:sp>
          <p:nvSpPr>
            <p:cNvPr name="Freeform 29" id="29"/>
            <p:cNvSpPr/>
            <p:nvPr/>
          </p:nvSpPr>
          <p:spPr>
            <a:xfrm flipH="false" flipV="false" rot="0">
              <a:off x="0" y="0"/>
              <a:ext cx="601781" cy="380290"/>
            </a:xfrm>
            <a:custGeom>
              <a:avLst/>
              <a:gdLst/>
              <a:ahLst/>
              <a:cxnLst/>
              <a:rect r="r" b="b" t="t" l="l"/>
              <a:pathLst>
                <a:path h="380290" w="601781">
                  <a:moveTo>
                    <a:pt x="91485" y="0"/>
                  </a:moveTo>
                  <a:lnTo>
                    <a:pt x="510297" y="0"/>
                  </a:lnTo>
                  <a:cubicBezTo>
                    <a:pt x="560822" y="0"/>
                    <a:pt x="601781" y="40959"/>
                    <a:pt x="601781" y="91485"/>
                  </a:cubicBezTo>
                  <a:lnTo>
                    <a:pt x="601781" y="288805"/>
                  </a:lnTo>
                  <a:cubicBezTo>
                    <a:pt x="601781" y="313069"/>
                    <a:pt x="592143" y="336338"/>
                    <a:pt x="574986" y="353495"/>
                  </a:cubicBezTo>
                  <a:cubicBezTo>
                    <a:pt x="557829" y="370651"/>
                    <a:pt x="534560" y="380290"/>
                    <a:pt x="510297" y="380290"/>
                  </a:cubicBezTo>
                  <a:lnTo>
                    <a:pt x="91485" y="380290"/>
                  </a:lnTo>
                  <a:cubicBezTo>
                    <a:pt x="67221" y="380290"/>
                    <a:pt x="43952" y="370651"/>
                    <a:pt x="26795" y="353495"/>
                  </a:cubicBezTo>
                  <a:cubicBezTo>
                    <a:pt x="9639" y="336338"/>
                    <a:pt x="0" y="313069"/>
                    <a:pt x="0" y="288805"/>
                  </a:cubicBezTo>
                  <a:lnTo>
                    <a:pt x="0" y="91485"/>
                  </a:lnTo>
                  <a:cubicBezTo>
                    <a:pt x="0" y="67221"/>
                    <a:pt x="9639" y="43952"/>
                    <a:pt x="26795" y="26795"/>
                  </a:cubicBezTo>
                  <a:cubicBezTo>
                    <a:pt x="43952" y="9639"/>
                    <a:pt x="67221" y="0"/>
                    <a:pt x="91485" y="0"/>
                  </a:cubicBezTo>
                  <a:close/>
                </a:path>
              </a:pathLst>
            </a:custGeom>
            <a:solidFill>
              <a:srgbClr val="A03E3C"/>
            </a:solidFill>
          </p:spPr>
        </p:sp>
        <p:sp>
          <p:nvSpPr>
            <p:cNvPr name="TextBox 30" id="30"/>
            <p:cNvSpPr txBox="true"/>
            <p:nvPr/>
          </p:nvSpPr>
          <p:spPr>
            <a:xfrm>
              <a:off x="0" y="-47625"/>
              <a:ext cx="601781" cy="427915"/>
            </a:xfrm>
            <a:prstGeom prst="rect">
              <a:avLst/>
            </a:prstGeom>
          </p:spPr>
          <p:txBody>
            <a:bodyPr anchor="ctr" rtlCol="false" tIns="50800" lIns="50800" bIns="50800" rIns="50800"/>
            <a:lstStyle/>
            <a:p>
              <a:pPr algn="ctr">
                <a:lnSpc>
                  <a:spcPts val="3456"/>
                </a:lnSpc>
              </a:pPr>
              <a:r>
                <a:rPr lang="en-US" sz="2400" b="true">
                  <a:solidFill>
                    <a:srgbClr val="FFFFFF"/>
                  </a:solidFill>
                  <a:latin typeface="Helvetica World Bold"/>
                  <a:ea typeface="Helvetica World Bold"/>
                  <a:cs typeface="Helvetica World Bold"/>
                  <a:sym typeface="Helvetica World Bold"/>
                </a:rPr>
                <a:t>Mobile App</a:t>
              </a:r>
            </a:p>
            <a:p>
              <a:pPr algn="ctr">
                <a:lnSpc>
                  <a:spcPts val="3456"/>
                </a:lnSpc>
              </a:pPr>
              <a:r>
                <a:rPr lang="en-US" b="true" sz="2400">
                  <a:solidFill>
                    <a:srgbClr val="FFFFFF"/>
                  </a:solidFill>
                  <a:latin typeface="Helvetica World Bold"/>
                  <a:ea typeface="Helvetica World Bold"/>
                  <a:cs typeface="Helvetica World Bold"/>
                  <a:sym typeface="Helvetica World Bold"/>
                </a:rPr>
                <a:t>(ionic/angular)</a:t>
              </a:r>
            </a:p>
          </p:txBody>
        </p:sp>
      </p:grpSp>
      <p:sp>
        <p:nvSpPr>
          <p:cNvPr name="TextBox 31" id="31"/>
          <p:cNvSpPr txBox="true"/>
          <p:nvPr/>
        </p:nvSpPr>
        <p:spPr>
          <a:xfrm rot="0">
            <a:off x="12858299" y="9279206"/>
            <a:ext cx="4401001" cy="450723"/>
          </a:xfrm>
          <a:prstGeom prst="rect">
            <a:avLst/>
          </a:prstGeom>
        </p:spPr>
        <p:txBody>
          <a:bodyPr anchor="t" rtlCol="false" tIns="0" lIns="0" bIns="0" rIns="0">
            <a:spAutoFit/>
          </a:bodyPr>
          <a:lstStyle/>
          <a:p>
            <a:pPr algn="r">
              <a:lnSpc>
                <a:spcPts val="3456"/>
              </a:lnSpc>
            </a:pPr>
            <a:r>
              <a:rPr lang="en-US" b="true" sz="2400">
                <a:solidFill>
                  <a:srgbClr val="FFFFFF"/>
                </a:solidFill>
                <a:latin typeface="Helvetica World Bold"/>
                <a:ea typeface="Helvetica World Bold"/>
                <a:cs typeface="Helvetica World Bold"/>
                <a:sym typeface="Helvetica World Bold"/>
              </a:rPr>
              <a:t>10</a:t>
            </a:r>
          </a:p>
        </p:txBody>
      </p:sp>
      <p:sp>
        <p:nvSpPr>
          <p:cNvPr name="TextBox 32" id="32"/>
          <p:cNvSpPr txBox="true"/>
          <p:nvPr/>
        </p:nvSpPr>
        <p:spPr>
          <a:xfrm rot="0">
            <a:off x="1988898" y="647380"/>
            <a:ext cx="14310204" cy="867415"/>
          </a:xfrm>
          <a:prstGeom prst="rect">
            <a:avLst/>
          </a:prstGeom>
        </p:spPr>
        <p:txBody>
          <a:bodyPr anchor="t" rtlCol="false" tIns="0" lIns="0" bIns="0" rIns="0">
            <a:spAutoFit/>
          </a:bodyPr>
          <a:lstStyle/>
          <a:p>
            <a:pPr algn="ctr">
              <a:lnSpc>
                <a:spcPts val="6400"/>
              </a:lnSpc>
            </a:pPr>
            <a:r>
              <a:rPr lang="en-US" b="true" sz="6400" spc="-96">
                <a:solidFill>
                  <a:srgbClr val="202020"/>
                </a:solidFill>
                <a:latin typeface="Cy Grotesk Key Semi-Bold"/>
                <a:ea typeface="Cy Grotesk Key Semi-Bold"/>
                <a:cs typeface="Cy Grotesk Key Semi-Bold"/>
                <a:sym typeface="Cy Grotesk Key Semi-Bold"/>
              </a:rPr>
              <a:t>Architecture and Tech Stack</a:t>
            </a:r>
          </a:p>
        </p:txBody>
      </p:sp>
      <p:sp>
        <p:nvSpPr>
          <p:cNvPr name="TextBox 33" id="33"/>
          <p:cNvSpPr txBox="true"/>
          <p:nvPr/>
        </p:nvSpPr>
        <p:spPr>
          <a:xfrm rot="0">
            <a:off x="10178176" y="4344821"/>
            <a:ext cx="2707788" cy="434392"/>
          </a:xfrm>
          <a:prstGeom prst="rect">
            <a:avLst/>
          </a:prstGeom>
        </p:spPr>
        <p:txBody>
          <a:bodyPr anchor="t" rtlCol="false" tIns="0" lIns="0" bIns="0" rIns="0">
            <a:spAutoFit/>
          </a:bodyPr>
          <a:lstStyle/>
          <a:p>
            <a:pPr algn="ctr" marL="0" indent="0" lvl="0">
              <a:lnSpc>
                <a:spcPts val="3251"/>
              </a:lnSpc>
              <a:spcBef>
                <a:spcPct val="0"/>
              </a:spcBef>
            </a:pPr>
            <a:r>
              <a:rPr lang="en-US" b="true" sz="3251" spc="-48">
                <a:solidFill>
                  <a:srgbClr val="FFFFFF"/>
                </a:solidFill>
                <a:latin typeface="Cy Grotesk Key Semi-Bold"/>
                <a:ea typeface="Cy Grotesk Key Semi-Bold"/>
                <a:cs typeface="Cy Grotesk Key Semi-Bold"/>
                <a:sym typeface="Cy Grotesk Key Semi-Bold"/>
              </a:rPr>
              <a:t>Frontend</a:t>
            </a:r>
          </a:p>
        </p:txBody>
      </p:sp>
      <p:sp>
        <p:nvSpPr>
          <p:cNvPr name="TextBox 34" id="34"/>
          <p:cNvSpPr txBox="true"/>
          <p:nvPr/>
        </p:nvSpPr>
        <p:spPr>
          <a:xfrm rot="0">
            <a:off x="14324508" y="4344821"/>
            <a:ext cx="2530959" cy="434392"/>
          </a:xfrm>
          <a:prstGeom prst="rect">
            <a:avLst/>
          </a:prstGeom>
        </p:spPr>
        <p:txBody>
          <a:bodyPr anchor="t" rtlCol="false" tIns="0" lIns="0" bIns="0" rIns="0">
            <a:spAutoFit/>
          </a:bodyPr>
          <a:lstStyle/>
          <a:p>
            <a:pPr algn="ctr" marL="0" indent="0" lvl="0">
              <a:lnSpc>
                <a:spcPts val="3251"/>
              </a:lnSpc>
              <a:spcBef>
                <a:spcPct val="0"/>
              </a:spcBef>
            </a:pPr>
            <a:r>
              <a:rPr lang="en-US" b="true" sz="3251" spc="-48">
                <a:solidFill>
                  <a:srgbClr val="FFFFFF"/>
                </a:solidFill>
                <a:latin typeface="Cy Grotesk Key Semi-Bold"/>
                <a:ea typeface="Cy Grotesk Key Semi-Bold"/>
                <a:cs typeface="Cy Grotesk Key Semi-Bold"/>
                <a:sym typeface="Cy Grotesk Key Semi-Bold"/>
              </a:rPr>
              <a:t>Backend</a:t>
            </a:r>
          </a:p>
        </p:txBody>
      </p:sp>
      <p:grpSp>
        <p:nvGrpSpPr>
          <p:cNvPr name="Group 35" id="35"/>
          <p:cNvGrpSpPr/>
          <p:nvPr/>
        </p:nvGrpSpPr>
        <p:grpSpPr>
          <a:xfrm rot="0">
            <a:off x="6458830" y="2114318"/>
            <a:ext cx="2284888" cy="1443914"/>
            <a:chOff x="0" y="0"/>
            <a:chExt cx="601781" cy="380290"/>
          </a:xfrm>
        </p:grpSpPr>
        <p:sp>
          <p:nvSpPr>
            <p:cNvPr name="Freeform 36" id="36"/>
            <p:cNvSpPr/>
            <p:nvPr/>
          </p:nvSpPr>
          <p:spPr>
            <a:xfrm flipH="false" flipV="false" rot="0">
              <a:off x="0" y="0"/>
              <a:ext cx="601781" cy="380290"/>
            </a:xfrm>
            <a:custGeom>
              <a:avLst/>
              <a:gdLst/>
              <a:ahLst/>
              <a:cxnLst/>
              <a:rect r="r" b="b" t="t" l="l"/>
              <a:pathLst>
                <a:path h="380290" w="601781">
                  <a:moveTo>
                    <a:pt x="91485" y="0"/>
                  </a:moveTo>
                  <a:lnTo>
                    <a:pt x="510297" y="0"/>
                  </a:lnTo>
                  <a:cubicBezTo>
                    <a:pt x="560822" y="0"/>
                    <a:pt x="601781" y="40959"/>
                    <a:pt x="601781" y="91485"/>
                  </a:cubicBezTo>
                  <a:lnTo>
                    <a:pt x="601781" y="288805"/>
                  </a:lnTo>
                  <a:cubicBezTo>
                    <a:pt x="601781" y="313069"/>
                    <a:pt x="592143" y="336338"/>
                    <a:pt x="574986" y="353495"/>
                  </a:cubicBezTo>
                  <a:cubicBezTo>
                    <a:pt x="557829" y="370651"/>
                    <a:pt x="534560" y="380290"/>
                    <a:pt x="510297" y="380290"/>
                  </a:cubicBezTo>
                  <a:lnTo>
                    <a:pt x="91485" y="380290"/>
                  </a:lnTo>
                  <a:cubicBezTo>
                    <a:pt x="67221" y="380290"/>
                    <a:pt x="43952" y="370651"/>
                    <a:pt x="26795" y="353495"/>
                  </a:cubicBezTo>
                  <a:cubicBezTo>
                    <a:pt x="9639" y="336338"/>
                    <a:pt x="0" y="313069"/>
                    <a:pt x="0" y="288805"/>
                  </a:cubicBezTo>
                  <a:lnTo>
                    <a:pt x="0" y="91485"/>
                  </a:lnTo>
                  <a:cubicBezTo>
                    <a:pt x="0" y="67221"/>
                    <a:pt x="9639" y="43952"/>
                    <a:pt x="26795" y="26795"/>
                  </a:cubicBezTo>
                  <a:cubicBezTo>
                    <a:pt x="43952" y="9639"/>
                    <a:pt x="67221" y="0"/>
                    <a:pt x="91485" y="0"/>
                  </a:cubicBezTo>
                  <a:close/>
                </a:path>
              </a:pathLst>
            </a:custGeom>
            <a:solidFill>
              <a:srgbClr val="A03E3C"/>
            </a:solidFill>
          </p:spPr>
        </p:sp>
        <p:sp>
          <p:nvSpPr>
            <p:cNvPr name="TextBox 37" id="37"/>
            <p:cNvSpPr txBox="true"/>
            <p:nvPr/>
          </p:nvSpPr>
          <p:spPr>
            <a:xfrm>
              <a:off x="0" y="-47625"/>
              <a:ext cx="601781" cy="427915"/>
            </a:xfrm>
            <a:prstGeom prst="rect">
              <a:avLst/>
            </a:prstGeom>
          </p:spPr>
          <p:txBody>
            <a:bodyPr anchor="ctr" rtlCol="false" tIns="50800" lIns="50800" bIns="50800" rIns="50800"/>
            <a:lstStyle/>
            <a:p>
              <a:pPr algn="ctr">
                <a:lnSpc>
                  <a:spcPts val="3024"/>
                </a:lnSpc>
              </a:pPr>
              <a:r>
                <a:rPr lang="en-US" sz="2100" b="true">
                  <a:solidFill>
                    <a:srgbClr val="FFFFFF"/>
                  </a:solidFill>
                  <a:latin typeface="Helvetica World Bold"/>
                  <a:ea typeface="Helvetica World Bold"/>
                  <a:cs typeface="Helvetica World Bold"/>
                  <a:sym typeface="Helvetica World Bold"/>
                </a:rPr>
                <a:t>Programed Task</a:t>
              </a:r>
            </a:p>
            <a:p>
              <a:pPr algn="ctr">
                <a:lnSpc>
                  <a:spcPts val="3024"/>
                </a:lnSpc>
              </a:pPr>
              <a:r>
                <a:rPr lang="en-US" b="true" sz="2100">
                  <a:solidFill>
                    <a:srgbClr val="FFFFFF"/>
                  </a:solidFill>
                  <a:latin typeface="Helvetica World Bold"/>
                  <a:ea typeface="Helvetica World Bold"/>
                  <a:cs typeface="Helvetica World Bold"/>
                  <a:sym typeface="Helvetica World Bold"/>
                </a:rPr>
                <a:t>check_low_stock</a:t>
              </a:r>
            </a:p>
          </p:txBody>
        </p:sp>
      </p:grpSp>
      <p:grpSp>
        <p:nvGrpSpPr>
          <p:cNvPr name="Group 38" id="38"/>
          <p:cNvGrpSpPr/>
          <p:nvPr/>
        </p:nvGrpSpPr>
        <p:grpSpPr>
          <a:xfrm rot="0">
            <a:off x="3101232" y="4606967"/>
            <a:ext cx="2403985" cy="1443914"/>
            <a:chOff x="0" y="0"/>
            <a:chExt cx="633148" cy="380290"/>
          </a:xfrm>
        </p:grpSpPr>
        <p:sp>
          <p:nvSpPr>
            <p:cNvPr name="Freeform 39" id="39"/>
            <p:cNvSpPr/>
            <p:nvPr/>
          </p:nvSpPr>
          <p:spPr>
            <a:xfrm flipH="false" flipV="false" rot="0">
              <a:off x="0" y="0"/>
              <a:ext cx="633148" cy="380290"/>
            </a:xfrm>
            <a:custGeom>
              <a:avLst/>
              <a:gdLst/>
              <a:ahLst/>
              <a:cxnLst/>
              <a:rect r="r" b="b" t="t" l="l"/>
              <a:pathLst>
                <a:path h="380290" w="633148">
                  <a:moveTo>
                    <a:pt x="86952" y="0"/>
                  </a:moveTo>
                  <a:lnTo>
                    <a:pt x="546196" y="0"/>
                  </a:lnTo>
                  <a:cubicBezTo>
                    <a:pt x="569257" y="0"/>
                    <a:pt x="591374" y="9161"/>
                    <a:pt x="607681" y="25468"/>
                  </a:cubicBezTo>
                  <a:cubicBezTo>
                    <a:pt x="623987" y="41774"/>
                    <a:pt x="633148" y="63891"/>
                    <a:pt x="633148" y="86952"/>
                  </a:cubicBezTo>
                  <a:lnTo>
                    <a:pt x="633148" y="293338"/>
                  </a:lnTo>
                  <a:cubicBezTo>
                    <a:pt x="633148" y="341360"/>
                    <a:pt x="594219" y="380290"/>
                    <a:pt x="546196" y="380290"/>
                  </a:cubicBezTo>
                  <a:lnTo>
                    <a:pt x="86952" y="380290"/>
                  </a:lnTo>
                  <a:cubicBezTo>
                    <a:pt x="38930" y="380290"/>
                    <a:pt x="0" y="341360"/>
                    <a:pt x="0" y="293338"/>
                  </a:cubicBezTo>
                  <a:lnTo>
                    <a:pt x="0" y="86952"/>
                  </a:lnTo>
                  <a:cubicBezTo>
                    <a:pt x="0" y="38930"/>
                    <a:pt x="38930" y="0"/>
                    <a:pt x="86952" y="0"/>
                  </a:cubicBezTo>
                  <a:close/>
                </a:path>
              </a:pathLst>
            </a:custGeom>
            <a:solidFill>
              <a:srgbClr val="A03E3C"/>
            </a:solidFill>
          </p:spPr>
        </p:sp>
        <p:sp>
          <p:nvSpPr>
            <p:cNvPr name="TextBox 40" id="40"/>
            <p:cNvSpPr txBox="true"/>
            <p:nvPr/>
          </p:nvSpPr>
          <p:spPr>
            <a:xfrm>
              <a:off x="0" y="-38100"/>
              <a:ext cx="633148" cy="418390"/>
            </a:xfrm>
            <a:prstGeom prst="rect">
              <a:avLst/>
            </a:prstGeom>
          </p:spPr>
          <p:txBody>
            <a:bodyPr anchor="ctr" rtlCol="false" tIns="50800" lIns="50800" bIns="50800" rIns="50800"/>
            <a:lstStyle/>
            <a:p>
              <a:pPr algn="ctr">
                <a:lnSpc>
                  <a:spcPts val="2880"/>
                </a:lnSpc>
              </a:pPr>
              <a:r>
                <a:rPr lang="en-US" sz="2000" b="true">
                  <a:solidFill>
                    <a:srgbClr val="FFFFFF"/>
                  </a:solidFill>
                  <a:latin typeface="Helvetica World Bold"/>
                  <a:ea typeface="Helvetica World Bold"/>
                  <a:cs typeface="Helvetica World Bold"/>
                  <a:sym typeface="Helvetica World Bold"/>
                </a:rPr>
                <a:t>Backend API</a:t>
              </a:r>
            </a:p>
            <a:p>
              <a:pPr algn="ctr">
                <a:lnSpc>
                  <a:spcPts val="2880"/>
                </a:lnSpc>
              </a:pPr>
              <a:r>
                <a:rPr lang="en-US" b="true" sz="2000">
                  <a:solidFill>
                    <a:srgbClr val="FFFFFF"/>
                  </a:solidFill>
                  <a:latin typeface="Helvetica World Bold"/>
                  <a:ea typeface="Helvetica World Bold"/>
                  <a:cs typeface="Helvetica World Bold"/>
                  <a:sym typeface="Helvetica World Bold"/>
                </a:rPr>
                <a:t>Django REST + JWT</a:t>
              </a:r>
            </a:p>
          </p:txBody>
        </p:sp>
      </p:grpSp>
      <p:grpSp>
        <p:nvGrpSpPr>
          <p:cNvPr name="Group 41" id="41"/>
          <p:cNvGrpSpPr/>
          <p:nvPr/>
        </p:nvGrpSpPr>
        <p:grpSpPr>
          <a:xfrm rot="0">
            <a:off x="1038639" y="6654780"/>
            <a:ext cx="2284888" cy="1443914"/>
            <a:chOff x="0" y="0"/>
            <a:chExt cx="601781" cy="380290"/>
          </a:xfrm>
        </p:grpSpPr>
        <p:sp>
          <p:nvSpPr>
            <p:cNvPr name="Freeform 42" id="42"/>
            <p:cNvSpPr/>
            <p:nvPr/>
          </p:nvSpPr>
          <p:spPr>
            <a:xfrm flipH="false" flipV="false" rot="0">
              <a:off x="0" y="0"/>
              <a:ext cx="601781" cy="380290"/>
            </a:xfrm>
            <a:custGeom>
              <a:avLst/>
              <a:gdLst/>
              <a:ahLst/>
              <a:cxnLst/>
              <a:rect r="r" b="b" t="t" l="l"/>
              <a:pathLst>
                <a:path h="380290" w="601781">
                  <a:moveTo>
                    <a:pt x="91485" y="0"/>
                  </a:moveTo>
                  <a:lnTo>
                    <a:pt x="510297" y="0"/>
                  </a:lnTo>
                  <a:cubicBezTo>
                    <a:pt x="560822" y="0"/>
                    <a:pt x="601781" y="40959"/>
                    <a:pt x="601781" y="91485"/>
                  </a:cubicBezTo>
                  <a:lnTo>
                    <a:pt x="601781" y="288805"/>
                  </a:lnTo>
                  <a:cubicBezTo>
                    <a:pt x="601781" y="313069"/>
                    <a:pt x="592143" y="336338"/>
                    <a:pt x="574986" y="353495"/>
                  </a:cubicBezTo>
                  <a:cubicBezTo>
                    <a:pt x="557829" y="370651"/>
                    <a:pt x="534560" y="380290"/>
                    <a:pt x="510297" y="380290"/>
                  </a:cubicBezTo>
                  <a:lnTo>
                    <a:pt x="91485" y="380290"/>
                  </a:lnTo>
                  <a:cubicBezTo>
                    <a:pt x="67221" y="380290"/>
                    <a:pt x="43952" y="370651"/>
                    <a:pt x="26795" y="353495"/>
                  </a:cubicBezTo>
                  <a:cubicBezTo>
                    <a:pt x="9639" y="336338"/>
                    <a:pt x="0" y="313069"/>
                    <a:pt x="0" y="288805"/>
                  </a:cubicBezTo>
                  <a:lnTo>
                    <a:pt x="0" y="91485"/>
                  </a:lnTo>
                  <a:cubicBezTo>
                    <a:pt x="0" y="67221"/>
                    <a:pt x="9639" y="43952"/>
                    <a:pt x="26795" y="26795"/>
                  </a:cubicBezTo>
                  <a:cubicBezTo>
                    <a:pt x="43952" y="9639"/>
                    <a:pt x="67221" y="0"/>
                    <a:pt x="91485" y="0"/>
                  </a:cubicBezTo>
                  <a:close/>
                </a:path>
              </a:pathLst>
            </a:custGeom>
            <a:solidFill>
              <a:srgbClr val="A03E3C"/>
            </a:solidFill>
          </p:spPr>
        </p:sp>
        <p:sp>
          <p:nvSpPr>
            <p:cNvPr name="TextBox 43" id="43"/>
            <p:cNvSpPr txBox="true"/>
            <p:nvPr/>
          </p:nvSpPr>
          <p:spPr>
            <a:xfrm>
              <a:off x="0" y="-47625"/>
              <a:ext cx="601781" cy="427915"/>
            </a:xfrm>
            <a:prstGeom prst="rect">
              <a:avLst/>
            </a:prstGeom>
          </p:spPr>
          <p:txBody>
            <a:bodyPr anchor="ctr" rtlCol="false" tIns="50800" lIns="50800" bIns="50800" rIns="50800"/>
            <a:lstStyle/>
            <a:p>
              <a:pPr algn="ctr">
                <a:lnSpc>
                  <a:spcPts val="3456"/>
                </a:lnSpc>
              </a:pPr>
              <a:r>
                <a:rPr lang="en-US" sz="2400" b="true">
                  <a:solidFill>
                    <a:srgbClr val="FFFFFF"/>
                  </a:solidFill>
                  <a:latin typeface="Helvetica World Bold"/>
                  <a:ea typeface="Helvetica World Bold"/>
                  <a:cs typeface="Helvetica World Bold"/>
                  <a:sym typeface="Helvetica World Bold"/>
                </a:rPr>
                <a:t>SMTP Mail</a:t>
              </a:r>
            </a:p>
            <a:p>
              <a:pPr algn="ctr">
                <a:lnSpc>
                  <a:spcPts val="3456"/>
                </a:lnSpc>
              </a:pPr>
              <a:r>
                <a:rPr lang="en-US" b="true" sz="2400">
                  <a:solidFill>
                    <a:srgbClr val="FFFFFF"/>
                  </a:solidFill>
                  <a:latin typeface="Helvetica World Bold"/>
                  <a:ea typeface="Helvetica World Bold"/>
                  <a:cs typeface="Helvetica World Bold"/>
                  <a:sym typeface="Helvetica World Bold"/>
                </a:rPr>
                <a:t>(MailerSend)</a:t>
              </a:r>
            </a:p>
          </p:txBody>
        </p:sp>
      </p:grpSp>
      <p:grpSp>
        <p:nvGrpSpPr>
          <p:cNvPr name="Group 44" id="44"/>
          <p:cNvGrpSpPr/>
          <p:nvPr/>
        </p:nvGrpSpPr>
        <p:grpSpPr>
          <a:xfrm rot="0">
            <a:off x="5505218" y="6900853"/>
            <a:ext cx="2185379" cy="1197841"/>
            <a:chOff x="0" y="0"/>
            <a:chExt cx="575573" cy="315481"/>
          </a:xfrm>
        </p:grpSpPr>
        <p:sp>
          <p:nvSpPr>
            <p:cNvPr name="Freeform 45" id="45"/>
            <p:cNvSpPr/>
            <p:nvPr/>
          </p:nvSpPr>
          <p:spPr>
            <a:xfrm flipH="false" flipV="false" rot="0">
              <a:off x="0" y="0"/>
              <a:ext cx="575573" cy="315481"/>
            </a:xfrm>
            <a:custGeom>
              <a:avLst/>
              <a:gdLst/>
              <a:ahLst/>
              <a:cxnLst/>
              <a:rect r="r" b="b" t="t" l="l"/>
              <a:pathLst>
                <a:path h="315481" w="575573">
                  <a:moveTo>
                    <a:pt x="95650" y="0"/>
                  </a:moveTo>
                  <a:lnTo>
                    <a:pt x="479923" y="0"/>
                  </a:lnTo>
                  <a:cubicBezTo>
                    <a:pt x="532749" y="0"/>
                    <a:pt x="575573" y="42824"/>
                    <a:pt x="575573" y="95650"/>
                  </a:cubicBezTo>
                  <a:lnTo>
                    <a:pt x="575573" y="219831"/>
                  </a:lnTo>
                  <a:cubicBezTo>
                    <a:pt x="575573" y="245199"/>
                    <a:pt x="565496" y="269528"/>
                    <a:pt x="547558" y="287465"/>
                  </a:cubicBezTo>
                  <a:cubicBezTo>
                    <a:pt x="529620" y="305403"/>
                    <a:pt x="505291" y="315481"/>
                    <a:pt x="479923" y="315481"/>
                  </a:cubicBezTo>
                  <a:lnTo>
                    <a:pt x="95650" y="315481"/>
                  </a:lnTo>
                  <a:cubicBezTo>
                    <a:pt x="70282" y="315481"/>
                    <a:pt x="45953" y="305403"/>
                    <a:pt x="28015" y="287465"/>
                  </a:cubicBezTo>
                  <a:cubicBezTo>
                    <a:pt x="10077" y="269528"/>
                    <a:pt x="0" y="245199"/>
                    <a:pt x="0" y="219831"/>
                  </a:cubicBezTo>
                  <a:lnTo>
                    <a:pt x="0" y="95650"/>
                  </a:lnTo>
                  <a:cubicBezTo>
                    <a:pt x="0" y="70282"/>
                    <a:pt x="10077" y="45953"/>
                    <a:pt x="28015" y="28015"/>
                  </a:cubicBezTo>
                  <a:cubicBezTo>
                    <a:pt x="45953" y="10077"/>
                    <a:pt x="70282" y="0"/>
                    <a:pt x="95650" y="0"/>
                  </a:cubicBezTo>
                  <a:close/>
                </a:path>
              </a:pathLst>
            </a:custGeom>
            <a:solidFill>
              <a:srgbClr val="A03E3C"/>
            </a:solidFill>
          </p:spPr>
        </p:sp>
        <p:sp>
          <p:nvSpPr>
            <p:cNvPr name="TextBox 46" id="46"/>
            <p:cNvSpPr txBox="true"/>
            <p:nvPr/>
          </p:nvSpPr>
          <p:spPr>
            <a:xfrm>
              <a:off x="0" y="-47625"/>
              <a:ext cx="575573" cy="363106"/>
            </a:xfrm>
            <a:prstGeom prst="rect">
              <a:avLst/>
            </a:prstGeom>
          </p:spPr>
          <p:txBody>
            <a:bodyPr anchor="ctr" rtlCol="false" tIns="50800" lIns="50800" bIns="50800" rIns="50800"/>
            <a:lstStyle/>
            <a:p>
              <a:pPr algn="ctr">
                <a:lnSpc>
                  <a:spcPts val="3456"/>
                </a:lnSpc>
              </a:pPr>
              <a:r>
                <a:rPr lang="en-US" sz="2400" b="true">
                  <a:solidFill>
                    <a:srgbClr val="FFFFFF"/>
                  </a:solidFill>
                  <a:latin typeface="Helvetica World Bold"/>
                  <a:ea typeface="Helvetica World Bold"/>
                  <a:cs typeface="Helvetica World Bold"/>
                  <a:sym typeface="Helvetica World Bold"/>
                </a:rPr>
                <a:t>Data Base</a:t>
              </a:r>
            </a:p>
            <a:p>
              <a:pPr algn="ctr">
                <a:lnSpc>
                  <a:spcPts val="3456"/>
                </a:lnSpc>
              </a:pPr>
              <a:r>
                <a:rPr lang="en-US" b="true" sz="2400">
                  <a:solidFill>
                    <a:srgbClr val="FFFFFF"/>
                  </a:solidFill>
                  <a:latin typeface="Helvetica World Bold"/>
                  <a:ea typeface="Helvetica World Bold"/>
                  <a:cs typeface="Helvetica World Bold"/>
                  <a:sym typeface="Helvetica World Bold"/>
                </a:rPr>
                <a:t>(MySQL)</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48710" y="9258300"/>
            <a:ext cx="19785420" cy="597310"/>
            <a:chOff x="0" y="0"/>
            <a:chExt cx="5210975" cy="157316"/>
          </a:xfrm>
        </p:grpSpPr>
        <p:sp>
          <p:nvSpPr>
            <p:cNvPr name="Freeform 3" id="3"/>
            <p:cNvSpPr/>
            <p:nvPr/>
          </p:nvSpPr>
          <p:spPr>
            <a:xfrm flipH="false" flipV="false" rot="0">
              <a:off x="0" y="0"/>
              <a:ext cx="5210975" cy="157316"/>
            </a:xfrm>
            <a:custGeom>
              <a:avLst/>
              <a:gdLst/>
              <a:ahLst/>
              <a:cxnLst/>
              <a:rect r="r" b="b" t="t" l="l"/>
              <a:pathLst>
                <a:path h="157316" w="5210975">
                  <a:moveTo>
                    <a:pt x="19956" y="0"/>
                  </a:moveTo>
                  <a:lnTo>
                    <a:pt x="5191019" y="0"/>
                  </a:lnTo>
                  <a:cubicBezTo>
                    <a:pt x="5202040" y="0"/>
                    <a:pt x="5210975" y="8935"/>
                    <a:pt x="5210975" y="19956"/>
                  </a:cubicBezTo>
                  <a:lnTo>
                    <a:pt x="5210975" y="137360"/>
                  </a:lnTo>
                  <a:cubicBezTo>
                    <a:pt x="5210975" y="142653"/>
                    <a:pt x="5208872" y="147729"/>
                    <a:pt x="5205130" y="151471"/>
                  </a:cubicBezTo>
                  <a:cubicBezTo>
                    <a:pt x="5201388" y="155214"/>
                    <a:pt x="5196312" y="157316"/>
                    <a:pt x="5191019" y="157316"/>
                  </a:cubicBezTo>
                  <a:lnTo>
                    <a:pt x="19956" y="157316"/>
                  </a:lnTo>
                  <a:cubicBezTo>
                    <a:pt x="8935" y="157316"/>
                    <a:pt x="0" y="148382"/>
                    <a:pt x="0" y="137360"/>
                  </a:cubicBezTo>
                  <a:lnTo>
                    <a:pt x="0" y="19956"/>
                  </a:lnTo>
                  <a:cubicBezTo>
                    <a:pt x="0" y="8935"/>
                    <a:pt x="8935" y="0"/>
                    <a:pt x="19956" y="0"/>
                  </a:cubicBezTo>
                  <a:close/>
                </a:path>
              </a:pathLst>
            </a:custGeom>
            <a:solidFill>
              <a:srgbClr val="A03E3C"/>
            </a:solidFill>
          </p:spPr>
        </p:sp>
        <p:sp>
          <p:nvSpPr>
            <p:cNvPr name="TextBox 4" id="4"/>
            <p:cNvSpPr txBox="true"/>
            <p:nvPr/>
          </p:nvSpPr>
          <p:spPr>
            <a:xfrm>
              <a:off x="0" y="-38100"/>
              <a:ext cx="5210975" cy="195416"/>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988898" y="3765608"/>
            <a:ext cx="3441472" cy="2755784"/>
            <a:chOff x="0" y="0"/>
            <a:chExt cx="1401193" cy="1122015"/>
          </a:xfrm>
        </p:grpSpPr>
        <p:sp>
          <p:nvSpPr>
            <p:cNvPr name="Freeform 6" id="6"/>
            <p:cNvSpPr/>
            <p:nvPr/>
          </p:nvSpPr>
          <p:spPr>
            <a:xfrm flipH="false" flipV="false" rot="0">
              <a:off x="0" y="0"/>
              <a:ext cx="1401193" cy="1122015"/>
            </a:xfrm>
            <a:custGeom>
              <a:avLst/>
              <a:gdLst/>
              <a:ahLst/>
              <a:cxnLst/>
              <a:rect r="r" b="b" t="t" l="l"/>
              <a:pathLst>
                <a:path h="1122015" w="1401193">
                  <a:moveTo>
                    <a:pt x="161971" y="0"/>
                  </a:moveTo>
                  <a:lnTo>
                    <a:pt x="1239222" y="0"/>
                  </a:lnTo>
                  <a:cubicBezTo>
                    <a:pt x="1328676" y="0"/>
                    <a:pt x="1401193" y="72517"/>
                    <a:pt x="1401193" y="161971"/>
                  </a:cubicBezTo>
                  <a:lnTo>
                    <a:pt x="1401193" y="960045"/>
                  </a:lnTo>
                  <a:cubicBezTo>
                    <a:pt x="1401193" y="1003002"/>
                    <a:pt x="1384128" y="1044200"/>
                    <a:pt x="1353752" y="1074575"/>
                  </a:cubicBezTo>
                  <a:cubicBezTo>
                    <a:pt x="1323377" y="1104951"/>
                    <a:pt x="1282179" y="1122015"/>
                    <a:pt x="1239222" y="1122015"/>
                  </a:cubicBezTo>
                  <a:lnTo>
                    <a:pt x="161971" y="1122015"/>
                  </a:lnTo>
                  <a:cubicBezTo>
                    <a:pt x="72517" y="1122015"/>
                    <a:pt x="0" y="1049499"/>
                    <a:pt x="0" y="960045"/>
                  </a:cubicBezTo>
                  <a:lnTo>
                    <a:pt x="0" y="161971"/>
                  </a:lnTo>
                  <a:cubicBezTo>
                    <a:pt x="0" y="72517"/>
                    <a:pt x="72517" y="0"/>
                    <a:pt x="161971" y="0"/>
                  </a:cubicBezTo>
                  <a:close/>
                </a:path>
              </a:pathLst>
            </a:custGeom>
            <a:solidFill>
              <a:srgbClr val="EFE8DD"/>
            </a:solidFill>
          </p:spPr>
        </p:sp>
        <p:sp>
          <p:nvSpPr>
            <p:cNvPr name="TextBox 7" id="7"/>
            <p:cNvSpPr txBox="true"/>
            <p:nvPr/>
          </p:nvSpPr>
          <p:spPr>
            <a:xfrm>
              <a:off x="0" y="95250"/>
              <a:ext cx="1401193" cy="1026765"/>
            </a:xfrm>
            <a:prstGeom prst="rect">
              <a:avLst/>
            </a:prstGeom>
          </p:spPr>
          <p:txBody>
            <a:bodyPr anchor="ctr" rtlCol="false" tIns="50800" lIns="50800" bIns="50800" rIns="50800"/>
            <a:lstStyle/>
            <a:p>
              <a:pPr algn="ctr">
                <a:lnSpc>
                  <a:spcPts val="1925"/>
                </a:lnSpc>
              </a:pPr>
            </a:p>
          </p:txBody>
        </p:sp>
      </p:grpSp>
      <p:sp>
        <p:nvSpPr>
          <p:cNvPr name="Freeform 8" id="8"/>
          <p:cNvSpPr/>
          <p:nvPr/>
        </p:nvSpPr>
        <p:spPr>
          <a:xfrm flipH="false" flipV="false" rot="0">
            <a:off x="5734222" y="1973635"/>
            <a:ext cx="12099278" cy="6820968"/>
          </a:xfrm>
          <a:custGeom>
            <a:avLst/>
            <a:gdLst/>
            <a:ahLst/>
            <a:cxnLst/>
            <a:rect r="r" b="b" t="t" l="l"/>
            <a:pathLst>
              <a:path h="6820968" w="12099278">
                <a:moveTo>
                  <a:pt x="0" y="0"/>
                </a:moveTo>
                <a:lnTo>
                  <a:pt x="12099278" y="0"/>
                </a:lnTo>
                <a:lnTo>
                  <a:pt x="12099278" y="6820968"/>
                </a:lnTo>
                <a:lnTo>
                  <a:pt x="0" y="6820968"/>
                </a:lnTo>
                <a:lnTo>
                  <a:pt x="0" y="0"/>
                </a:lnTo>
                <a:close/>
              </a:path>
            </a:pathLst>
          </a:custGeom>
          <a:blipFill>
            <a:blip r:embed="rId2"/>
            <a:stretch>
              <a:fillRect l="0" t="0" r="0" b="0"/>
            </a:stretch>
          </a:blipFill>
        </p:spPr>
      </p:sp>
      <p:sp>
        <p:nvSpPr>
          <p:cNvPr name="Freeform 9" id="9"/>
          <p:cNvSpPr/>
          <p:nvPr/>
        </p:nvSpPr>
        <p:spPr>
          <a:xfrm flipH="false" flipV="false" rot="0">
            <a:off x="3244707" y="5384119"/>
            <a:ext cx="929854" cy="929854"/>
          </a:xfrm>
          <a:custGeom>
            <a:avLst/>
            <a:gdLst/>
            <a:ahLst/>
            <a:cxnLst/>
            <a:rect r="r" b="b" t="t" l="l"/>
            <a:pathLst>
              <a:path h="929854" w="929854">
                <a:moveTo>
                  <a:pt x="0" y="0"/>
                </a:moveTo>
                <a:lnTo>
                  <a:pt x="929854" y="0"/>
                </a:lnTo>
                <a:lnTo>
                  <a:pt x="929854" y="929853"/>
                </a:lnTo>
                <a:lnTo>
                  <a:pt x="0" y="929853"/>
                </a:lnTo>
                <a:lnTo>
                  <a:pt x="0" y="0"/>
                </a:lnTo>
                <a:close/>
              </a:path>
            </a:pathLst>
          </a:custGeom>
          <a:blipFill>
            <a:blip r:embed="rId3"/>
            <a:stretch>
              <a:fillRect l="0" t="0" r="0" b="0"/>
            </a:stretch>
          </a:blipFill>
        </p:spPr>
      </p:sp>
      <p:sp>
        <p:nvSpPr>
          <p:cNvPr name="Freeform 10" id="10"/>
          <p:cNvSpPr/>
          <p:nvPr/>
        </p:nvSpPr>
        <p:spPr>
          <a:xfrm flipH="false" flipV="false" rot="0">
            <a:off x="458109" y="542605"/>
            <a:ext cx="1530789" cy="1534626"/>
          </a:xfrm>
          <a:custGeom>
            <a:avLst/>
            <a:gdLst/>
            <a:ahLst/>
            <a:cxnLst/>
            <a:rect r="r" b="b" t="t" l="l"/>
            <a:pathLst>
              <a:path h="1534626" w="1530789">
                <a:moveTo>
                  <a:pt x="0" y="0"/>
                </a:moveTo>
                <a:lnTo>
                  <a:pt x="1530789" y="0"/>
                </a:lnTo>
                <a:lnTo>
                  <a:pt x="1530789" y="1534626"/>
                </a:lnTo>
                <a:lnTo>
                  <a:pt x="0" y="1534626"/>
                </a:lnTo>
                <a:lnTo>
                  <a:pt x="0" y="0"/>
                </a:lnTo>
                <a:close/>
              </a:path>
            </a:pathLst>
          </a:custGeom>
          <a:blipFill>
            <a:blip r:embed="rId4"/>
            <a:stretch>
              <a:fillRect l="0" t="0" r="0" b="0"/>
            </a:stretch>
          </a:blipFill>
        </p:spPr>
      </p:sp>
      <p:sp>
        <p:nvSpPr>
          <p:cNvPr name="Freeform 11" id="11"/>
          <p:cNvSpPr/>
          <p:nvPr/>
        </p:nvSpPr>
        <p:spPr>
          <a:xfrm flipH="false" flipV="false" rot="-466428">
            <a:off x="698501" y="918135"/>
            <a:ext cx="1050005" cy="783566"/>
          </a:xfrm>
          <a:custGeom>
            <a:avLst/>
            <a:gdLst/>
            <a:ahLst/>
            <a:cxnLst/>
            <a:rect r="r" b="b" t="t" l="l"/>
            <a:pathLst>
              <a:path h="783566" w="1050005">
                <a:moveTo>
                  <a:pt x="0" y="0"/>
                </a:moveTo>
                <a:lnTo>
                  <a:pt x="1050005" y="0"/>
                </a:lnTo>
                <a:lnTo>
                  <a:pt x="1050005" y="783566"/>
                </a:lnTo>
                <a:lnTo>
                  <a:pt x="0" y="783566"/>
                </a:lnTo>
                <a:lnTo>
                  <a:pt x="0" y="0"/>
                </a:lnTo>
                <a:close/>
              </a:path>
            </a:pathLst>
          </a:custGeom>
          <a:blipFill>
            <a:blip r:embed="rId5"/>
            <a:stretch>
              <a:fillRect l="0" t="0" r="0" b="0"/>
            </a:stretch>
          </a:blipFill>
        </p:spPr>
      </p:sp>
      <p:sp>
        <p:nvSpPr>
          <p:cNvPr name="TextBox 12" id="12"/>
          <p:cNvSpPr txBox="true"/>
          <p:nvPr/>
        </p:nvSpPr>
        <p:spPr>
          <a:xfrm rot="0">
            <a:off x="12858299" y="9279206"/>
            <a:ext cx="4401001" cy="450723"/>
          </a:xfrm>
          <a:prstGeom prst="rect">
            <a:avLst/>
          </a:prstGeom>
        </p:spPr>
        <p:txBody>
          <a:bodyPr anchor="t" rtlCol="false" tIns="0" lIns="0" bIns="0" rIns="0">
            <a:spAutoFit/>
          </a:bodyPr>
          <a:lstStyle/>
          <a:p>
            <a:pPr algn="r">
              <a:lnSpc>
                <a:spcPts val="3456"/>
              </a:lnSpc>
            </a:pPr>
            <a:r>
              <a:rPr lang="en-US" b="true" sz="2400">
                <a:solidFill>
                  <a:srgbClr val="FFFFFF"/>
                </a:solidFill>
                <a:latin typeface="Helvetica World Bold"/>
                <a:ea typeface="Helvetica World Bold"/>
                <a:cs typeface="Helvetica World Bold"/>
                <a:sym typeface="Helvetica World Bold"/>
              </a:rPr>
              <a:t>10</a:t>
            </a:r>
          </a:p>
        </p:txBody>
      </p:sp>
      <p:sp>
        <p:nvSpPr>
          <p:cNvPr name="TextBox 13" id="13"/>
          <p:cNvSpPr txBox="true"/>
          <p:nvPr/>
        </p:nvSpPr>
        <p:spPr>
          <a:xfrm rot="0">
            <a:off x="1988898" y="647380"/>
            <a:ext cx="14310204" cy="867415"/>
          </a:xfrm>
          <a:prstGeom prst="rect">
            <a:avLst/>
          </a:prstGeom>
        </p:spPr>
        <p:txBody>
          <a:bodyPr anchor="t" rtlCol="false" tIns="0" lIns="0" bIns="0" rIns="0">
            <a:spAutoFit/>
          </a:bodyPr>
          <a:lstStyle/>
          <a:p>
            <a:pPr algn="ctr">
              <a:lnSpc>
                <a:spcPts val="6400"/>
              </a:lnSpc>
            </a:pPr>
            <a:r>
              <a:rPr lang="en-US" b="true" sz="6400" spc="-96">
                <a:solidFill>
                  <a:srgbClr val="202020"/>
                </a:solidFill>
                <a:latin typeface="Cy Grotesk Key Semi-Bold"/>
                <a:ea typeface="Cy Grotesk Key Semi-Bold"/>
                <a:cs typeface="Cy Grotesk Key Semi-Bold"/>
                <a:sym typeface="Cy Grotesk Key Semi-Bold"/>
              </a:rPr>
              <a:t>Architecture and Tech Stack</a:t>
            </a:r>
          </a:p>
        </p:txBody>
      </p:sp>
      <p:sp>
        <p:nvSpPr>
          <p:cNvPr name="TextBox 14" id="14"/>
          <p:cNvSpPr txBox="true"/>
          <p:nvPr/>
        </p:nvSpPr>
        <p:spPr>
          <a:xfrm rot="0">
            <a:off x="2565761" y="4215464"/>
            <a:ext cx="2353236" cy="1168655"/>
          </a:xfrm>
          <a:prstGeom prst="rect">
            <a:avLst/>
          </a:prstGeom>
        </p:spPr>
        <p:txBody>
          <a:bodyPr anchor="t" rtlCol="false" tIns="0" lIns="0" bIns="0" rIns="0">
            <a:spAutoFit/>
          </a:bodyPr>
          <a:lstStyle/>
          <a:p>
            <a:pPr algn="ctr" marL="0" indent="0" lvl="0">
              <a:lnSpc>
                <a:spcPts val="4494"/>
              </a:lnSpc>
              <a:spcBef>
                <a:spcPct val="0"/>
              </a:spcBef>
            </a:pPr>
            <a:r>
              <a:rPr lang="en-US" b="true" sz="4494" spc="-67">
                <a:solidFill>
                  <a:srgbClr val="202020"/>
                </a:solidFill>
                <a:latin typeface="Cy Grotesk Key Semi-Bold"/>
                <a:ea typeface="Cy Grotesk Key Semi-Bold"/>
                <a:cs typeface="Cy Grotesk Key Semi-Bold"/>
                <a:sym typeface="Cy Grotesk Key Semi-Bold"/>
              </a:rPr>
              <a:t>Data Base</a:t>
            </a:r>
          </a:p>
        </p:txBody>
      </p:sp>
    </p:spTree>
  </p:cSld>
  <p:clrMapOvr>
    <a:masterClrMapping/>
  </p:clrMapOvr>
</p:sld>
</file>

<file path=ppt/slides/slide1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2858299" y="9279206"/>
            <a:ext cx="4401001" cy="450723"/>
          </a:xfrm>
          <a:prstGeom prst="rect">
            <a:avLst/>
          </a:prstGeom>
        </p:spPr>
        <p:txBody>
          <a:bodyPr anchor="t" rtlCol="false" tIns="0" lIns="0" bIns="0" rIns="0">
            <a:spAutoFit/>
          </a:bodyPr>
          <a:lstStyle/>
          <a:p>
            <a:pPr algn="r">
              <a:lnSpc>
                <a:spcPts val="3456"/>
              </a:lnSpc>
            </a:pPr>
            <a:r>
              <a:rPr lang="en-US" b="true" sz="2400">
                <a:solidFill>
                  <a:srgbClr val="EFE8DD"/>
                </a:solidFill>
                <a:latin typeface="Helvetica World Bold"/>
                <a:ea typeface="Helvetica World Bold"/>
                <a:cs typeface="Helvetica World Bold"/>
                <a:sym typeface="Helvetica World Bold"/>
              </a:rPr>
              <a:t>02</a:t>
            </a:r>
          </a:p>
        </p:txBody>
      </p:sp>
      <p:grpSp>
        <p:nvGrpSpPr>
          <p:cNvPr name="Group 3" id="3"/>
          <p:cNvGrpSpPr/>
          <p:nvPr/>
        </p:nvGrpSpPr>
        <p:grpSpPr>
          <a:xfrm rot="0">
            <a:off x="-462312" y="-1237188"/>
            <a:ext cx="18894942" cy="14237917"/>
            <a:chOff x="0" y="0"/>
            <a:chExt cx="4976446" cy="3749904"/>
          </a:xfrm>
        </p:grpSpPr>
        <p:sp>
          <p:nvSpPr>
            <p:cNvPr name="Freeform 4" id="4"/>
            <p:cNvSpPr/>
            <p:nvPr/>
          </p:nvSpPr>
          <p:spPr>
            <a:xfrm flipH="false" flipV="false" rot="0">
              <a:off x="0" y="0"/>
              <a:ext cx="4976446" cy="3749904"/>
            </a:xfrm>
            <a:custGeom>
              <a:avLst/>
              <a:gdLst/>
              <a:ahLst/>
              <a:cxnLst/>
              <a:rect r="r" b="b" t="t" l="l"/>
              <a:pathLst>
                <a:path h="3749904" w="4976446">
                  <a:moveTo>
                    <a:pt x="20896" y="0"/>
                  </a:moveTo>
                  <a:lnTo>
                    <a:pt x="4955549" y="0"/>
                  </a:lnTo>
                  <a:cubicBezTo>
                    <a:pt x="4961091" y="0"/>
                    <a:pt x="4966407" y="2202"/>
                    <a:pt x="4970325" y="6120"/>
                  </a:cubicBezTo>
                  <a:cubicBezTo>
                    <a:pt x="4974244" y="10039"/>
                    <a:pt x="4976446" y="15354"/>
                    <a:pt x="4976446" y="20896"/>
                  </a:cubicBezTo>
                  <a:lnTo>
                    <a:pt x="4976446" y="3729008"/>
                  </a:lnTo>
                  <a:cubicBezTo>
                    <a:pt x="4976446" y="3734550"/>
                    <a:pt x="4974244" y="3739865"/>
                    <a:pt x="4970325" y="3743783"/>
                  </a:cubicBezTo>
                  <a:cubicBezTo>
                    <a:pt x="4966407" y="3747703"/>
                    <a:pt x="4961091" y="3749904"/>
                    <a:pt x="4955549" y="3749904"/>
                  </a:cubicBezTo>
                  <a:lnTo>
                    <a:pt x="20896" y="3749904"/>
                  </a:lnTo>
                  <a:cubicBezTo>
                    <a:pt x="15354" y="3749904"/>
                    <a:pt x="10039" y="3747703"/>
                    <a:pt x="6120" y="3743783"/>
                  </a:cubicBezTo>
                  <a:cubicBezTo>
                    <a:pt x="2202" y="3739865"/>
                    <a:pt x="0" y="3734550"/>
                    <a:pt x="0" y="3729008"/>
                  </a:cubicBezTo>
                  <a:lnTo>
                    <a:pt x="0" y="20896"/>
                  </a:lnTo>
                  <a:cubicBezTo>
                    <a:pt x="0" y="15354"/>
                    <a:pt x="2202" y="10039"/>
                    <a:pt x="6120" y="6120"/>
                  </a:cubicBezTo>
                  <a:cubicBezTo>
                    <a:pt x="10039" y="2202"/>
                    <a:pt x="15354" y="0"/>
                    <a:pt x="20896" y="0"/>
                  </a:cubicBezTo>
                  <a:close/>
                </a:path>
              </a:pathLst>
            </a:custGeom>
            <a:solidFill>
              <a:srgbClr val="A03E3C"/>
            </a:solidFill>
          </p:spPr>
        </p:sp>
        <p:sp>
          <p:nvSpPr>
            <p:cNvPr name="TextBox 5" id="5"/>
            <p:cNvSpPr txBox="true"/>
            <p:nvPr/>
          </p:nvSpPr>
          <p:spPr>
            <a:xfrm>
              <a:off x="0" y="-38100"/>
              <a:ext cx="4976446" cy="3788004"/>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1631381" y="3767076"/>
            <a:ext cx="15025238" cy="2860657"/>
          </a:xfrm>
          <a:prstGeom prst="rect">
            <a:avLst/>
          </a:prstGeom>
        </p:spPr>
        <p:txBody>
          <a:bodyPr anchor="t" rtlCol="false" tIns="0" lIns="0" bIns="0" rIns="0">
            <a:spAutoFit/>
          </a:bodyPr>
          <a:lstStyle/>
          <a:p>
            <a:pPr algn="ctr">
              <a:lnSpc>
                <a:spcPts val="10999"/>
              </a:lnSpc>
            </a:pPr>
            <a:r>
              <a:rPr lang="en-US" b="true" sz="10999" spc="-164">
                <a:solidFill>
                  <a:srgbClr val="FFFFFF"/>
                </a:solidFill>
                <a:latin typeface="Cy Grotesk Key Semi-Bold"/>
                <a:ea typeface="Cy Grotesk Key Semi-Bold"/>
                <a:cs typeface="Cy Grotesk Key Semi-Bold"/>
                <a:sym typeface="Cy Grotesk Key Semi-Bold"/>
              </a:rPr>
              <a:t>Project Demonstration</a:t>
            </a:r>
          </a:p>
        </p:txBody>
      </p:sp>
      <p:sp>
        <p:nvSpPr>
          <p:cNvPr name="TextBox 7" id="7"/>
          <p:cNvSpPr txBox="true"/>
          <p:nvPr/>
        </p:nvSpPr>
        <p:spPr>
          <a:xfrm rot="0">
            <a:off x="13010699" y="9431606"/>
            <a:ext cx="4401001" cy="450723"/>
          </a:xfrm>
          <a:prstGeom prst="rect">
            <a:avLst/>
          </a:prstGeom>
        </p:spPr>
        <p:txBody>
          <a:bodyPr anchor="t" rtlCol="false" tIns="0" lIns="0" bIns="0" rIns="0">
            <a:spAutoFit/>
          </a:bodyPr>
          <a:lstStyle/>
          <a:p>
            <a:pPr algn="r">
              <a:lnSpc>
                <a:spcPts val="3456"/>
              </a:lnSpc>
            </a:pPr>
            <a:r>
              <a:rPr lang="en-US" b="true" sz="2400">
                <a:solidFill>
                  <a:srgbClr val="F8F7F6"/>
                </a:solidFill>
                <a:latin typeface="Helvetica World Bold"/>
                <a:ea typeface="Helvetica World Bold"/>
                <a:cs typeface="Helvetica World Bold"/>
                <a:sym typeface="Helvetica World Bold"/>
              </a:rPr>
              <a:t>12</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48710" y="9258300"/>
            <a:ext cx="19785420" cy="597310"/>
            <a:chOff x="0" y="0"/>
            <a:chExt cx="5210975" cy="157316"/>
          </a:xfrm>
        </p:grpSpPr>
        <p:sp>
          <p:nvSpPr>
            <p:cNvPr name="Freeform 3" id="3"/>
            <p:cNvSpPr/>
            <p:nvPr/>
          </p:nvSpPr>
          <p:spPr>
            <a:xfrm flipH="false" flipV="false" rot="0">
              <a:off x="0" y="0"/>
              <a:ext cx="5210975" cy="157316"/>
            </a:xfrm>
            <a:custGeom>
              <a:avLst/>
              <a:gdLst/>
              <a:ahLst/>
              <a:cxnLst/>
              <a:rect r="r" b="b" t="t" l="l"/>
              <a:pathLst>
                <a:path h="157316" w="5210975">
                  <a:moveTo>
                    <a:pt x="19956" y="0"/>
                  </a:moveTo>
                  <a:lnTo>
                    <a:pt x="5191019" y="0"/>
                  </a:lnTo>
                  <a:cubicBezTo>
                    <a:pt x="5202040" y="0"/>
                    <a:pt x="5210975" y="8935"/>
                    <a:pt x="5210975" y="19956"/>
                  </a:cubicBezTo>
                  <a:lnTo>
                    <a:pt x="5210975" y="137360"/>
                  </a:lnTo>
                  <a:cubicBezTo>
                    <a:pt x="5210975" y="142653"/>
                    <a:pt x="5208872" y="147729"/>
                    <a:pt x="5205130" y="151471"/>
                  </a:cubicBezTo>
                  <a:cubicBezTo>
                    <a:pt x="5201388" y="155214"/>
                    <a:pt x="5196312" y="157316"/>
                    <a:pt x="5191019" y="157316"/>
                  </a:cubicBezTo>
                  <a:lnTo>
                    <a:pt x="19956" y="157316"/>
                  </a:lnTo>
                  <a:cubicBezTo>
                    <a:pt x="8935" y="157316"/>
                    <a:pt x="0" y="148382"/>
                    <a:pt x="0" y="137360"/>
                  </a:cubicBezTo>
                  <a:lnTo>
                    <a:pt x="0" y="19956"/>
                  </a:lnTo>
                  <a:cubicBezTo>
                    <a:pt x="0" y="8935"/>
                    <a:pt x="8935" y="0"/>
                    <a:pt x="19956" y="0"/>
                  </a:cubicBezTo>
                  <a:close/>
                </a:path>
              </a:pathLst>
            </a:custGeom>
            <a:solidFill>
              <a:srgbClr val="A03E3C"/>
            </a:solidFill>
          </p:spPr>
        </p:sp>
        <p:sp>
          <p:nvSpPr>
            <p:cNvPr name="TextBox 4" id="4"/>
            <p:cNvSpPr txBox="true"/>
            <p:nvPr/>
          </p:nvSpPr>
          <p:spPr>
            <a:xfrm>
              <a:off x="0" y="-38100"/>
              <a:ext cx="5210975" cy="195416"/>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3727292" y="2723844"/>
            <a:ext cx="10833417" cy="867415"/>
          </a:xfrm>
          <a:prstGeom prst="rect">
            <a:avLst/>
          </a:prstGeom>
        </p:spPr>
        <p:txBody>
          <a:bodyPr anchor="t" rtlCol="false" tIns="0" lIns="0" bIns="0" rIns="0">
            <a:spAutoFit/>
          </a:bodyPr>
          <a:lstStyle/>
          <a:p>
            <a:pPr algn="ctr">
              <a:lnSpc>
                <a:spcPts val="6400"/>
              </a:lnSpc>
            </a:pPr>
            <a:r>
              <a:rPr lang="en-US" b="true" sz="6400" spc="-96">
                <a:solidFill>
                  <a:srgbClr val="202020"/>
                </a:solidFill>
                <a:latin typeface="Cy Grotesk Key Semi-Bold"/>
                <a:ea typeface="Cy Grotesk Key Semi-Bold"/>
                <a:cs typeface="Cy Grotesk Key Semi-Bold"/>
                <a:sym typeface="Cy Grotesk Key Semi-Bold"/>
              </a:rPr>
              <a:t>Conclusion</a:t>
            </a:r>
          </a:p>
        </p:txBody>
      </p:sp>
      <p:sp>
        <p:nvSpPr>
          <p:cNvPr name="TextBox 6" id="6"/>
          <p:cNvSpPr txBox="true"/>
          <p:nvPr/>
        </p:nvSpPr>
        <p:spPr>
          <a:xfrm rot="0">
            <a:off x="2778244" y="3715865"/>
            <a:ext cx="12731511" cy="2882264"/>
          </a:xfrm>
          <a:prstGeom prst="rect">
            <a:avLst/>
          </a:prstGeom>
        </p:spPr>
        <p:txBody>
          <a:bodyPr anchor="t" rtlCol="false" tIns="0" lIns="0" bIns="0" rIns="0">
            <a:spAutoFit/>
          </a:bodyPr>
          <a:lstStyle/>
          <a:p>
            <a:pPr algn="ctr">
              <a:lnSpc>
                <a:spcPts val="2880"/>
              </a:lnSpc>
            </a:pPr>
            <a:r>
              <a:rPr lang="en-US" sz="2000">
                <a:solidFill>
                  <a:srgbClr val="202020"/>
                </a:solidFill>
                <a:latin typeface="Inter"/>
                <a:ea typeface="Inter"/>
                <a:cs typeface="Inter"/>
                <a:sym typeface="Inter"/>
              </a:rPr>
              <a:t>The PedidosCD project modernized critical processes at Carnes Darras through a mobile application that centralizes orders, preparation, invoicing, and daily reports. With this solution, the company improves operational efficiency, reduces administrative time, and gains greater traceability across all operations.</a:t>
            </a:r>
          </a:p>
          <a:p>
            <a:pPr algn="ctr">
              <a:lnSpc>
                <a:spcPts val="2880"/>
              </a:lnSpc>
            </a:pPr>
          </a:p>
          <a:p>
            <a:pPr algn="ctr">
              <a:lnSpc>
                <a:spcPts val="2880"/>
              </a:lnSpc>
            </a:pPr>
            <a:r>
              <a:rPr lang="en-US" sz="2000">
                <a:solidFill>
                  <a:srgbClr val="202020"/>
                </a:solidFill>
                <a:latin typeface="Inter"/>
                <a:ea typeface="Inter"/>
                <a:cs typeface="Inter"/>
                <a:sym typeface="Inter"/>
              </a:rPr>
              <a:t> The</a:t>
            </a:r>
            <a:r>
              <a:rPr lang="en-US" sz="2000">
                <a:solidFill>
                  <a:srgbClr val="202020"/>
                </a:solidFill>
                <a:latin typeface="Inter"/>
                <a:ea typeface="Inter"/>
                <a:cs typeface="Inter"/>
                <a:sym typeface="Inter"/>
              </a:rPr>
              <a:t> project not only benefits the company but also strengthened our professional competencies in software development, project management, and quality assurance, consolidating essential skills for our future careers.</a:t>
            </a:r>
          </a:p>
          <a:p>
            <a:pPr algn="ctr">
              <a:lnSpc>
                <a:spcPts val="2880"/>
              </a:lnSpc>
            </a:pPr>
          </a:p>
        </p:txBody>
      </p:sp>
      <p:sp>
        <p:nvSpPr>
          <p:cNvPr name="TextBox 7" id="7"/>
          <p:cNvSpPr txBox="true"/>
          <p:nvPr/>
        </p:nvSpPr>
        <p:spPr>
          <a:xfrm rot="0">
            <a:off x="12858299" y="9279206"/>
            <a:ext cx="4401001" cy="450723"/>
          </a:xfrm>
          <a:prstGeom prst="rect">
            <a:avLst/>
          </a:prstGeom>
        </p:spPr>
        <p:txBody>
          <a:bodyPr anchor="t" rtlCol="false" tIns="0" lIns="0" bIns="0" rIns="0">
            <a:spAutoFit/>
          </a:bodyPr>
          <a:lstStyle/>
          <a:p>
            <a:pPr algn="r">
              <a:lnSpc>
                <a:spcPts val="3456"/>
              </a:lnSpc>
            </a:pPr>
            <a:r>
              <a:rPr lang="en-US" b="true" sz="2400">
                <a:solidFill>
                  <a:srgbClr val="FFFFFF"/>
                </a:solidFill>
                <a:latin typeface="Helvetica World Bold"/>
                <a:ea typeface="Helvetica World Bold"/>
                <a:cs typeface="Helvetica World Bold"/>
                <a:sym typeface="Helvetica World Bold"/>
              </a:rPr>
              <a:t>13</a:t>
            </a:r>
          </a:p>
        </p:txBody>
      </p:sp>
      <p:sp>
        <p:nvSpPr>
          <p:cNvPr name="Freeform 8" id="8"/>
          <p:cNvSpPr/>
          <p:nvPr/>
        </p:nvSpPr>
        <p:spPr>
          <a:xfrm flipH="false" flipV="false" rot="-10800000">
            <a:off x="14551151" y="612485"/>
            <a:ext cx="5241897" cy="1982390"/>
          </a:xfrm>
          <a:custGeom>
            <a:avLst/>
            <a:gdLst/>
            <a:ahLst/>
            <a:cxnLst/>
            <a:rect r="r" b="b" t="t" l="l"/>
            <a:pathLst>
              <a:path h="1982390" w="5241897">
                <a:moveTo>
                  <a:pt x="0" y="0"/>
                </a:moveTo>
                <a:lnTo>
                  <a:pt x="5241897" y="0"/>
                </a:lnTo>
                <a:lnTo>
                  <a:pt x="5241897" y="1982390"/>
                </a:lnTo>
                <a:lnTo>
                  <a:pt x="0" y="19823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9" id="9"/>
          <p:cNvSpPr/>
          <p:nvPr/>
        </p:nvSpPr>
        <p:spPr>
          <a:xfrm flipH="false" flipV="false" rot="0">
            <a:off x="-1077725" y="6960079"/>
            <a:ext cx="5569110" cy="1863120"/>
          </a:xfrm>
          <a:custGeom>
            <a:avLst/>
            <a:gdLst/>
            <a:ahLst/>
            <a:cxnLst/>
            <a:rect r="r" b="b" t="t" l="l"/>
            <a:pathLst>
              <a:path h="1863120" w="5569110">
                <a:moveTo>
                  <a:pt x="0" y="0"/>
                </a:moveTo>
                <a:lnTo>
                  <a:pt x="5569110" y="0"/>
                </a:lnTo>
                <a:lnTo>
                  <a:pt x="5569110" y="1863120"/>
                </a:lnTo>
                <a:lnTo>
                  <a:pt x="0" y="186312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965107" y="2979806"/>
            <a:ext cx="10357787" cy="3251012"/>
          </a:xfrm>
          <a:prstGeom prst="rect">
            <a:avLst/>
          </a:prstGeom>
        </p:spPr>
        <p:txBody>
          <a:bodyPr anchor="t" rtlCol="false" tIns="0" lIns="0" bIns="0" rIns="0">
            <a:spAutoFit/>
          </a:bodyPr>
          <a:lstStyle/>
          <a:p>
            <a:pPr algn="ctr">
              <a:lnSpc>
                <a:spcPts val="12492"/>
              </a:lnSpc>
            </a:pPr>
            <a:r>
              <a:rPr lang="en-US" b="true" sz="12492" spc="-187">
                <a:solidFill>
                  <a:srgbClr val="A03E3C"/>
                </a:solidFill>
                <a:latin typeface="Cy Grotesk Key Bold"/>
                <a:ea typeface="Cy Grotesk Key Bold"/>
                <a:cs typeface="Cy Grotesk Key Bold"/>
                <a:sym typeface="Cy Grotesk Key Bold"/>
              </a:rPr>
              <a:t>Thank you very much!</a:t>
            </a:r>
          </a:p>
        </p:txBody>
      </p:sp>
      <p:grpSp>
        <p:nvGrpSpPr>
          <p:cNvPr name="Group 3" id="3"/>
          <p:cNvGrpSpPr/>
          <p:nvPr/>
        </p:nvGrpSpPr>
        <p:grpSpPr>
          <a:xfrm rot="0">
            <a:off x="-748710" y="9258300"/>
            <a:ext cx="19785420" cy="597310"/>
            <a:chOff x="0" y="0"/>
            <a:chExt cx="5210975" cy="157316"/>
          </a:xfrm>
        </p:grpSpPr>
        <p:sp>
          <p:nvSpPr>
            <p:cNvPr name="Freeform 4" id="4"/>
            <p:cNvSpPr/>
            <p:nvPr/>
          </p:nvSpPr>
          <p:spPr>
            <a:xfrm flipH="false" flipV="false" rot="0">
              <a:off x="0" y="0"/>
              <a:ext cx="5210975" cy="157316"/>
            </a:xfrm>
            <a:custGeom>
              <a:avLst/>
              <a:gdLst/>
              <a:ahLst/>
              <a:cxnLst/>
              <a:rect r="r" b="b" t="t" l="l"/>
              <a:pathLst>
                <a:path h="157316" w="5210975">
                  <a:moveTo>
                    <a:pt x="19956" y="0"/>
                  </a:moveTo>
                  <a:lnTo>
                    <a:pt x="5191019" y="0"/>
                  </a:lnTo>
                  <a:cubicBezTo>
                    <a:pt x="5202040" y="0"/>
                    <a:pt x="5210975" y="8935"/>
                    <a:pt x="5210975" y="19956"/>
                  </a:cubicBezTo>
                  <a:lnTo>
                    <a:pt x="5210975" y="137360"/>
                  </a:lnTo>
                  <a:cubicBezTo>
                    <a:pt x="5210975" y="142653"/>
                    <a:pt x="5208872" y="147729"/>
                    <a:pt x="5205130" y="151471"/>
                  </a:cubicBezTo>
                  <a:cubicBezTo>
                    <a:pt x="5201388" y="155214"/>
                    <a:pt x="5196312" y="157316"/>
                    <a:pt x="5191019" y="157316"/>
                  </a:cubicBezTo>
                  <a:lnTo>
                    <a:pt x="19956" y="157316"/>
                  </a:lnTo>
                  <a:cubicBezTo>
                    <a:pt x="8935" y="157316"/>
                    <a:pt x="0" y="148382"/>
                    <a:pt x="0" y="137360"/>
                  </a:cubicBezTo>
                  <a:lnTo>
                    <a:pt x="0" y="19956"/>
                  </a:lnTo>
                  <a:cubicBezTo>
                    <a:pt x="0" y="8935"/>
                    <a:pt x="8935" y="0"/>
                    <a:pt x="19956" y="0"/>
                  </a:cubicBezTo>
                  <a:close/>
                </a:path>
              </a:pathLst>
            </a:custGeom>
            <a:solidFill>
              <a:srgbClr val="A03E3C"/>
            </a:solidFill>
          </p:spPr>
        </p:sp>
        <p:sp>
          <p:nvSpPr>
            <p:cNvPr name="TextBox 5" id="5"/>
            <p:cNvSpPr txBox="true"/>
            <p:nvPr/>
          </p:nvSpPr>
          <p:spPr>
            <a:xfrm>
              <a:off x="0" y="-38100"/>
              <a:ext cx="5210975" cy="195416"/>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3303801" y="2241660"/>
            <a:ext cx="1019092" cy="1019092"/>
          </a:xfrm>
          <a:custGeom>
            <a:avLst/>
            <a:gdLst/>
            <a:ahLst/>
            <a:cxnLst/>
            <a:rect r="r" b="b" t="t" l="l"/>
            <a:pathLst>
              <a:path h="1019092" w="1019092">
                <a:moveTo>
                  <a:pt x="0" y="0"/>
                </a:moveTo>
                <a:lnTo>
                  <a:pt x="1019092" y="0"/>
                </a:lnTo>
                <a:lnTo>
                  <a:pt x="1019092" y="1019093"/>
                </a:lnTo>
                <a:lnTo>
                  <a:pt x="0" y="101909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7" id="7"/>
          <p:cNvSpPr/>
          <p:nvPr/>
        </p:nvSpPr>
        <p:spPr>
          <a:xfrm flipH="false" flipV="false" rot="0">
            <a:off x="3601238" y="6859722"/>
            <a:ext cx="3164398" cy="477536"/>
          </a:xfrm>
          <a:custGeom>
            <a:avLst/>
            <a:gdLst/>
            <a:ahLst/>
            <a:cxnLst/>
            <a:rect r="r" b="b" t="t" l="l"/>
            <a:pathLst>
              <a:path h="477536" w="3164398">
                <a:moveTo>
                  <a:pt x="0" y="0"/>
                </a:moveTo>
                <a:lnTo>
                  <a:pt x="3164399" y="0"/>
                </a:lnTo>
                <a:lnTo>
                  <a:pt x="3164399" y="477537"/>
                </a:lnTo>
                <a:lnTo>
                  <a:pt x="0" y="47753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8" id="8"/>
          <p:cNvSpPr/>
          <p:nvPr/>
        </p:nvSpPr>
        <p:spPr>
          <a:xfrm flipH="false" flipV="false" rot="0">
            <a:off x="1195473" y="1028700"/>
            <a:ext cx="1307593" cy="1310871"/>
          </a:xfrm>
          <a:custGeom>
            <a:avLst/>
            <a:gdLst/>
            <a:ahLst/>
            <a:cxnLst/>
            <a:rect r="r" b="b" t="t" l="l"/>
            <a:pathLst>
              <a:path h="1310871" w="1307593">
                <a:moveTo>
                  <a:pt x="0" y="0"/>
                </a:moveTo>
                <a:lnTo>
                  <a:pt x="1307594" y="0"/>
                </a:lnTo>
                <a:lnTo>
                  <a:pt x="1307594" y="1310871"/>
                </a:lnTo>
                <a:lnTo>
                  <a:pt x="0" y="1310871"/>
                </a:lnTo>
                <a:lnTo>
                  <a:pt x="0" y="0"/>
                </a:lnTo>
                <a:close/>
              </a:path>
            </a:pathLst>
          </a:custGeom>
          <a:blipFill>
            <a:blip r:embed="rId6"/>
            <a:stretch>
              <a:fillRect l="0" t="0" r="0" b="0"/>
            </a:stretch>
          </a:blipFill>
        </p:spPr>
      </p:sp>
      <p:sp>
        <p:nvSpPr>
          <p:cNvPr name="Freeform 9" id="9"/>
          <p:cNvSpPr/>
          <p:nvPr/>
        </p:nvSpPr>
        <p:spPr>
          <a:xfrm flipH="false" flipV="false" rot="0">
            <a:off x="15951707" y="6681824"/>
            <a:ext cx="1307593" cy="1310871"/>
          </a:xfrm>
          <a:custGeom>
            <a:avLst/>
            <a:gdLst/>
            <a:ahLst/>
            <a:cxnLst/>
            <a:rect r="r" b="b" t="t" l="l"/>
            <a:pathLst>
              <a:path h="1310871" w="1307593">
                <a:moveTo>
                  <a:pt x="0" y="0"/>
                </a:moveTo>
                <a:lnTo>
                  <a:pt x="1307593" y="0"/>
                </a:lnTo>
                <a:lnTo>
                  <a:pt x="1307593" y="1310870"/>
                </a:lnTo>
                <a:lnTo>
                  <a:pt x="0" y="1310870"/>
                </a:lnTo>
                <a:lnTo>
                  <a:pt x="0" y="0"/>
                </a:lnTo>
                <a:close/>
              </a:path>
            </a:pathLst>
          </a:custGeom>
          <a:blipFill>
            <a:blip r:embed="rId7"/>
            <a:stretch>
              <a:fillRect l="0" t="0" r="0" b="0"/>
            </a:stretch>
          </a:blipFill>
        </p:spPr>
      </p:sp>
      <p:sp>
        <p:nvSpPr>
          <p:cNvPr name="Freeform 10" id="10"/>
          <p:cNvSpPr/>
          <p:nvPr/>
        </p:nvSpPr>
        <p:spPr>
          <a:xfrm flipH="false" flipV="false" rot="0">
            <a:off x="15951707" y="1028700"/>
            <a:ext cx="1307593" cy="1310871"/>
          </a:xfrm>
          <a:custGeom>
            <a:avLst/>
            <a:gdLst/>
            <a:ahLst/>
            <a:cxnLst/>
            <a:rect r="r" b="b" t="t" l="l"/>
            <a:pathLst>
              <a:path h="1310871" w="1307593">
                <a:moveTo>
                  <a:pt x="0" y="0"/>
                </a:moveTo>
                <a:lnTo>
                  <a:pt x="1307593" y="0"/>
                </a:lnTo>
                <a:lnTo>
                  <a:pt x="1307593" y="1310871"/>
                </a:lnTo>
                <a:lnTo>
                  <a:pt x="0" y="1310871"/>
                </a:lnTo>
                <a:lnTo>
                  <a:pt x="0" y="0"/>
                </a:lnTo>
                <a:close/>
              </a:path>
            </a:pathLst>
          </a:custGeom>
          <a:blipFill>
            <a:blip r:embed="rId8"/>
            <a:stretch>
              <a:fillRect l="0" t="0" r="0" b="0"/>
            </a:stretch>
          </a:blipFill>
        </p:spPr>
      </p:sp>
      <p:sp>
        <p:nvSpPr>
          <p:cNvPr name="Freeform 11" id="11"/>
          <p:cNvSpPr/>
          <p:nvPr/>
        </p:nvSpPr>
        <p:spPr>
          <a:xfrm flipH="false" flipV="false" rot="0">
            <a:off x="1195473" y="6443055"/>
            <a:ext cx="1307593" cy="1310871"/>
          </a:xfrm>
          <a:custGeom>
            <a:avLst/>
            <a:gdLst/>
            <a:ahLst/>
            <a:cxnLst/>
            <a:rect r="r" b="b" t="t" l="l"/>
            <a:pathLst>
              <a:path h="1310871" w="1307593">
                <a:moveTo>
                  <a:pt x="0" y="0"/>
                </a:moveTo>
                <a:lnTo>
                  <a:pt x="1307594" y="0"/>
                </a:lnTo>
                <a:lnTo>
                  <a:pt x="1307594" y="1310871"/>
                </a:lnTo>
                <a:lnTo>
                  <a:pt x="0" y="1310871"/>
                </a:lnTo>
                <a:lnTo>
                  <a:pt x="0" y="0"/>
                </a:lnTo>
                <a:close/>
              </a:path>
            </a:pathLst>
          </a:custGeom>
          <a:blipFill>
            <a:blip r:embed="rId9"/>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DAG6CjqF3eM</dc:identifier>
  <dcterms:modified xsi:type="dcterms:W3CDTF">2011-08-01T06:04:30Z</dcterms:modified>
  <cp:revision>1</cp:revision>
  <dc:title>PPT PedidosCD ingles</dc:title>
</cp:coreProperties>
</file>